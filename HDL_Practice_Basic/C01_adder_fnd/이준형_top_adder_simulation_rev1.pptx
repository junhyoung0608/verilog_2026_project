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0" r:id="rId2"/>
    <p:sldId id="256" r:id="rId3"/>
    <p:sldId id="257" r:id="rId4"/>
    <p:sldId id="273" r:id="rId5"/>
    <p:sldId id="271" r:id="rId6"/>
    <p:sldId id="274" r:id="rId7"/>
    <p:sldId id="258" r:id="rId8"/>
    <p:sldId id="264" r:id="rId9"/>
    <p:sldId id="259" r:id="rId10"/>
    <p:sldId id="261" r:id="rId11"/>
    <p:sldId id="262" r:id="rId12"/>
    <p:sldId id="263" r:id="rId13"/>
    <p:sldId id="260" r:id="rId14"/>
    <p:sldId id="265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63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4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70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09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60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49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58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11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68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92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D5718-C1E3-44DF-B454-6F496017A6E2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18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55865" y="2179124"/>
            <a:ext cx="10470078" cy="2839006"/>
          </a:xfrm>
        </p:spPr>
        <p:txBody>
          <a:bodyPr>
            <a:noAutofit/>
          </a:bodyPr>
          <a:lstStyle/>
          <a:p>
            <a:pPr algn="l"/>
            <a:r>
              <a:rPr lang="en-US" altLang="ko-KR" sz="2000" dirty="0"/>
              <a:t>1. </a:t>
            </a:r>
            <a:r>
              <a:rPr lang="ko-KR" altLang="en-US" sz="2000" dirty="0" err="1"/>
              <a:t>블럭다이어그램은</a:t>
            </a:r>
            <a:r>
              <a:rPr lang="ko-KR" altLang="en-US" sz="2000" dirty="0"/>
              <a:t> 잘 만드셨는데 </a:t>
            </a:r>
            <a:r>
              <a:rPr lang="ko-KR" altLang="en-US" sz="2000" dirty="0">
                <a:solidFill>
                  <a:srgbClr val="FF0000"/>
                </a:solidFill>
              </a:rPr>
              <a:t>전체 동작 설명이 </a:t>
            </a:r>
            <a:r>
              <a:rPr lang="ko-KR" altLang="en-US" sz="2000" dirty="0"/>
              <a:t>추가되어야 할거 </a:t>
            </a:r>
            <a:r>
              <a:rPr lang="ko-KR" altLang="en-US" sz="2000" dirty="0" smtClean="0"/>
              <a:t>같아요</a:t>
            </a:r>
            <a:r>
              <a:rPr lang="en-US" altLang="ko-KR" sz="2000" dirty="0" smtClean="0"/>
              <a:t>.</a:t>
            </a:r>
            <a:br>
              <a:rPr lang="en-US" altLang="ko-KR" sz="2000" dirty="0" smtClean="0"/>
            </a:br>
            <a:r>
              <a:rPr lang="en-US" altLang="ko-KR" sz="2000" dirty="0" smtClean="0"/>
              <a:t>	(</a:t>
            </a:r>
            <a:r>
              <a:rPr lang="ko-KR" altLang="en-US" sz="2000" dirty="0"/>
              <a:t>수정 중 </a:t>
            </a:r>
            <a:r>
              <a:rPr lang="en-US" altLang="ko-KR" sz="2000" dirty="0"/>
              <a:t>5p)</a:t>
            </a:r>
            <a:br>
              <a:rPr lang="en-US" altLang="ko-KR" sz="2000" dirty="0"/>
            </a:b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en-US" altLang="ko-KR" sz="2000" dirty="0" smtClean="0"/>
              <a:t>2</a:t>
            </a:r>
            <a:r>
              <a:rPr lang="en-US" altLang="ko-KR" sz="2000" dirty="0"/>
              <a:t>. </a:t>
            </a:r>
            <a:r>
              <a:rPr lang="en-US" altLang="ko-KR" sz="2000" dirty="0">
                <a:solidFill>
                  <a:srgbClr val="FF0000"/>
                </a:solidFill>
              </a:rPr>
              <a:t>counter_4, </a:t>
            </a:r>
            <a:r>
              <a:rPr lang="en-US" altLang="ko-KR" sz="2000" dirty="0" err="1">
                <a:solidFill>
                  <a:srgbClr val="FF0000"/>
                </a:solidFill>
              </a:rPr>
              <a:t>clk_div</a:t>
            </a:r>
            <a:r>
              <a:rPr lang="ko-KR" altLang="en-US" sz="2000" dirty="0">
                <a:solidFill>
                  <a:srgbClr val="FF0000"/>
                </a:solidFill>
              </a:rPr>
              <a:t>를 만든 이유도 </a:t>
            </a:r>
            <a:r>
              <a:rPr lang="ko-KR" altLang="en-US" sz="2000" dirty="0"/>
              <a:t>설명이 되어야 합니다</a:t>
            </a:r>
            <a:r>
              <a:rPr lang="en-US" altLang="ko-KR" sz="2000" dirty="0" smtClean="0"/>
              <a:t>.</a:t>
            </a:r>
            <a:br>
              <a:rPr lang="en-US" altLang="ko-KR" sz="2000" dirty="0" smtClean="0"/>
            </a:br>
            <a:r>
              <a:rPr lang="ko-KR" altLang="en-US" sz="2000" dirty="0"/>
              <a:t/>
            </a:r>
            <a:br>
              <a:rPr lang="ko-KR" altLang="en-US" sz="2000" dirty="0"/>
            </a:br>
            <a:r>
              <a:rPr lang="en-US" altLang="ko-KR" sz="2000" dirty="0"/>
              <a:t>3. </a:t>
            </a:r>
            <a:r>
              <a:rPr lang="ko-KR" altLang="en-US" sz="2000" dirty="0"/>
              <a:t>페이지 </a:t>
            </a:r>
            <a:r>
              <a:rPr lang="en-US" altLang="ko-KR" sz="2000" dirty="0"/>
              <a:t>12</a:t>
            </a:r>
            <a:r>
              <a:rPr lang="ko-KR" altLang="en-US" sz="2000" dirty="0"/>
              <a:t>에서 </a:t>
            </a:r>
            <a:r>
              <a:rPr lang="en-US" altLang="ko-KR" sz="2000" dirty="0">
                <a:solidFill>
                  <a:srgbClr val="FF0000"/>
                </a:solidFill>
              </a:rPr>
              <a:t>1khz</a:t>
            </a:r>
            <a:r>
              <a:rPr lang="ko-KR" altLang="en-US" sz="2000" dirty="0">
                <a:solidFill>
                  <a:srgbClr val="FF0000"/>
                </a:solidFill>
              </a:rPr>
              <a:t>출력에 대해 시간 검증된 부분도 설명이 추가되면 더 </a:t>
            </a:r>
            <a:r>
              <a:rPr lang="ko-KR" altLang="en-US" sz="2000" dirty="0" smtClean="0">
                <a:solidFill>
                  <a:srgbClr val="FF0000"/>
                </a:solidFill>
              </a:rPr>
              <a:t>좋겠죠</a:t>
            </a:r>
            <a:r>
              <a:rPr lang="en-US" altLang="ko-KR" sz="2000" dirty="0" smtClean="0">
                <a:solidFill>
                  <a:srgbClr val="FF0000"/>
                </a:solidFill>
              </a:rPr>
              <a:t/>
            </a:r>
            <a:br>
              <a:rPr lang="en-US" altLang="ko-KR" sz="2000" dirty="0" smtClean="0">
                <a:solidFill>
                  <a:srgbClr val="FF0000"/>
                </a:solidFill>
              </a:rPr>
            </a:br>
            <a:r>
              <a:rPr lang="ko-KR" altLang="en-US" sz="2000" dirty="0">
                <a:solidFill>
                  <a:srgbClr val="FF0000"/>
                </a:solidFill>
              </a:rPr>
              <a:t/>
            </a:r>
            <a:br>
              <a:rPr lang="ko-KR" altLang="en-US" sz="2000" dirty="0">
                <a:solidFill>
                  <a:srgbClr val="FF0000"/>
                </a:solidFill>
              </a:rPr>
            </a:br>
            <a:r>
              <a:rPr lang="en-US" altLang="ko-KR" sz="2000" dirty="0"/>
              <a:t>4. </a:t>
            </a:r>
            <a:r>
              <a:rPr lang="en-US" altLang="ko-KR" sz="2000" dirty="0">
                <a:solidFill>
                  <a:srgbClr val="FF0000"/>
                </a:solidFill>
              </a:rPr>
              <a:t>adder </a:t>
            </a:r>
            <a:r>
              <a:rPr lang="ko-KR" altLang="en-US" sz="2000" dirty="0">
                <a:solidFill>
                  <a:srgbClr val="FF0000"/>
                </a:solidFill>
              </a:rPr>
              <a:t>입력 </a:t>
            </a:r>
            <a:r>
              <a:rPr lang="en-US" altLang="ko-KR" sz="2000" dirty="0" err="1">
                <a:solidFill>
                  <a:srgbClr val="FF0000"/>
                </a:solidFill>
              </a:rPr>
              <a:t>a,b</a:t>
            </a:r>
            <a:r>
              <a:rPr lang="ko-KR" altLang="en-US" sz="2000" dirty="0">
                <a:solidFill>
                  <a:srgbClr val="FF0000"/>
                </a:solidFill>
              </a:rPr>
              <a:t>에 따른 </a:t>
            </a:r>
            <a:r>
              <a:rPr lang="en-US" altLang="ko-KR" sz="2000" dirty="0">
                <a:solidFill>
                  <a:srgbClr val="FF0000"/>
                </a:solidFill>
              </a:rPr>
              <a:t>sum</a:t>
            </a:r>
            <a:r>
              <a:rPr lang="ko-KR" altLang="en-US" sz="2000" dirty="0">
                <a:solidFill>
                  <a:srgbClr val="FF0000"/>
                </a:solidFill>
              </a:rPr>
              <a:t>값 과 </a:t>
            </a:r>
            <a:r>
              <a:rPr lang="en-US" altLang="ko-KR" sz="2000" dirty="0" err="1">
                <a:solidFill>
                  <a:srgbClr val="FF0000"/>
                </a:solidFill>
              </a:rPr>
              <a:t>fnd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입력 </a:t>
            </a:r>
            <a:r>
              <a:rPr lang="en-US" altLang="ko-KR" sz="2000" dirty="0">
                <a:solidFill>
                  <a:srgbClr val="FF0000"/>
                </a:solidFill>
              </a:rPr>
              <a:t>sum</a:t>
            </a:r>
            <a:r>
              <a:rPr lang="ko-KR" altLang="en-US" sz="2000" dirty="0">
                <a:solidFill>
                  <a:srgbClr val="FF0000"/>
                </a:solidFill>
              </a:rPr>
              <a:t>값을 최종 출력 </a:t>
            </a:r>
            <a:r>
              <a:rPr lang="en-US" altLang="ko-KR" sz="2000" dirty="0" err="1">
                <a:solidFill>
                  <a:srgbClr val="FF0000"/>
                </a:solidFill>
              </a:rPr>
              <a:t>fnd</a:t>
            </a:r>
            <a:r>
              <a:rPr lang="en-US" altLang="ko-KR" sz="2000" dirty="0">
                <a:solidFill>
                  <a:srgbClr val="FF0000"/>
                </a:solidFill>
              </a:rPr>
              <a:t> display</a:t>
            </a:r>
            <a:r>
              <a:rPr lang="ko-KR" altLang="en-US" sz="2000" dirty="0">
                <a:solidFill>
                  <a:srgbClr val="FF0000"/>
                </a:solidFill>
              </a:rPr>
              <a:t>되는 과정이 시뮬레이션으로 설명이 되면 더 좋겠습니다</a:t>
            </a:r>
            <a:r>
              <a:rPr lang="en-US" altLang="ko-KR" sz="2000" dirty="0">
                <a:solidFill>
                  <a:srgbClr val="FF0000"/>
                </a:solidFill>
              </a:rPr>
              <a:t>.</a:t>
            </a:r>
            <a:r>
              <a:rPr lang="ko-KR" altLang="en-US" sz="2000" dirty="0">
                <a:solidFill>
                  <a:srgbClr val="FF0000"/>
                </a:solidFill>
              </a:rPr>
              <a:t/>
            </a:r>
            <a:br>
              <a:rPr lang="ko-KR" altLang="en-US" sz="2000" dirty="0">
                <a:solidFill>
                  <a:srgbClr val="FF0000"/>
                </a:solidFill>
              </a:rPr>
            </a:br>
            <a:r>
              <a:rPr lang="ko-KR" altLang="en-US" sz="2000" dirty="0"/>
              <a:t>수고하셨습니다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b="1" dirty="0" smtClean="0"/>
              <a:t>피드백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7067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Top_adder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 err="1" smtClean="0"/>
              <a:t>온디바이스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AI </a:t>
            </a:r>
            <a:r>
              <a:rPr lang="ko-KR" altLang="en-US" dirty="0" smtClean="0"/>
              <a:t>이준형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627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Top Adder  Block Diagram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17" y="2131953"/>
            <a:ext cx="6417279" cy="34197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30835" y="2369127"/>
            <a:ext cx="409698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설계 목표</a:t>
            </a:r>
            <a:r>
              <a:rPr lang="en-US" altLang="ko-KR" dirty="0" smtClean="0"/>
              <a:t>:</a:t>
            </a:r>
          </a:p>
          <a:p>
            <a:pPr lvl="1"/>
            <a:r>
              <a:rPr lang="ko-KR" altLang="en-US" dirty="0" smtClean="0"/>
              <a:t>입력 </a:t>
            </a:r>
            <a:r>
              <a:rPr lang="en-US" altLang="ko-KR" dirty="0" err="1" smtClean="0"/>
              <a:t>a,b</a:t>
            </a:r>
            <a:r>
              <a:rPr lang="ko-KR" altLang="en-US" dirty="0" smtClean="0"/>
              <a:t>에 대해 합 연산을 한 뒤 </a:t>
            </a:r>
            <a:r>
              <a:rPr lang="en-US" altLang="ko-KR" dirty="0" err="1" smtClean="0"/>
              <a:t>fnd</a:t>
            </a:r>
            <a:r>
              <a:rPr lang="en-US" altLang="ko-KR" dirty="0" smtClean="0"/>
              <a:t> display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진수로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출력하게 설계를 진행함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947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Top Adder  Block Diagram</a:t>
            </a:r>
            <a:endParaRPr lang="ko-KR" alt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30835" y="2369127"/>
            <a:ext cx="427511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top_adder</a:t>
            </a:r>
            <a:r>
              <a:rPr lang="en-US" altLang="ko-KR" b="1" dirty="0" smtClean="0"/>
              <a:t>:</a:t>
            </a:r>
          </a:p>
          <a:p>
            <a:pPr lvl="1"/>
            <a:r>
              <a:rPr lang="en-US" altLang="ko-KR" dirty="0" smtClean="0"/>
              <a:t>1. Input</a:t>
            </a:r>
            <a:r>
              <a:rPr lang="ko-KR" altLang="en-US" dirty="0" smtClean="0"/>
              <a:t> </a:t>
            </a:r>
            <a:r>
              <a:rPr lang="en-US" altLang="ko-KR" dirty="0" smtClean="0"/>
              <a:t>a, b(8bit)</a:t>
            </a:r>
            <a:r>
              <a:rPr lang="ko-KR" altLang="en-US" dirty="0" smtClean="0"/>
              <a:t>에 대해 </a:t>
            </a:r>
            <a:r>
              <a:rPr lang="en-US" altLang="ko-KR" dirty="0" err="1" smtClean="0"/>
              <a:t>Full_Adder</a:t>
            </a:r>
            <a:r>
              <a:rPr lang="ko-KR" altLang="en-US" dirty="0" smtClean="0"/>
              <a:t>는 합 연산을 진행한 뒤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Output sum, carry</a:t>
            </a:r>
            <a:r>
              <a:rPr lang="ko-KR" altLang="en-US" dirty="0" smtClean="0"/>
              <a:t>를 출력함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r>
              <a:rPr lang="en-US" altLang="ko-KR" dirty="0" smtClean="0"/>
              <a:t>2. carry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top_adder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으로 나오며 </a:t>
            </a:r>
            <a:r>
              <a:rPr lang="en-US" altLang="ko-KR" dirty="0" smtClean="0"/>
              <a:t>sum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fnd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displa</a:t>
            </a:r>
            <a:r>
              <a:rPr lang="ko-KR" altLang="en-US" dirty="0" smtClean="0"/>
              <a:t>에 자리 수와 </a:t>
            </a:r>
            <a:r>
              <a:rPr lang="ko-KR" altLang="en-US" dirty="0" err="1" smtClean="0"/>
              <a:t>주사율을</a:t>
            </a:r>
            <a:r>
              <a:rPr lang="ko-KR" altLang="en-US" dirty="0" smtClean="0"/>
              <a:t> 조절하기 위해 </a:t>
            </a:r>
            <a:r>
              <a:rPr lang="en-US" altLang="ko-KR" dirty="0" err="1" smtClean="0"/>
              <a:t>fnd_controlle</a:t>
            </a:r>
            <a:r>
              <a:rPr lang="ko-KR" altLang="en-US" dirty="0" smtClean="0"/>
              <a:t>에서 한번 제어함</a:t>
            </a:r>
            <a:r>
              <a:rPr lang="en-US" altLang="ko-KR" dirty="0" smtClean="0"/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17" y="2131953"/>
            <a:ext cx="6417279" cy="341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6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Top Adder  Block Diagram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249886" y="2369127"/>
            <a:ext cx="4886696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fnd_cotroller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fnd_data</a:t>
            </a:r>
            <a:r>
              <a:rPr lang="en-US" altLang="ko-KR" b="1" dirty="0" smtClean="0"/>
              <a:t>):</a:t>
            </a:r>
          </a:p>
          <a:p>
            <a:pPr marL="800100" lvl="1" indent="-342900">
              <a:buAutoNum type="arabicPeriod"/>
            </a:pPr>
            <a:r>
              <a:rPr lang="en-US" altLang="ko-KR" dirty="0" err="1" smtClean="0"/>
              <a:t>Full_Adder</a:t>
            </a:r>
            <a:r>
              <a:rPr lang="ko-KR" altLang="en-US" dirty="0" smtClean="0"/>
              <a:t>의 합이 </a:t>
            </a:r>
            <a:r>
              <a:rPr lang="en-US" altLang="ko-KR" dirty="0" err="1" smtClean="0"/>
              <a:t>digit_splitter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Input </a:t>
            </a:r>
            <a:r>
              <a:rPr lang="ko-KR" altLang="en-US" dirty="0" smtClean="0"/>
              <a:t>값으로 들어오며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진수에 대해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의 자리에서 </a:t>
            </a:r>
            <a:r>
              <a:rPr lang="en-US" altLang="ko-KR" dirty="0" smtClean="0"/>
              <a:t>1000</a:t>
            </a:r>
            <a:r>
              <a:rPr lang="ko-KR" altLang="en-US" dirty="0" smtClean="0"/>
              <a:t>의 자리의 값으로 분리하여 </a:t>
            </a:r>
            <a:r>
              <a:rPr lang="en-US" altLang="ko-KR" dirty="0" smtClean="0"/>
              <a:t>MUX</a:t>
            </a:r>
            <a:r>
              <a:rPr lang="ko-KR" altLang="en-US" dirty="0" smtClean="0"/>
              <a:t>에 출력함</a:t>
            </a:r>
            <a:endParaRPr lang="en-US" altLang="ko-KR" dirty="0" smtClean="0"/>
          </a:p>
          <a:p>
            <a:pPr marL="800100" lvl="1" indent="-342900">
              <a:buAutoNum type="arabicPeriod"/>
            </a:pPr>
            <a:r>
              <a:rPr lang="en-US" altLang="ko-KR" dirty="0" smtClean="0"/>
              <a:t>MUX</a:t>
            </a:r>
            <a:r>
              <a:rPr lang="ko-KR" altLang="en-US" dirty="0" smtClean="0"/>
              <a:t>는 카운터에서 받은 </a:t>
            </a:r>
            <a:r>
              <a:rPr lang="en-US" altLang="ko-KR" dirty="0" err="1" smtClean="0"/>
              <a:t>sel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값에 </a:t>
            </a:r>
            <a:endParaRPr lang="en-US" altLang="ko-KR" dirty="0" smtClean="0"/>
          </a:p>
          <a:p>
            <a:pPr lvl="1"/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의해 </a:t>
            </a:r>
            <a:r>
              <a:rPr lang="en-US" altLang="ko-KR" dirty="0" err="1" smtClean="0"/>
              <a:t>Bcd</a:t>
            </a:r>
            <a:r>
              <a:rPr lang="ko-KR" altLang="en-US" dirty="0" smtClean="0"/>
              <a:t>로 정해진 자리수의 값을 </a:t>
            </a:r>
            <a:endParaRPr lang="en-US" altLang="ko-KR" dirty="0" smtClean="0"/>
          </a:p>
          <a:p>
            <a:pPr lvl="1"/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출력함</a:t>
            </a:r>
            <a:endParaRPr lang="en-US" altLang="ko-KR" dirty="0" smtClean="0"/>
          </a:p>
          <a:p>
            <a:pPr marL="800100" lvl="1" indent="-342900">
              <a:buAutoNum type="arabicPeriod" startAt="3"/>
            </a:pPr>
            <a:r>
              <a:rPr lang="en-US" altLang="ko-KR" dirty="0" err="1" smtClean="0"/>
              <a:t>Bcd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sel</a:t>
            </a:r>
            <a:r>
              <a:rPr lang="ko-KR" altLang="en-US" dirty="0" smtClean="0"/>
              <a:t>에 의해 </a:t>
            </a:r>
            <a:r>
              <a:rPr lang="en-US" altLang="ko-KR" dirty="0" smtClean="0"/>
              <a:t>1~1000</a:t>
            </a:r>
            <a:r>
              <a:rPr lang="ko-KR" altLang="en-US" dirty="0" smtClean="0"/>
              <a:t>자리의 값 중 하나를 받아 </a:t>
            </a:r>
            <a:r>
              <a:rPr lang="en-US" altLang="ko-KR" dirty="0" err="1" smtClean="0"/>
              <a:t>fnd</a:t>
            </a:r>
            <a:r>
              <a:rPr lang="en-US" altLang="ko-KR" dirty="0"/>
              <a:t> </a:t>
            </a:r>
            <a:r>
              <a:rPr lang="en-US" altLang="ko-KR" dirty="0" smtClean="0"/>
              <a:t>display</a:t>
            </a:r>
            <a:r>
              <a:rPr lang="ko-KR" altLang="en-US" dirty="0" smtClean="0"/>
              <a:t>에 숫자가 출력할 수 있게  </a:t>
            </a:r>
            <a:r>
              <a:rPr lang="ko-KR" altLang="en-US" dirty="0" smtClean="0"/>
              <a:t>값을 변환함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99963"/>
            <a:ext cx="3246870" cy="187976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606" y="1543792"/>
            <a:ext cx="4560394" cy="27173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449" y="4499963"/>
            <a:ext cx="1405201" cy="197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1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Top Adder  Block Diagram</a:t>
            </a:r>
            <a:endParaRPr lang="ko-KR" alt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730835" y="2369127"/>
            <a:ext cx="427511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fnd</a:t>
            </a:r>
            <a:r>
              <a:rPr lang="en-US" altLang="ko-KR" b="1" dirty="0" smtClean="0"/>
              <a:t> display </a:t>
            </a:r>
            <a:r>
              <a:rPr lang="ko-KR" altLang="en-US" b="1" dirty="0" smtClean="0"/>
              <a:t>자리 수</a:t>
            </a:r>
            <a:r>
              <a:rPr lang="ko-KR" altLang="en-US" b="1" dirty="0" smtClean="0"/>
              <a:t> 표시</a:t>
            </a:r>
            <a:r>
              <a:rPr lang="en-US" altLang="ko-KR" b="1" dirty="0" smtClean="0"/>
              <a:t>:</a:t>
            </a:r>
          </a:p>
          <a:p>
            <a:r>
              <a:rPr lang="en-US" altLang="ko-KR" b="1" dirty="0" err="1" smtClean="0"/>
              <a:t>fnd</a:t>
            </a:r>
            <a:r>
              <a:rPr lang="en-US" altLang="ko-KR" b="1" dirty="0" smtClean="0"/>
              <a:t> display</a:t>
            </a:r>
            <a:r>
              <a:rPr lang="ko-KR" altLang="en-US" b="1" dirty="0" smtClean="0"/>
              <a:t>의 각 </a:t>
            </a:r>
            <a:r>
              <a:rPr lang="ko-KR" altLang="en-US" b="1" dirty="0" err="1" smtClean="0"/>
              <a:t>자리수를</a:t>
            </a:r>
            <a:r>
              <a:rPr lang="ko-KR" altLang="en-US" b="1" dirty="0" smtClean="0"/>
              <a:t> </a:t>
            </a:r>
            <a:endParaRPr lang="en-US" altLang="ko-KR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972" y="4411684"/>
            <a:ext cx="2733987" cy="205000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972" y="2040845"/>
            <a:ext cx="2709822" cy="161469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73" y="2179123"/>
            <a:ext cx="3064185" cy="389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1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98" y="1408115"/>
            <a:ext cx="2184976" cy="5248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9175" y="1829690"/>
            <a:ext cx="487482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input &amp; </a:t>
            </a:r>
            <a:r>
              <a:rPr lang="en-US" altLang="ko-KR" dirty="0" err="1" smtClean="0"/>
              <a:t>outout</a:t>
            </a:r>
            <a:r>
              <a:rPr lang="en-US" altLang="ko-KR" dirty="0" smtClean="0"/>
              <a:t> </a:t>
            </a:r>
            <a:r>
              <a:rPr lang="ko-KR" altLang="en-US" dirty="0" smtClean="0"/>
              <a:t>선언</a:t>
            </a:r>
            <a:r>
              <a:rPr lang="en-US" altLang="ko-KR" dirty="0" smtClean="0"/>
              <a:t>  </a:t>
            </a:r>
          </a:p>
          <a:p>
            <a:r>
              <a:rPr lang="en-US" altLang="ko-KR" dirty="0" smtClean="0"/>
              <a:t>input: 	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, reset, a, b</a:t>
            </a:r>
          </a:p>
          <a:p>
            <a:r>
              <a:rPr lang="en-US" altLang="ko-KR" dirty="0" smtClean="0"/>
              <a:t>output: 	</a:t>
            </a:r>
            <a:r>
              <a:rPr lang="en-US" altLang="ko-KR" dirty="0" err="1" smtClean="0"/>
              <a:t>find_data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find_digit</a:t>
            </a:r>
            <a:r>
              <a:rPr lang="en-US" altLang="ko-KR" dirty="0" smtClean="0"/>
              <a:t>, c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790698" y="1829690"/>
            <a:ext cx="2184976" cy="9039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790698" y="2733677"/>
            <a:ext cx="2184976" cy="1192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>
            <a:stCxn id="7" idx="3"/>
            <a:endCxn id="5" idx="1"/>
          </p:cNvCxnSpPr>
          <p:nvPr/>
        </p:nvCxnSpPr>
        <p:spPr>
          <a:xfrm>
            <a:off x="3975674" y="2281684"/>
            <a:ext cx="703501" cy="96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79174" y="3145015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top_adder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input &amp; output net</a:t>
            </a:r>
            <a:r>
              <a:rPr lang="ko-KR" altLang="en-US" dirty="0" smtClean="0"/>
              <a:t>연결</a:t>
            </a:r>
            <a:endParaRPr lang="en-US" altLang="ko-KR" dirty="0" smtClean="0"/>
          </a:p>
        </p:txBody>
      </p:sp>
      <p:cxnSp>
        <p:nvCxnSpPr>
          <p:cNvPr id="16" name="직선 연결선 15"/>
          <p:cNvCxnSpPr>
            <a:stCxn id="9" idx="3"/>
            <a:endCxn id="15" idx="1"/>
          </p:cNvCxnSpPr>
          <p:nvPr/>
        </p:nvCxnSpPr>
        <p:spPr>
          <a:xfrm>
            <a:off x="3975674" y="3329681"/>
            <a:ext cx="7035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 flipV="1">
            <a:off x="1790698" y="3925684"/>
            <a:ext cx="2184976" cy="3859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679174" y="4736309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clk</a:t>
            </a:r>
            <a:r>
              <a:rPr lang="ko-KR" altLang="en-US" dirty="0" smtClean="0"/>
              <a:t>의 주기 설정 </a:t>
            </a:r>
            <a:r>
              <a:rPr lang="en-US" altLang="ko-KR" dirty="0" smtClean="0"/>
              <a:t>time 5ns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edge</a:t>
            </a:r>
            <a:r>
              <a:rPr lang="ko-KR" altLang="en-US" dirty="0" smtClean="0"/>
              <a:t>가 바뀜</a:t>
            </a:r>
            <a:endParaRPr lang="en-US" altLang="ko-KR" dirty="0" smtClean="0"/>
          </a:p>
        </p:txBody>
      </p:sp>
      <p:cxnSp>
        <p:nvCxnSpPr>
          <p:cNvPr id="25" name="직선 연결선 24"/>
          <p:cNvCxnSpPr>
            <a:stCxn id="23" idx="3"/>
            <a:endCxn id="24" idx="1"/>
          </p:cNvCxnSpPr>
          <p:nvPr/>
        </p:nvCxnSpPr>
        <p:spPr>
          <a:xfrm>
            <a:off x="3975674" y="4118658"/>
            <a:ext cx="703500" cy="8023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74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98" y="1408115"/>
            <a:ext cx="2184976" cy="5248894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 flipV="1">
            <a:off x="1790698" y="3925684"/>
            <a:ext cx="2184976" cy="3859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679174" y="4736309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clk</a:t>
            </a:r>
            <a:r>
              <a:rPr lang="ko-KR" altLang="en-US" dirty="0" smtClean="0"/>
              <a:t>의 주기 설정 </a:t>
            </a:r>
            <a:r>
              <a:rPr lang="en-US" altLang="ko-KR" dirty="0" smtClean="0"/>
              <a:t>time 5ns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edge</a:t>
            </a:r>
            <a:r>
              <a:rPr lang="ko-KR" altLang="en-US" dirty="0" smtClean="0"/>
              <a:t>가 바뀜</a:t>
            </a:r>
            <a:endParaRPr lang="en-US" altLang="ko-KR" dirty="0" smtClean="0"/>
          </a:p>
        </p:txBody>
      </p:sp>
      <p:cxnSp>
        <p:nvCxnSpPr>
          <p:cNvPr id="25" name="직선 연결선 24"/>
          <p:cNvCxnSpPr>
            <a:stCxn id="23" idx="3"/>
            <a:endCxn id="24" idx="1"/>
          </p:cNvCxnSpPr>
          <p:nvPr/>
        </p:nvCxnSpPr>
        <p:spPr>
          <a:xfrm>
            <a:off x="3975674" y="4118658"/>
            <a:ext cx="703500" cy="8023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4473840" y="1446215"/>
            <a:ext cx="6879960" cy="1924889"/>
            <a:chOff x="4893994" y="1404005"/>
            <a:chExt cx="6879960" cy="1924889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93996" y="1430975"/>
              <a:ext cx="6879958" cy="1897919"/>
            </a:xfrm>
            <a:prstGeom prst="rect">
              <a:avLst/>
            </a:prstGeom>
          </p:spPr>
        </p:pic>
        <p:sp>
          <p:nvSpPr>
            <p:cNvPr id="17" name="직사각형 16"/>
            <p:cNvSpPr/>
            <p:nvPr/>
          </p:nvSpPr>
          <p:spPr>
            <a:xfrm flipH="1" flipV="1">
              <a:off x="4893994" y="1404005"/>
              <a:ext cx="6879959" cy="66823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203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38" y="1423355"/>
            <a:ext cx="2184976" cy="524889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 flipV="1">
            <a:off x="1767838" y="4481252"/>
            <a:ext cx="2184976" cy="736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/>
          <p:cNvCxnSpPr>
            <a:stCxn id="12" idx="3"/>
            <a:endCxn id="14" idx="1"/>
          </p:cNvCxnSpPr>
          <p:nvPr/>
        </p:nvCxnSpPr>
        <p:spPr>
          <a:xfrm flipV="1">
            <a:off x="3952814" y="2224825"/>
            <a:ext cx="1045906" cy="26245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98720" y="2040159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input a, b, reset,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대해 초기값 설정</a:t>
            </a:r>
            <a:endParaRPr lang="en-US" altLang="ko-KR" dirty="0" smtClean="0"/>
          </a:p>
        </p:txBody>
      </p:sp>
      <p:sp>
        <p:nvSpPr>
          <p:cNvPr id="19" name="직사각형 18"/>
          <p:cNvSpPr/>
          <p:nvPr/>
        </p:nvSpPr>
        <p:spPr>
          <a:xfrm flipV="1">
            <a:off x="1767838" y="5235335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>
            <a:stCxn id="19" idx="3"/>
            <a:endCxn id="22" idx="1"/>
          </p:cNvCxnSpPr>
          <p:nvPr/>
        </p:nvCxnSpPr>
        <p:spPr>
          <a:xfrm flipV="1">
            <a:off x="3952814" y="4177768"/>
            <a:ext cx="1045906" cy="13099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98720" y="3854602"/>
            <a:ext cx="355863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reset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40ns </a:t>
            </a:r>
            <a:r>
              <a:rPr lang="ko-KR" altLang="en-US" dirty="0" smtClean="0"/>
              <a:t>이후에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이 되며 </a:t>
            </a:r>
            <a:endParaRPr lang="en-US" altLang="ko-KR" dirty="0" smtClean="0"/>
          </a:p>
          <a:p>
            <a:r>
              <a:rPr lang="en-US" altLang="ko-KR" dirty="0" smtClean="0"/>
              <a:t>top adder</a:t>
            </a:r>
            <a:r>
              <a:rPr lang="ko-KR" altLang="en-US" dirty="0" smtClean="0"/>
              <a:t>의 동작 시행</a:t>
            </a:r>
            <a:endParaRPr lang="en-US" altLang="ko-KR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4998720" y="5421974"/>
            <a:ext cx="547353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a, b</a:t>
            </a:r>
            <a:r>
              <a:rPr lang="ko-KR" altLang="en-US" dirty="0" smtClean="0"/>
              <a:t>의 연산을 넣어 </a:t>
            </a:r>
            <a:endParaRPr lang="en-US" altLang="ko-KR" dirty="0" smtClean="0"/>
          </a:p>
          <a:p>
            <a:r>
              <a:rPr lang="en-US" altLang="ko-KR" dirty="0" err="1" smtClean="0"/>
              <a:t>fnd_data</a:t>
            </a:r>
            <a:r>
              <a:rPr lang="ko-KR" altLang="en-US" dirty="0" smtClean="0"/>
              <a:t>가 의도한대로 작동하는지 확인하기 위해 임의의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값 입력</a:t>
            </a:r>
            <a:endParaRPr lang="en-US" altLang="ko-KR" dirty="0" smtClean="0"/>
          </a:p>
        </p:txBody>
      </p:sp>
      <p:sp>
        <p:nvSpPr>
          <p:cNvPr id="28" name="직사각형 27"/>
          <p:cNvSpPr/>
          <p:nvPr/>
        </p:nvSpPr>
        <p:spPr>
          <a:xfrm flipV="1">
            <a:off x="1767838" y="5740036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>
            <a:stCxn id="28" idx="3"/>
            <a:endCxn id="27" idx="1"/>
          </p:cNvCxnSpPr>
          <p:nvPr/>
        </p:nvCxnSpPr>
        <p:spPr>
          <a:xfrm flipV="1">
            <a:off x="3952814" y="5883639"/>
            <a:ext cx="1045906" cy="1087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73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51222"/>
          <a:stretch/>
        </p:blipFill>
        <p:spPr>
          <a:xfrm>
            <a:off x="4199822" y="1400494"/>
            <a:ext cx="6616899" cy="245779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78" y="1400495"/>
            <a:ext cx="2184976" cy="524889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 flipV="1">
            <a:off x="1744978" y="4458392"/>
            <a:ext cx="2184976" cy="736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/>
          <p:cNvCxnSpPr>
            <a:stCxn id="12" idx="3"/>
            <a:endCxn id="14" idx="1"/>
          </p:cNvCxnSpPr>
          <p:nvPr/>
        </p:nvCxnSpPr>
        <p:spPr>
          <a:xfrm>
            <a:off x="3929954" y="4826527"/>
            <a:ext cx="1194347" cy="1898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4301" y="4831750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input a, b, reset,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대해 초기값 설정</a:t>
            </a:r>
            <a:endParaRPr lang="en-US" altLang="ko-KR" dirty="0" smtClean="0"/>
          </a:p>
        </p:txBody>
      </p:sp>
      <p:sp>
        <p:nvSpPr>
          <p:cNvPr id="15" name="직사각형 14"/>
          <p:cNvSpPr/>
          <p:nvPr/>
        </p:nvSpPr>
        <p:spPr>
          <a:xfrm flipH="1" flipV="1">
            <a:off x="6183184" y="1400493"/>
            <a:ext cx="635329" cy="24577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5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110" y="1357217"/>
            <a:ext cx="6956690" cy="213080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034" y="1392875"/>
            <a:ext cx="2184976" cy="524889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 flipV="1">
            <a:off x="1911034" y="5204855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>
            <a:stCxn id="19" idx="3"/>
            <a:endCxn id="22" idx="1"/>
          </p:cNvCxnSpPr>
          <p:nvPr/>
        </p:nvCxnSpPr>
        <p:spPr>
          <a:xfrm flipV="1">
            <a:off x="4096010" y="5134040"/>
            <a:ext cx="1681236" cy="3231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77246" y="4810874"/>
            <a:ext cx="355863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reset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40ns </a:t>
            </a:r>
            <a:r>
              <a:rPr lang="ko-KR" altLang="en-US" dirty="0" smtClean="0"/>
              <a:t>이후에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이 되며 </a:t>
            </a:r>
            <a:endParaRPr lang="en-US" altLang="ko-KR" dirty="0" smtClean="0"/>
          </a:p>
          <a:p>
            <a:r>
              <a:rPr lang="en-US" altLang="ko-KR" dirty="0" smtClean="0"/>
              <a:t>top adder</a:t>
            </a:r>
            <a:r>
              <a:rPr lang="ko-KR" altLang="en-US" dirty="0" smtClean="0"/>
              <a:t>의 동작 시행</a:t>
            </a:r>
            <a:endParaRPr lang="en-US" altLang="ko-KR" dirty="0" smtClean="0"/>
          </a:p>
        </p:txBody>
      </p:sp>
      <p:sp>
        <p:nvSpPr>
          <p:cNvPr id="20" name="직사각형 19"/>
          <p:cNvSpPr/>
          <p:nvPr/>
        </p:nvSpPr>
        <p:spPr>
          <a:xfrm flipH="1" flipV="1">
            <a:off x="4397108" y="1915389"/>
            <a:ext cx="6956691" cy="4257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16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297" y="1446215"/>
            <a:ext cx="2184976" cy="524889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 flipV="1">
            <a:off x="2029297" y="4504112"/>
            <a:ext cx="2184976" cy="736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 flipV="1">
            <a:off x="2029297" y="5258195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5260179" y="5444834"/>
            <a:ext cx="547353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a, b</a:t>
            </a:r>
            <a:r>
              <a:rPr lang="ko-KR" altLang="en-US" dirty="0" smtClean="0"/>
              <a:t>의 연산을 넣어 </a:t>
            </a:r>
            <a:endParaRPr lang="en-US" altLang="ko-KR" dirty="0" smtClean="0"/>
          </a:p>
          <a:p>
            <a:r>
              <a:rPr lang="en-US" altLang="ko-KR" dirty="0" err="1" smtClean="0"/>
              <a:t>fnd_data</a:t>
            </a:r>
            <a:r>
              <a:rPr lang="ko-KR" altLang="en-US" dirty="0" smtClean="0"/>
              <a:t>가 의도한대로 작동하는지 확인하기 위해 임의의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값 입력</a:t>
            </a:r>
            <a:endParaRPr lang="en-US" altLang="ko-KR" dirty="0" smtClean="0"/>
          </a:p>
        </p:txBody>
      </p:sp>
      <p:sp>
        <p:nvSpPr>
          <p:cNvPr id="28" name="직사각형 27"/>
          <p:cNvSpPr/>
          <p:nvPr/>
        </p:nvSpPr>
        <p:spPr>
          <a:xfrm flipV="1">
            <a:off x="2029297" y="5762896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>
            <a:stCxn id="28" idx="3"/>
            <a:endCxn id="27" idx="1"/>
          </p:cNvCxnSpPr>
          <p:nvPr/>
        </p:nvCxnSpPr>
        <p:spPr>
          <a:xfrm flipV="1">
            <a:off x="4214273" y="5906499"/>
            <a:ext cx="1045906" cy="1087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0" y="1489786"/>
            <a:ext cx="7375927" cy="1539205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 flipH="1" flipV="1">
            <a:off x="4397108" y="2143934"/>
            <a:ext cx="7406038" cy="4257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7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</a:t>
            </a:r>
            <a:r>
              <a:rPr lang="en-US" altLang="ko-KR" dirty="0" err="1" smtClean="0"/>
              <a:t>clk_div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23" y="3915868"/>
            <a:ext cx="2608018" cy="196786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01" y="1690688"/>
            <a:ext cx="9914345" cy="1631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4840" y="3802380"/>
            <a:ext cx="691896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0ns – 40ns:</a:t>
            </a:r>
          </a:p>
          <a:p>
            <a:pPr lvl="1"/>
            <a:r>
              <a:rPr lang="en-US" altLang="ko-KR" dirty="0" smtClean="0"/>
              <a:t>reset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을 유지하는 시간에 카운터가 동작하지 않는 것으로 </a:t>
            </a:r>
            <a:r>
              <a:rPr lang="en-US" altLang="ko-KR" dirty="0" smtClean="0"/>
              <a:t>reset</a:t>
            </a:r>
            <a:r>
              <a:rPr lang="ko-KR" altLang="en-US" dirty="0" smtClean="0"/>
              <a:t>에 대해 정상적인 동작을 보임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b="1" dirty="0" smtClean="0"/>
              <a:t>40ns - :</a:t>
            </a:r>
          </a:p>
          <a:p>
            <a:pPr lvl="1"/>
            <a:r>
              <a:rPr lang="en-US" altLang="ko-KR" dirty="0" smtClean="0"/>
              <a:t>reset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을 유지하는 시간에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positive</a:t>
            </a:r>
            <a:r>
              <a:rPr lang="ko-KR" altLang="en-US" dirty="0" smtClean="0"/>
              <a:t> </a:t>
            </a:r>
            <a:r>
              <a:rPr lang="en-US" altLang="ko-KR" dirty="0" smtClean="0"/>
              <a:t>edge</a:t>
            </a:r>
            <a:r>
              <a:rPr lang="ko-KR" altLang="en-US" dirty="0" smtClean="0"/>
              <a:t>일 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카운터 동작을 시행하는 것을 확인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542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</a:t>
            </a:r>
            <a:r>
              <a:rPr lang="en-US" altLang="ko-KR" dirty="0" err="1" smtClean="0"/>
              <a:t>clk_div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66967" y="3739954"/>
            <a:ext cx="691896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1,000,035ns - 2,000,035ns: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o_1khz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0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99,999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후 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smtClean="0"/>
              <a:t>1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동안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을 유지하는 것을 확인함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1" y="1690688"/>
            <a:ext cx="4008850" cy="409853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632" y="1690688"/>
            <a:ext cx="7509630" cy="145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5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counter_4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422077" y="3698390"/>
            <a:ext cx="437605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counter_r</a:t>
            </a:r>
            <a:r>
              <a:rPr lang="en-US" altLang="ko-KR" dirty="0" smtClean="0"/>
              <a:t> &amp; </a:t>
            </a:r>
            <a:r>
              <a:rPr lang="en-US" altLang="ko-KR" dirty="0" err="1" smtClean="0"/>
              <a:t>digit_sel</a:t>
            </a:r>
            <a:r>
              <a:rPr lang="en-US" altLang="ko-KR" dirty="0" smtClean="0"/>
              <a:t>:</a:t>
            </a:r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 될 때 </a:t>
            </a:r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en-US" altLang="ko-KR" dirty="0" err="1" smtClean="0"/>
              <a:t>counter_r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씩 증가하는 것을 </a:t>
            </a:r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ko-KR" altLang="en-US" dirty="0" smtClean="0"/>
              <a:t>확일 할 수 있</a:t>
            </a:r>
            <a:r>
              <a:rPr lang="ko-KR" altLang="en-US" dirty="0"/>
              <a:t>음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722" y="1157768"/>
            <a:ext cx="2731869" cy="216590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53" y="3769642"/>
            <a:ext cx="6734621" cy="151835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53" y="1731478"/>
            <a:ext cx="6734621" cy="137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6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</a:t>
            </a:r>
            <a:r>
              <a:rPr lang="en-US" altLang="ko-KR" dirty="0" err="1"/>
              <a:t>t</a:t>
            </a:r>
            <a:r>
              <a:rPr lang="en-US" altLang="ko-KR" dirty="0" err="1" smtClean="0"/>
              <a:t>op_adder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56709" y="3969756"/>
            <a:ext cx="58545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fnd_digit</a:t>
            </a:r>
            <a:r>
              <a:rPr lang="en-US" altLang="ko-KR" dirty="0" smtClean="0"/>
              <a:t>: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4’b1110, 4’b1101, 4’b1011, 4’b0111 </a:t>
            </a:r>
            <a:r>
              <a:rPr lang="ko-KR" altLang="en-US" dirty="0" smtClean="0"/>
              <a:t>순으로</a:t>
            </a:r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ko-KR" altLang="en-US" dirty="0" smtClean="0"/>
              <a:t>반복하는 것을 확인할 수 있음</a:t>
            </a:r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ko-KR" altLang="en-US" dirty="0" smtClean="0"/>
              <a:t>간격은 </a:t>
            </a:r>
            <a:r>
              <a:rPr lang="en-US" altLang="ko-KR" dirty="0" smtClean="0"/>
              <a:t>100,000ns</a:t>
            </a:r>
            <a:r>
              <a:rPr lang="ko-KR" altLang="en-US" dirty="0" smtClean="0"/>
              <a:t>로 확인함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03" y="1636705"/>
            <a:ext cx="4244342" cy="499901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140" y="1386540"/>
            <a:ext cx="6665911" cy="211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4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</a:t>
            </a:r>
            <a:r>
              <a:rPr lang="en-US" altLang="ko-KR" dirty="0" err="1"/>
              <a:t>t</a:t>
            </a:r>
            <a:r>
              <a:rPr lang="en-US" altLang="ko-KR" dirty="0" err="1" smtClean="0"/>
              <a:t>op_adder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56709" y="3969756"/>
            <a:ext cx="5854538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fnd_data</a:t>
            </a:r>
            <a:r>
              <a:rPr lang="en-US" altLang="ko-KR" dirty="0" smtClean="0"/>
              <a:t>:</a:t>
            </a:r>
          </a:p>
          <a:p>
            <a:r>
              <a:rPr lang="en-US" altLang="ko-KR" dirty="0"/>
              <a:t>	1</a:t>
            </a:r>
            <a:r>
              <a:rPr lang="ko-KR" altLang="en-US" dirty="0"/>
              <a:t>의 자리</a:t>
            </a:r>
            <a:r>
              <a:rPr lang="en-US" altLang="ko-KR" dirty="0"/>
              <a:t>: a4, </a:t>
            </a:r>
          </a:p>
          <a:p>
            <a:r>
              <a:rPr lang="en-US" altLang="ko-KR" dirty="0"/>
              <a:t>	10</a:t>
            </a:r>
            <a:r>
              <a:rPr lang="ko-KR" altLang="en-US" dirty="0"/>
              <a:t>의 자리</a:t>
            </a:r>
            <a:r>
              <a:rPr lang="en-US" altLang="ko-KR" dirty="0"/>
              <a:t>: </a:t>
            </a:r>
            <a:r>
              <a:rPr lang="en-US" altLang="ko-KR" dirty="0" err="1"/>
              <a:t>fg</a:t>
            </a:r>
            <a:endParaRPr lang="en-US" altLang="ko-KR" dirty="0"/>
          </a:p>
          <a:p>
            <a:r>
              <a:rPr lang="en-US" altLang="ko-KR" dirty="0"/>
              <a:t>	100</a:t>
            </a:r>
            <a:r>
              <a:rPr lang="ko-KR" altLang="en-US" dirty="0"/>
              <a:t>의 자리</a:t>
            </a:r>
            <a:r>
              <a:rPr lang="en-US" altLang="ko-KR" dirty="0"/>
              <a:t>: </a:t>
            </a:r>
            <a:r>
              <a:rPr lang="en-US" altLang="ko-KR" dirty="0" err="1"/>
              <a:t>fg</a:t>
            </a:r>
            <a:endParaRPr lang="en-US" altLang="ko-KR" dirty="0"/>
          </a:p>
          <a:p>
            <a:r>
              <a:rPr lang="en-US" altLang="ko-KR" dirty="0"/>
              <a:t>	1000</a:t>
            </a:r>
            <a:r>
              <a:rPr lang="ko-KR" altLang="en-US" dirty="0"/>
              <a:t>의 자리</a:t>
            </a:r>
            <a:r>
              <a:rPr lang="en-US" altLang="ko-KR" dirty="0"/>
              <a:t>: c0</a:t>
            </a:r>
          </a:p>
          <a:p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a,b</a:t>
            </a:r>
            <a:r>
              <a:rPr lang="ko-KR" altLang="en-US" dirty="0" smtClean="0"/>
              <a:t>의 합은 </a:t>
            </a:r>
            <a:r>
              <a:rPr lang="en-US" altLang="ko-KR" dirty="0" smtClean="0"/>
              <a:t>112</a:t>
            </a:r>
            <a:r>
              <a:rPr lang="ko-KR" altLang="en-US" dirty="0" smtClean="0"/>
              <a:t>이며 각 자리에 원하는 </a:t>
            </a:r>
            <a:r>
              <a:rPr lang="en-US" altLang="ko-KR" dirty="0" smtClean="0"/>
              <a:t>fnd 	display</a:t>
            </a:r>
            <a:r>
              <a:rPr lang="ko-KR" altLang="en-US" dirty="0" smtClean="0"/>
              <a:t>를 위한 비트로 변환된 모습을 보이고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ko-KR" altLang="en-US" smtClean="0"/>
              <a:t>일정한 반복을 보여줌 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34" y="1889247"/>
            <a:ext cx="2708472" cy="380475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140" y="1386540"/>
            <a:ext cx="6665911" cy="211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3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Words>356</Words>
  <Application>Microsoft Office PowerPoint</Application>
  <PresentationFormat>와이드스크린</PresentationFormat>
  <Paragraphs>75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1. 블럭다이어그램은 잘 만드셨는데 전체 동작 설명이 추가되어야 할거 같아요.  (수정 중 5p)  2. counter_4, clk_div를 만든 이유도 설명이 되어야 합니다.  3. 페이지 12에서 1khz출력에 대해 시간 검증된 부분도 설명이 추가되면 더 좋겠죠  4. adder 입력 a,b에 따른 sum값 과 fnd 입력 sum값을 최종 출력 fnd display되는 과정이 시뮬레이션으로 설명이 되면 더 좋겠습니다. 수고하셨습니다.</vt:lpstr>
      <vt:lpstr>Top_adder simulation</vt:lpstr>
      <vt:lpstr>Top Adder  Block Diagram</vt:lpstr>
      <vt:lpstr>Top Adder  Block Diagram</vt:lpstr>
      <vt:lpstr>Top Adder  Block Diagram</vt:lpstr>
      <vt:lpstr>Top Adder  Block Diagram</vt:lpstr>
      <vt:lpstr>testbench</vt:lpstr>
      <vt:lpstr>testbench</vt:lpstr>
      <vt:lpstr>testbench</vt:lpstr>
      <vt:lpstr>testbench</vt:lpstr>
      <vt:lpstr>testbench</vt:lpstr>
      <vt:lpstr>testbench</vt:lpstr>
      <vt:lpstr>Simulation : clk_div</vt:lpstr>
      <vt:lpstr>Simulation : clk_div</vt:lpstr>
      <vt:lpstr>Simulation : counter_4</vt:lpstr>
      <vt:lpstr>Simulation : top_adder</vt:lpstr>
      <vt:lpstr>Simulation : top_adder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22</cp:revision>
  <dcterms:created xsi:type="dcterms:W3CDTF">2026-01-23T07:15:50Z</dcterms:created>
  <dcterms:modified xsi:type="dcterms:W3CDTF">2026-01-26T05:42:58Z</dcterms:modified>
</cp:coreProperties>
</file>