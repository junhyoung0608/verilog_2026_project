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4" r:id="rId1"/>
    <p:sldMasterId id="2147483738" r:id="rId2"/>
    <p:sldMasterId id="2147483750" r:id="rId3"/>
    <p:sldMasterId id="2147483762" r:id="rId4"/>
  </p:sldMasterIdLst>
  <p:notesMasterIdLst>
    <p:notesMasterId r:id="rId26"/>
  </p:notesMasterIdLst>
  <p:sldIdLst>
    <p:sldId id="256" r:id="rId5"/>
    <p:sldId id="290" r:id="rId6"/>
    <p:sldId id="291" r:id="rId7"/>
    <p:sldId id="293" r:id="rId8"/>
    <p:sldId id="292" r:id="rId9"/>
    <p:sldId id="294" r:id="rId10"/>
    <p:sldId id="300" r:id="rId11"/>
    <p:sldId id="295" r:id="rId12"/>
    <p:sldId id="299" r:id="rId13"/>
    <p:sldId id="301" r:id="rId14"/>
    <p:sldId id="302" r:id="rId15"/>
    <p:sldId id="303" r:id="rId16"/>
    <p:sldId id="296" r:id="rId17"/>
    <p:sldId id="298" r:id="rId18"/>
    <p:sldId id="306" r:id="rId19"/>
    <p:sldId id="307" r:id="rId20"/>
    <p:sldId id="309" r:id="rId21"/>
    <p:sldId id="310" r:id="rId22"/>
    <p:sldId id="311" r:id="rId23"/>
    <p:sldId id="312" r:id="rId24"/>
    <p:sldId id="313" r:id="rId2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D9F1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120" autoAdjust="0"/>
    <p:restoredTop sz="94660"/>
  </p:normalViewPr>
  <p:slideViewPr>
    <p:cSldViewPr snapToGrid="0">
      <p:cViewPr varScale="1">
        <p:scale>
          <a:sx n="163" d="100"/>
          <a:sy n="163" d="100"/>
        </p:scale>
        <p:origin x="522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notesMaster" Target="notesMasters/notesMaster1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C9D96A-C90B-4616-BE12-243A1276DB70}" type="datetimeFigureOut">
              <a:rPr lang="ko-KR" altLang="en-US" smtClean="0"/>
              <a:t>2026-02-10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26B70E-3285-4773-BDBD-F3FA3916C4D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57224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4530"/>
            <a:ext cx="9144000" cy="2387600"/>
          </a:xfrm>
        </p:spPr>
        <p:txBody>
          <a:bodyPr anchor="b">
            <a:normAutofit/>
          </a:bodyPr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75546-8575-4D9D-BEAF-A4B014C1EC31}" type="datetimeFigureOut">
              <a:rPr lang="ko-KR" altLang="en-US" smtClean="0"/>
              <a:t>2026-02-10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579059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75546-8575-4D9D-BEAF-A4B014C1EC31}" type="datetimeFigureOut">
              <a:rPr lang="ko-KR" altLang="en-US" smtClean="0"/>
              <a:t>2026-02-10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433325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12423"/>
            <a:ext cx="10515600" cy="2851208"/>
          </a:xfrm>
        </p:spPr>
        <p:txBody>
          <a:bodyPr anchor="b">
            <a:normAutofit/>
          </a:bodyPr>
          <a:lstStyle>
            <a:lvl1pPr>
              <a:defRPr sz="6000" b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52633"/>
            <a:ext cx="105156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75546-8575-4D9D-BEAF-A4B014C1EC31}" type="datetimeFigureOut">
              <a:rPr lang="ko-KR" altLang="en-US" smtClean="0"/>
              <a:t>2026-02-10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670835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45127" y="1828800"/>
            <a:ext cx="5181600" cy="4351337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8800"/>
            <a:ext cx="5181600" cy="4351337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75546-8575-4D9D-BEAF-A4B014C1EC31}" type="datetimeFigureOut">
              <a:rPr lang="ko-KR" altLang="en-US" smtClean="0"/>
              <a:t>2026-02-10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451889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5127" y="1681850"/>
            <a:ext cx="5156200" cy="825699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5127" y="2507550"/>
            <a:ext cx="5156200" cy="3680525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851"/>
            <a:ext cx="5181601" cy="825698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7550"/>
            <a:ext cx="5181601" cy="3680525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75546-8575-4D9D-BEAF-A4B014C1EC31}" type="datetimeFigureOut">
              <a:rPr lang="ko-KR" altLang="en-US" smtClean="0"/>
              <a:t>2026-02-10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69206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75546-8575-4D9D-BEAF-A4B014C1EC31}" type="datetimeFigureOut">
              <a:rPr lang="ko-KR" altLang="en-US" smtClean="0"/>
              <a:t>2026-02-10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13651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75546-8575-4D9D-BEAF-A4B014C1EC31}" type="datetimeFigureOut">
              <a:rPr lang="ko-KR" altLang="en-US" smtClean="0"/>
              <a:t>2026-02-10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828754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931920" cy="1600197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1600" y="990600"/>
            <a:ext cx="6172200" cy="48768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57399"/>
            <a:ext cx="3931920" cy="3810001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75546-8575-4D9D-BEAF-A4B014C1EC31}" type="datetimeFigureOut">
              <a:rPr lang="ko-KR" altLang="en-US" smtClean="0"/>
              <a:t>2026-02-10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485720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931920" cy="160020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1600" y="990600"/>
            <a:ext cx="6172200" cy="4876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57400"/>
            <a:ext cx="3931920" cy="38100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75546-8575-4D9D-BEAF-A4B014C1EC31}" type="datetimeFigureOut">
              <a:rPr lang="ko-KR" altLang="en-US" smtClean="0"/>
              <a:t>2026-02-10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650439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75546-8575-4D9D-BEAF-A4B014C1EC31}" type="datetimeFigureOut">
              <a:rPr lang="ko-KR" altLang="en-US" smtClean="0"/>
              <a:t>2026-02-10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761255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0362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0362"/>
            <a:ext cx="7734300" cy="5811837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75546-8575-4D9D-BEAF-A4B014C1EC31}" type="datetimeFigureOut">
              <a:rPr lang="ko-KR" altLang="en-US" smtClean="0"/>
              <a:t>2026-02-10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9511652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4530"/>
            <a:ext cx="9144000" cy="2387600"/>
          </a:xfrm>
        </p:spPr>
        <p:txBody>
          <a:bodyPr anchor="b">
            <a:normAutofit/>
          </a:bodyPr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75546-8575-4D9D-BEAF-A4B014C1EC31}" type="datetimeFigureOut">
              <a:rPr lang="ko-KR" altLang="en-US" smtClean="0"/>
              <a:t>2026-02-10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0542956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75546-8575-4D9D-BEAF-A4B014C1EC31}" type="datetimeFigureOut">
              <a:rPr lang="ko-KR" altLang="en-US" smtClean="0"/>
              <a:t>2026-02-10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307599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12423"/>
            <a:ext cx="10515600" cy="2851208"/>
          </a:xfrm>
        </p:spPr>
        <p:txBody>
          <a:bodyPr anchor="b">
            <a:normAutofit/>
          </a:bodyPr>
          <a:lstStyle>
            <a:lvl1pPr>
              <a:defRPr sz="6000" b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52633"/>
            <a:ext cx="105156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75546-8575-4D9D-BEAF-A4B014C1EC31}" type="datetimeFigureOut">
              <a:rPr lang="ko-KR" altLang="en-US" smtClean="0"/>
              <a:t>2026-02-10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8405163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45127" y="1828800"/>
            <a:ext cx="5181600" cy="4351337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8800"/>
            <a:ext cx="5181600" cy="4351337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75546-8575-4D9D-BEAF-A4B014C1EC31}" type="datetimeFigureOut">
              <a:rPr lang="ko-KR" altLang="en-US" smtClean="0"/>
              <a:t>2026-02-10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9062879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5127" y="1681850"/>
            <a:ext cx="5156200" cy="825699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5127" y="2507550"/>
            <a:ext cx="5156200" cy="3680525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851"/>
            <a:ext cx="5181601" cy="825698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7550"/>
            <a:ext cx="5181601" cy="3680525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75546-8575-4D9D-BEAF-A4B014C1EC31}" type="datetimeFigureOut">
              <a:rPr lang="ko-KR" altLang="en-US" smtClean="0"/>
              <a:t>2026-02-10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907562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75546-8575-4D9D-BEAF-A4B014C1EC31}" type="datetimeFigureOut">
              <a:rPr lang="ko-KR" altLang="en-US" smtClean="0"/>
              <a:t>2026-02-10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134081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75546-8575-4D9D-BEAF-A4B014C1EC31}" type="datetimeFigureOut">
              <a:rPr lang="ko-KR" altLang="en-US" smtClean="0"/>
              <a:t>2026-02-10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396994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931920" cy="1600197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1600" y="990600"/>
            <a:ext cx="6172200" cy="48768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57399"/>
            <a:ext cx="3931920" cy="3810001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75546-8575-4D9D-BEAF-A4B014C1EC31}" type="datetimeFigureOut">
              <a:rPr lang="ko-KR" altLang="en-US" smtClean="0"/>
              <a:t>2026-02-10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039850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931920" cy="160020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1600" y="990600"/>
            <a:ext cx="6172200" cy="4876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57400"/>
            <a:ext cx="3931920" cy="38100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75546-8575-4D9D-BEAF-A4B014C1EC31}" type="datetimeFigureOut">
              <a:rPr lang="ko-KR" altLang="en-US" smtClean="0"/>
              <a:t>2026-02-10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8107630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75546-8575-4D9D-BEAF-A4B014C1EC31}" type="datetimeFigureOut">
              <a:rPr lang="ko-KR" altLang="en-US" smtClean="0"/>
              <a:t>2026-02-10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0897633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0362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0362"/>
            <a:ext cx="7734300" cy="5811837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75546-8575-4D9D-BEAF-A4B014C1EC31}" type="datetimeFigureOut">
              <a:rPr lang="ko-KR" altLang="en-US" smtClean="0"/>
              <a:t>2026-02-10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1945078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4530"/>
            <a:ext cx="9144000" cy="2387600"/>
          </a:xfrm>
        </p:spPr>
        <p:txBody>
          <a:bodyPr anchor="b">
            <a:normAutofit/>
          </a:bodyPr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75546-8575-4D9D-BEAF-A4B014C1EC31}" type="datetimeFigureOut">
              <a:rPr lang="ko-KR" altLang="en-US" smtClean="0"/>
              <a:t>2026-02-10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4722933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75546-8575-4D9D-BEAF-A4B014C1EC31}" type="datetimeFigureOut">
              <a:rPr lang="ko-KR" altLang="en-US" smtClean="0"/>
              <a:t>2026-02-10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1967096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12423"/>
            <a:ext cx="10515600" cy="2851208"/>
          </a:xfrm>
        </p:spPr>
        <p:txBody>
          <a:bodyPr anchor="b">
            <a:normAutofit/>
          </a:bodyPr>
          <a:lstStyle>
            <a:lvl1pPr>
              <a:defRPr sz="6000" b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52633"/>
            <a:ext cx="105156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75546-8575-4D9D-BEAF-A4B014C1EC31}" type="datetimeFigureOut">
              <a:rPr lang="ko-KR" altLang="en-US" smtClean="0"/>
              <a:t>2026-02-10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2217717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45127" y="1828800"/>
            <a:ext cx="5181600" cy="4351337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8800"/>
            <a:ext cx="5181600" cy="4351337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75546-8575-4D9D-BEAF-A4B014C1EC31}" type="datetimeFigureOut">
              <a:rPr lang="ko-KR" altLang="en-US" smtClean="0"/>
              <a:t>2026-02-10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7218703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5127" y="1681850"/>
            <a:ext cx="5156200" cy="825699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5127" y="2507550"/>
            <a:ext cx="5156200" cy="3680525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851"/>
            <a:ext cx="5181601" cy="825698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7550"/>
            <a:ext cx="5181601" cy="3680525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75546-8575-4D9D-BEAF-A4B014C1EC31}" type="datetimeFigureOut">
              <a:rPr lang="ko-KR" altLang="en-US" smtClean="0"/>
              <a:t>2026-02-10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073797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75546-8575-4D9D-BEAF-A4B014C1EC31}" type="datetimeFigureOut">
              <a:rPr lang="ko-KR" altLang="en-US" smtClean="0"/>
              <a:t>2026-02-10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887724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75546-8575-4D9D-BEAF-A4B014C1EC31}" type="datetimeFigureOut">
              <a:rPr lang="ko-KR" altLang="en-US" smtClean="0"/>
              <a:t>2026-02-10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4984722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931920" cy="1600197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1600" y="990600"/>
            <a:ext cx="6172200" cy="48768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57399"/>
            <a:ext cx="3931920" cy="3810001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75546-8575-4D9D-BEAF-A4B014C1EC31}" type="datetimeFigureOut">
              <a:rPr lang="ko-KR" altLang="en-US" smtClean="0"/>
              <a:t>2026-02-10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1468021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931920" cy="160020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1600" y="990600"/>
            <a:ext cx="6172200" cy="4876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57400"/>
            <a:ext cx="3931920" cy="38100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75546-8575-4D9D-BEAF-A4B014C1EC31}" type="datetimeFigureOut">
              <a:rPr lang="ko-KR" altLang="en-US" smtClean="0"/>
              <a:t>2026-02-10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5608349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75546-8575-4D9D-BEAF-A4B014C1EC31}" type="datetimeFigureOut">
              <a:rPr lang="ko-KR" altLang="en-US" smtClean="0"/>
              <a:t>2026-02-10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4905901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0362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0362"/>
            <a:ext cx="7734300" cy="5811837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75546-8575-4D9D-BEAF-A4B014C1EC31}" type="datetimeFigureOut">
              <a:rPr lang="ko-KR" altLang="en-US" smtClean="0"/>
              <a:t>2026-02-10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8693973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48E75546-8575-4D9D-BEAF-A4B014C1EC31}" type="datetimeFigureOut">
              <a:rPr lang="ko-KR" altLang="en-US" smtClean="0"/>
              <a:t>2026-02-10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71524469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75546-8575-4D9D-BEAF-A4B014C1EC31}" type="datetimeFigureOut">
              <a:rPr lang="ko-KR" altLang="en-US" smtClean="0"/>
              <a:t>2026-02-10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81729740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구역 머리글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8E75546-8575-4D9D-BEAF-A4B014C1EC31}" type="datetimeFigureOut">
              <a:rPr lang="ko-KR" altLang="en-US" smtClean="0"/>
              <a:t>2026-02-10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5730196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75546-8575-4D9D-BEAF-A4B014C1EC31}" type="datetimeFigureOut">
              <a:rPr lang="ko-KR" altLang="en-US" smtClean="0"/>
              <a:t>2026-02-10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50869230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75546-8575-4D9D-BEAF-A4B014C1EC31}" type="datetimeFigureOut">
              <a:rPr lang="ko-KR" altLang="en-US" smtClean="0"/>
              <a:t>2026-02-10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07366021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75546-8575-4D9D-BEAF-A4B014C1EC31}" type="datetimeFigureOut">
              <a:rPr lang="ko-KR" altLang="en-US" smtClean="0"/>
              <a:t>2026-02-10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6221538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75546-8575-4D9D-BEAF-A4B014C1EC31}" type="datetimeFigureOut">
              <a:rPr lang="ko-KR" altLang="en-US" smtClean="0"/>
              <a:t>2026-02-10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1999626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8E75546-8575-4D9D-BEAF-A4B014C1EC31}" type="datetimeFigureOut">
              <a:rPr lang="ko-KR" altLang="en-US" smtClean="0"/>
              <a:t>2026-02-10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0231888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8E75546-8575-4D9D-BEAF-A4B014C1EC31}" type="datetimeFigureOut">
              <a:rPr lang="ko-KR" altLang="en-US" smtClean="0"/>
              <a:t>2026-02-10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04336820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75546-8575-4D9D-BEAF-A4B014C1EC31}" type="datetimeFigureOut">
              <a:rPr lang="ko-KR" altLang="en-US" smtClean="0"/>
              <a:t>2026-02-10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34379489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75546-8575-4D9D-BEAF-A4B014C1EC31}" type="datetimeFigureOut">
              <a:rPr lang="ko-KR" altLang="en-US" smtClean="0"/>
              <a:t>2026-02-10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241246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45127" y="365760"/>
            <a:ext cx="10515600" cy="13255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5127" y="1828800"/>
            <a:ext cx="1051560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48E75546-8575-4D9D-BEAF-A4B014C1EC31}" type="datetimeFigureOut">
              <a:rPr lang="ko-KR" altLang="en-US" smtClean="0"/>
              <a:t>2026-02-10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7527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62363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Wingdings 2" pitchFamily="18" charset="2"/>
        <a:buChar char="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45127" y="365760"/>
            <a:ext cx="10515600" cy="13255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5127" y="1828800"/>
            <a:ext cx="1051560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48E75546-8575-4D9D-BEAF-A4B014C1EC31}" type="datetimeFigureOut">
              <a:rPr lang="ko-KR" altLang="en-US" smtClean="0"/>
              <a:t>2026-02-10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7527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264241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9" r:id="rId1"/>
    <p:sldLayoutId id="2147483740" r:id="rId2"/>
    <p:sldLayoutId id="2147483741" r:id="rId3"/>
    <p:sldLayoutId id="2147483742" r:id="rId4"/>
    <p:sldLayoutId id="2147483743" r:id="rId5"/>
    <p:sldLayoutId id="2147483744" r:id="rId6"/>
    <p:sldLayoutId id="2147483745" r:id="rId7"/>
    <p:sldLayoutId id="2147483746" r:id="rId8"/>
    <p:sldLayoutId id="2147483747" r:id="rId9"/>
    <p:sldLayoutId id="2147483748" r:id="rId10"/>
    <p:sldLayoutId id="214748374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Wingdings 2" pitchFamily="18" charset="2"/>
        <a:buChar char="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45127" y="365760"/>
            <a:ext cx="10515600" cy="13255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5127" y="1828800"/>
            <a:ext cx="1051560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48E75546-8575-4D9D-BEAF-A4B014C1EC31}" type="datetimeFigureOut">
              <a:rPr lang="ko-KR" altLang="en-US" smtClean="0"/>
              <a:t>2026-02-10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7527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683013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1" r:id="rId1"/>
    <p:sldLayoutId id="2147483752" r:id="rId2"/>
    <p:sldLayoutId id="2147483753" r:id="rId3"/>
    <p:sldLayoutId id="2147483754" r:id="rId4"/>
    <p:sldLayoutId id="2147483755" r:id="rId5"/>
    <p:sldLayoutId id="2147483756" r:id="rId6"/>
    <p:sldLayoutId id="2147483757" r:id="rId7"/>
    <p:sldLayoutId id="2147483758" r:id="rId8"/>
    <p:sldLayoutId id="2147483759" r:id="rId9"/>
    <p:sldLayoutId id="2147483760" r:id="rId10"/>
    <p:sldLayoutId id="2147483761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Wingdings 2" pitchFamily="18" charset="2"/>
        <a:buChar char="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48E75546-8575-4D9D-BEAF-A4B014C1EC31}" type="datetimeFigureOut">
              <a:rPr lang="ko-KR" altLang="en-US" smtClean="0"/>
              <a:t>2026-02-10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8F51DAE7-8B44-42D5-A55F-B99260912607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904294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3" r:id="rId1"/>
    <p:sldLayoutId id="2147483764" r:id="rId2"/>
    <p:sldLayoutId id="2147483765" r:id="rId3"/>
    <p:sldLayoutId id="2147483766" r:id="rId4"/>
    <p:sldLayoutId id="2147483767" r:id="rId5"/>
    <p:sldLayoutId id="2147483768" r:id="rId6"/>
    <p:sldLayoutId id="2147483769" r:id="rId7"/>
    <p:sldLayoutId id="2147483770" r:id="rId8"/>
    <p:sldLayoutId id="2147483771" r:id="rId9"/>
    <p:sldLayoutId id="2147483772" r:id="rId10"/>
    <p:sldLayoutId id="2147483773" r:id="rId11"/>
  </p:sldLayoutIdLst>
  <p:txStyles>
    <p:titleStyle>
      <a:lvl1pPr algn="l" defTabSz="914400" rtl="0" eaLnBrk="1" latinLnBrk="1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1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1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1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1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1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1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1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1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1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51713" y="1788454"/>
            <a:ext cx="9157318" cy="2098226"/>
          </a:xfrm>
        </p:spPr>
        <p:txBody>
          <a:bodyPr>
            <a:normAutofit fontScale="90000"/>
          </a:bodyPr>
          <a:lstStyle/>
          <a:p>
            <a:r>
              <a:rPr lang="en-US" altLang="ko-KR" dirty="0"/>
              <a:t>UART TX baud 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tick </a:t>
            </a:r>
            <a:r>
              <a:rPr lang="en-US" altLang="ko-KR" dirty="0"/>
              <a:t>16x </a:t>
            </a:r>
            <a:r>
              <a:rPr lang="en-US" altLang="ko-KR" dirty="0" smtClean="0"/>
              <a:t>FSM &amp; ASM &amp; </a:t>
            </a:r>
            <a:br>
              <a:rPr lang="en-US" altLang="ko-KR" dirty="0" smtClean="0"/>
            </a:br>
            <a:r>
              <a:rPr lang="ko-KR" altLang="en-US" dirty="0" smtClean="0"/>
              <a:t>시뮬레이션</a:t>
            </a:r>
            <a:endParaRPr lang="ko-KR" altLang="en-US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2685767" y="3886680"/>
            <a:ext cx="6831673" cy="1086237"/>
          </a:xfrm>
        </p:spPr>
        <p:txBody>
          <a:bodyPr/>
          <a:lstStyle/>
          <a:p>
            <a:pPr algn="r"/>
            <a:r>
              <a:rPr lang="en-US" altLang="ko-KR" dirty="0" smtClean="0"/>
              <a:t> </a:t>
            </a:r>
            <a:r>
              <a:rPr lang="ko-KR" altLang="en-US" dirty="0" err="1" smtClean="0"/>
              <a:t>온디바이스</a:t>
            </a:r>
            <a:r>
              <a:rPr lang="ko-KR" altLang="en-US" dirty="0" smtClean="0"/>
              <a:t> </a:t>
            </a:r>
            <a:r>
              <a:rPr lang="en-US" altLang="ko-KR" dirty="0" smtClean="0"/>
              <a:t>AI</a:t>
            </a:r>
            <a:r>
              <a:rPr lang="ko-KR" altLang="en-US" dirty="0" smtClean="0"/>
              <a:t> </a:t>
            </a:r>
            <a:r>
              <a:rPr lang="ko-KR" altLang="en-US" dirty="0"/>
              <a:t>이준형</a:t>
            </a:r>
          </a:p>
        </p:txBody>
      </p:sp>
    </p:spTree>
    <p:extLst>
      <p:ext uri="{BB962C8B-B14F-4D97-AF65-F5344CB8AC3E}">
        <p14:creationId xmlns:p14="http://schemas.microsoft.com/office/powerpoint/2010/main" val="14303817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ED9F6F4-1F93-9FB1-47A3-E1F3345C13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목차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425968C-06B2-387E-6E4B-165DF20C54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1. </a:t>
            </a:r>
            <a:r>
              <a:rPr lang="ko-KR" altLang="en-US" dirty="0" smtClean="0"/>
              <a:t>설계 목표</a:t>
            </a:r>
            <a:endParaRPr lang="en-US" altLang="ko-KR" dirty="0" smtClean="0"/>
          </a:p>
          <a:p>
            <a:r>
              <a:rPr lang="en-US" altLang="ko-KR" dirty="0" smtClean="0"/>
              <a:t>2</a:t>
            </a:r>
            <a:r>
              <a:rPr lang="en-US" altLang="ko-KR" dirty="0"/>
              <a:t>. </a:t>
            </a:r>
            <a:r>
              <a:rPr lang="en-US" altLang="ko-KR" dirty="0" smtClean="0"/>
              <a:t>FSM</a:t>
            </a:r>
          </a:p>
          <a:p>
            <a:r>
              <a:rPr lang="en-US" altLang="ko-KR" dirty="0" smtClean="0"/>
              <a:t>3. ASM</a:t>
            </a:r>
          </a:p>
          <a:p>
            <a:r>
              <a:rPr lang="en-US" altLang="ko-KR" dirty="0" smtClean="0"/>
              <a:t>4. Module -</a:t>
            </a:r>
            <a:r>
              <a:rPr lang="en-US" altLang="ko-KR" dirty="0"/>
              <a:t> </a:t>
            </a:r>
            <a:r>
              <a:rPr lang="en-US" altLang="ko-KR" dirty="0" err="1"/>
              <a:t>boud</a:t>
            </a:r>
            <a:r>
              <a:rPr lang="en-US" altLang="ko-KR" dirty="0"/>
              <a:t> tick 9600 X </a:t>
            </a:r>
            <a:r>
              <a:rPr lang="en-US" altLang="ko-KR" dirty="0" smtClean="0"/>
              <a:t>16 </a:t>
            </a:r>
          </a:p>
          <a:p>
            <a:r>
              <a:rPr lang="en-US" altLang="ko-KR" dirty="0" smtClean="0"/>
              <a:t>5</a:t>
            </a:r>
            <a:r>
              <a:rPr lang="en-US" altLang="ko-KR" dirty="0"/>
              <a:t>. Module </a:t>
            </a:r>
            <a:r>
              <a:rPr lang="en-US" altLang="ko-KR" dirty="0" smtClean="0"/>
              <a:t>– </a:t>
            </a:r>
            <a:r>
              <a:rPr lang="en-US" altLang="ko-KR" dirty="0" err="1" smtClean="0"/>
              <a:t>uart</a:t>
            </a:r>
            <a:r>
              <a:rPr lang="en-US" altLang="ko-KR" dirty="0" smtClean="0"/>
              <a:t> </a:t>
            </a:r>
            <a:r>
              <a:rPr lang="en-US" altLang="ko-KR" dirty="0" err="1" smtClean="0"/>
              <a:t>tx</a:t>
            </a:r>
            <a:endParaRPr lang="en-US" altLang="ko-KR" dirty="0" smtClean="0"/>
          </a:p>
          <a:p>
            <a:r>
              <a:rPr lang="en-US" altLang="ko-KR" dirty="0" smtClean="0"/>
              <a:t>6.</a:t>
            </a:r>
            <a:r>
              <a:rPr lang="en-US" altLang="ko-KR" dirty="0"/>
              <a:t> </a:t>
            </a:r>
            <a:r>
              <a:rPr lang="en-US" altLang="ko-KR" dirty="0" smtClean="0"/>
              <a:t>Simulation - </a:t>
            </a:r>
            <a:r>
              <a:rPr lang="en-US" altLang="ko-KR" dirty="0" err="1" smtClean="0"/>
              <a:t>testbench</a:t>
            </a:r>
            <a:endParaRPr lang="en-US" altLang="ko-KR" dirty="0" smtClean="0"/>
          </a:p>
          <a:p>
            <a:r>
              <a:rPr lang="en-US" altLang="ko-KR" dirty="0" smtClean="0"/>
              <a:t>7. Simulation </a:t>
            </a:r>
            <a:r>
              <a:rPr lang="en-US" altLang="ko-KR" dirty="0"/>
              <a:t>- </a:t>
            </a:r>
            <a:r>
              <a:rPr lang="en-US" altLang="ko-KR" dirty="0" err="1"/>
              <a:t>boud</a:t>
            </a:r>
            <a:r>
              <a:rPr lang="en-US" altLang="ko-KR" dirty="0"/>
              <a:t> tick 9600 X </a:t>
            </a:r>
            <a:r>
              <a:rPr lang="en-US" altLang="ko-KR" dirty="0" smtClean="0"/>
              <a:t>6 </a:t>
            </a:r>
            <a:r>
              <a:rPr lang="ko-KR" altLang="en-US" dirty="0" smtClean="0"/>
              <a:t>검증</a:t>
            </a:r>
            <a:r>
              <a:rPr lang="en-US" altLang="ko-KR" dirty="0" smtClean="0"/>
              <a:t> </a:t>
            </a:r>
          </a:p>
          <a:p>
            <a:r>
              <a:rPr lang="en-US" altLang="ko-KR" dirty="0" smtClean="0"/>
              <a:t>6</a:t>
            </a:r>
            <a:r>
              <a:rPr lang="en-US" altLang="ko-KR" dirty="0"/>
              <a:t>. </a:t>
            </a:r>
            <a:r>
              <a:rPr lang="en-US" altLang="ko-KR" dirty="0" smtClean="0"/>
              <a:t>Simulation – </a:t>
            </a:r>
            <a:r>
              <a:rPr lang="en-US" altLang="ko-KR" dirty="0" err="1" smtClean="0"/>
              <a:t>uart</a:t>
            </a:r>
            <a:r>
              <a:rPr lang="en-US" altLang="ko-KR" dirty="0" smtClean="0"/>
              <a:t> </a:t>
            </a:r>
            <a:r>
              <a:rPr lang="en-US" altLang="ko-KR" dirty="0" err="1" smtClean="0"/>
              <a:t>tx</a:t>
            </a:r>
            <a:r>
              <a:rPr lang="en-US" altLang="ko-KR" dirty="0" smtClean="0"/>
              <a:t> </a:t>
            </a:r>
            <a:r>
              <a:rPr lang="ko-KR" altLang="en-US" dirty="0" smtClean="0"/>
              <a:t>검증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800022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ED9F6F4-1F93-9FB1-47A3-E1F3345C13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44415"/>
          </a:xfrm>
        </p:spPr>
        <p:txBody>
          <a:bodyPr/>
          <a:lstStyle/>
          <a:p>
            <a:r>
              <a:rPr lang="en-US" altLang="ko-KR" b="1" dirty="0"/>
              <a:t>1. </a:t>
            </a:r>
            <a:r>
              <a:rPr lang="ko-KR" altLang="en-US" b="1" dirty="0"/>
              <a:t>설계 </a:t>
            </a:r>
            <a:r>
              <a:rPr lang="ko-KR" altLang="en-US" b="1" dirty="0" smtClean="0"/>
              <a:t>목표</a:t>
            </a:r>
            <a:endParaRPr lang="ko-KR" altLang="en-US" b="1" dirty="0"/>
          </a:p>
        </p:txBody>
      </p:sp>
      <p:sp>
        <p:nvSpPr>
          <p:cNvPr id="4" name="내용 개체 틀 3"/>
          <p:cNvSpPr>
            <a:spLocks noGrp="1"/>
          </p:cNvSpPr>
          <p:nvPr>
            <p:ph idx="1"/>
          </p:nvPr>
        </p:nvSpPr>
        <p:spPr>
          <a:xfrm>
            <a:off x="7971692" y="1887416"/>
            <a:ext cx="3839308" cy="3581400"/>
          </a:xfrm>
          <a:ln>
            <a:solidFill>
              <a:schemeClr val="tx1"/>
            </a:solidFill>
          </a:ln>
        </p:spPr>
        <p:txBody>
          <a:bodyPr>
            <a:normAutofit lnSpcReduction="10000"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altLang="ko-KR" dirty="0" smtClean="0"/>
              <a:t>UART_TX</a:t>
            </a:r>
          </a:p>
          <a:p>
            <a:pPr marL="457200" indent="-457200">
              <a:lnSpc>
                <a:spcPct val="100000"/>
              </a:lnSpc>
              <a:buAutoNum type="arabicPeriod"/>
            </a:pPr>
            <a:r>
              <a:rPr lang="en-US" altLang="ko-KR" dirty="0" err="1" smtClean="0"/>
              <a:t>Uart</a:t>
            </a:r>
            <a:r>
              <a:rPr lang="en-US" altLang="ko-KR" dirty="0" smtClean="0"/>
              <a:t> </a:t>
            </a:r>
            <a:r>
              <a:rPr lang="ko-KR" altLang="en-US" dirty="0" smtClean="0"/>
              <a:t>통신 속도는 </a:t>
            </a:r>
            <a:r>
              <a:rPr lang="en-US" altLang="ko-KR" dirty="0" smtClean="0"/>
              <a:t>9600bps</a:t>
            </a:r>
            <a:r>
              <a:rPr lang="ko-KR" altLang="en-US" dirty="0"/>
              <a:t> </a:t>
            </a:r>
            <a:r>
              <a:rPr lang="ko-KR" altLang="en-US" dirty="0" smtClean="0"/>
              <a:t>기준으로 설계함</a:t>
            </a:r>
            <a:endParaRPr lang="en-US" altLang="ko-KR" dirty="0" smtClean="0"/>
          </a:p>
          <a:p>
            <a:pPr marL="457200" indent="-457200">
              <a:lnSpc>
                <a:spcPct val="100000"/>
              </a:lnSpc>
              <a:buAutoNum type="arabicPeriod"/>
            </a:pPr>
            <a:r>
              <a:rPr lang="en-US" altLang="ko-KR" dirty="0" err="1" smtClean="0"/>
              <a:t>Uart_Tx</a:t>
            </a:r>
            <a:r>
              <a:rPr lang="en-US" altLang="ko-KR" dirty="0" smtClean="0"/>
              <a:t> module</a:t>
            </a:r>
            <a:r>
              <a:rPr lang="ko-KR" altLang="en-US" dirty="0" smtClean="0"/>
              <a:t>이 받는 통신 속도는 </a:t>
            </a:r>
            <a:r>
              <a:rPr lang="en-US" altLang="ko-KR" dirty="0" smtClean="0"/>
              <a:t>9600bps </a:t>
            </a:r>
            <a:r>
              <a:rPr lang="ko-KR" altLang="en-US" dirty="0" smtClean="0"/>
              <a:t>보다 빠른 </a:t>
            </a:r>
            <a:r>
              <a:rPr lang="en-US" altLang="ko-KR" dirty="0" smtClean="0"/>
              <a:t>16</a:t>
            </a:r>
            <a:r>
              <a:rPr lang="ko-KR" altLang="en-US" dirty="0" err="1" smtClean="0"/>
              <a:t>배을</a:t>
            </a:r>
            <a:r>
              <a:rPr lang="ko-KR" altLang="en-US" dirty="0" smtClean="0"/>
              <a:t> 기준으로 </a:t>
            </a:r>
            <a:r>
              <a:rPr lang="en-US" altLang="ko-KR" dirty="0" err="1" smtClean="0"/>
              <a:t>boud</a:t>
            </a:r>
            <a:r>
              <a:rPr lang="en-US" altLang="ko-KR" dirty="0" smtClean="0"/>
              <a:t> tick</a:t>
            </a:r>
            <a:r>
              <a:rPr lang="ko-KR" altLang="en-US" dirty="0" smtClean="0"/>
              <a:t>을 </a:t>
            </a:r>
            <a:r>
              <a:rPr lang="ko-KR" altLang="en-US" dirty="0" err="1" smtClean="0"/>
              <a:t>받아옴</a:t>
            </a:r>
            <a:endParaRPr lang="en-US" altLang="ko-KR" dirty="0" smtClean="0"/>
          </a:p>
          <a:p>
            <a:pPr marL="457200" indent="-457200">
              <a:lnSpc>
                <a:spcPct val="100000"/>
              </a:lnSpc>
              <a:buAutoNum type="arabicPeriod"/>
            </a:pPr>
            <a:r>
              <a:rPr lang="en-US" altLang="ko-KR" dirty="0" err="1" smtClean="0"/>
              <a:t>Uart_Tx</a:t>
            </a:r>
            <a:r>
              <a:rPr lang="en-US" altLang="ko-KR" dirty="0" smtClean="0"/>
              <a:t> module</a:t>
            </a:r>
            <a:r>
              <a:rPr lang="ko-KR" altLang="en-US" dirty="0" smtClean="0"/>
              <a:t>은 </a:t>
            </a:r>
            <a:r>
              <a:rPr lang="en-US" altLang="ko-KR" dirty="0" smtClean="0"/>
              <a:t>9600bps </a:t>
            </a:r>
            <a:r>
              <a:rPr lang="ko-KR" altLang="en-US" dirty="0" err="1" smtClean="0"/>
              <a:t>통신속도로</a:t>
            </a:r>
            <a:r>
              <a:rPr lang="ko-KR" altLang="en-US" dirty="0" smtClean="0"/>
              <a:t> 데이터를 출력하게 설계</a:t>
            </a:r>
            <a:endParaRPr lang="en-US" altLang="ko-KR" dirty="0" smtClean="0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7015" y="2009523"/>
            <a:ext cx="6535062" cy="3600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32992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ED9F6F4-1F93-9FB1-47A3-E1F3345C13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44415"/>
          </a:xfrm>
        </p:spPr>
        <p:txBody>
          <a:bodyPr/>
          <a:lstStyle/>
          <a:p>
            <a:r>
              <a:rPr lang="en-US" altLang="ko-KR" b="1" dirty="0"/>
              <a:t>1. </a:t>
            </a:r>
            <a:r>
              <a:rPr lang="ko-KR" altLang="en-US" b="1" dirty="0"/>
              <a:t>설계 </a:t>
            </a:r>
            <a:r>
              <a:rPr lang="ko-KR" altLang="en-US" b="1" dirty="0" smtClean="0"/>
              <a:t>목표</a:t>
            </a:r>
            <a:endParaRPr lang="ko-KR" altLang="en-US" b="1" dirty="0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7015" y="2009523"/>
            <a:ext cx="6535062" cy="3600953"/>
          </a:xfrm>
          <a:prstGeom prst="rect">
            <a:avLst/>
          </a:prstGeom>
        </p:spPr>
      </p:pic>
      <p:graphicFrame>
        <p:nvGraphicFramePr>
          <p:cNvPr id="8" name="표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7437944"/>
              </p:ext>
            </p:extLst>
          </p:nvPr>
        </p:nvGraphicFramePr>
        <p:xfrm>
          <a:off x="8083060" y="2009523"/>
          <a:ext cx="3518878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9439">
                  <a:extLst>
                    <a:ext uri="{9D8B030D-6E8A-4147-A177-3AD203B41FA5}">
                      <a16:colId xmlns:a16="http://schemas.microsoft.com/office/drawing/2014/main" val="3162012489"/>
                    </a:ext>
                  </a:extLst>
                </a:gridCol>
                <a:gridCol w="1759439">
                  <a:extLst>
                    <a:ext uri="{9D8B030D-6E8A-4147-A177-3AD203B41FA5}">
                      <a16:colId xmlns:a16="http://schemas.microsoft.com/office/drawing/2014/main" val="15884602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I/O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name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6281039"/>
                  </a:ext>
                </a:extLst>
              </a:tr>
              <a:tr h="370840">
                <a:tc rowSpan="5"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input</a:t>
                      </a:r>
                      <a:endParaRPr lang="ko-KR" altLang="en-US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err="1" smtClean="0"/>
                        <a:t>clk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4033828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reset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24198910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err="1" smtClean="0"/>
                        <a:t>tx_start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5298853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err="1" smtClean="0"/>
                        <a:t>tx_data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1961113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err="1" smtClean="0"/>
                        <a:t>boud_tick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9974910"/>
                  </a:ext>
                </a:extLst>
              </a:tr>
              <a:tr h="370840">
                <a:tc rowSpan="3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  <a:p>
                      <a:pPr latinLnBrk="1"/>
                      <a:r>
                        <a:rPr lang="en-US" altLang="ko-KR" dirty="0" smtClean="0"/>
                        <a:t>Output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err="1" smtClean="0"/>
                        <a:t>tx_data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3982035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err="1" smtClean="0"/>
                        <a:t>tx_busy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8973978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err="1" smtClean="0"/>
                        <a:t>tx_done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56484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342314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ED9F6F4-1F93-9FB1-47A3-E1F3345C13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44415"/>
          </a:xfrm>
        </p:spPr>
        <p:txBody>
          <a:bodyPr/>
          <a:lstStyle/>
          <a:p>
            <a:r>
              <a:rPr lang="en-US" altLang="ko-KR" b="1" dirty="0" smtClean="0"/>
              <a:t>2. FSM</a:t>
            </a:r>
            <a:endParaRPr lang="ko-KR" altLang="en-US" b="1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5506" y="1973330"/>
            <a:ext cx="8713388" cy="35306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27034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ED9F6F4-1F93-9FB1-47A3-E1F3345C13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44415"/>
          </a:xfrm>
        </p:spPr>
        <p:txBody>
          <a:bodyPr/>
          <a:lstStyle/>
          <a:p>
            <a:r>
              <a:rPr lang="en-US" altLang="ko-KR" b="1" dirty="0"/>
              <a:t>3</a:t>
            </a:r>
            <a:r>
              <a:rPr lang="en-US" altLang="ko-KR" b="1" dirty="0" smtClean="0"/>
              <a:t>. ASM</a:t>
            </a:r>
            <a:endParaRPr lang="ko-KR" altLang="en-US" b="1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4848" y="1430215"/>
            <a:ext cx="9887952" cy="51139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88799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ED9F6F4-1F93-9FB1-47A3-E1F3345C13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44415"/>
          </a:xfrm>
        </p:spPr>
        <p:txBody>
          <a:bodyPr/>
          <a:lstStyle/>
          <a:p>
            <a:r>
              <a:rPr lang="en-US" altLang="ko-KR" b="1" dirty="0" smtClean="0"/>
              <a:t>4. Module - </a:t>
            </a:r>
            <a:r>
              <a:rPr lang="en-US" altLang="ko-KR" dirty="0" err="1" smtClean="0"/>
              <a:t>boud</a:t>
            </a:r>
            <a:r>
              <a:rPr lang="en-US" altLang="ko-KR" dirty="0" smtClean="0"/>
              <a:t> </a:t>
            </a:r>
            <a:r>
              <a:rPr lang="en-US" altLang="ko-KR" dirty="0"/>
              <a:t>tick 9600 X </a:t>
            </a:r>
            <a:r>
              <a:rPr lang="en-US" altLang="ko-KR" dirty="0" smtClean="0"/>
              <a:t>16 </a:t>
            </a:r>
            <a:endParaRPr lang="en-US" altLang="ko-KR" b="1" dirty="0"/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1336" y="1594339"/>
            <a:ext cx="3085341" cy="4953000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9160" y="2266386"/>
            <a:ext cx="4382112" cy="2829320"/>
          </a:xfrm>
          <a:prstGeom prst="rect">
            <a:avLst/>
          </a:prstGeom>
        </p:spPr>
      </p:pic>
      <p:sp>
        <p:nvSpPr>
          <p:cNvPr id="4" name="오른쪽 화살표 3"/>
          <p:cNvSpPr/>
          <p:nvPr/>
        </p:nvSpPr>
        <p:spPr>
          <a:xfrm rot="10800000">
            <a:off x="5931876" y="3405554"/>
            <a:ext cx="668216" cy="445477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216439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ED9F6F4-1F93-9FB1-47A3-E1F3345C13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44415"/>
          </a:xfrm>
        </p:spPr>
        <p:txBody>
          <a:bodyPr/>
          <a:lstStyle/>
          <a:p>
            <a:r>
              <a:rPr lang="en-US" altLang="ko-KR" b="1" dirty="0" smtClean="0"/>
              <a:t>4. Module - </a:t>
            </a:r>
            <a:r>
              <a:rPr lang="en-US" altLang="ko-KR" dirty="0" err="1" smtClean="0"/>
              <a:t>boud</a:t>
            </a:r>
            <a:r>
              <a:rPr lang="en-US" altLang="ko-KR" dirty="0" smtClean="0"/>
              <a:t> </a:t>
            </a:r>
            <a:r>
              <a:rPr lang="en-US" altLang="ko-KR" dirty="0"/>
              <a:t>tick 9600 X </a:t>
            </a:r>
            <a:r>
              <a:rPr lang="en-US" altLang="ko-KR" dirty="0" smtClean="0"/>
              <a:t>16 </a:t>
            </a:r>
            <a:endParaRPr lang="en-US" altLang="ko-KR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6857999" y="1905000"/>
                <a:ext cx="4050323" cy="48577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altLang="ko-KR" dirty="0" smtClean="0"/>
                  <a:t>counter</a:t>
                </a:r>
                <a:r>
                  <a:rPr lang="ko-KR" altLang="en-US" dirty="0" smtClean="0"/>
                  <a:t>의 </a:t>
                </a:r>
                <a:r>
                  <a:rPr lang="ko-KR" altLang="en-US" dirty="0" err="1" smtClean="0"/>
                  <a:t>카운팅</a:t>
                </a:r>
                <a:r>
                  <a:rPr lang="ko-KR" altLang="en-US" dirty="0" smtClean="0"/>
                  <a:t> 수 </a:t>
                </a:r>
                <a:r>
                  <a:rPr lang="en-US" altLang="ko-KR" dirty="0" smtClean="0"/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ko-KR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i="1" dirty="0">
                            <a:latin typeface="Cambria Math" panose="02040503050406030204" pitchFamily="18" charset="0"/>
                          </a:rPr>
                          <m:t>100,000,000</m:t>
                        </m:r>
                      </m:num>
                      <m:den>
                        <m:r>
                          <a:rPr lang="en-US" altLang="ko-KR" b="0" i="1" dirty="0" smtClean="0">
                            <a:latin typeface="Cambria Math" panose="02040503050406030204" pitchFamily="18" charset="0"/>
                          </a:rPr>
                          <m:t>9600∗16</m:t>
                        </m:r>
                      </m:den>
                    </m:f>
                  </m:oMath>
                </a14:m>
                <a:r>
                  <a:rPr lang="en-US" altLang="ko-KR" dirty="0" smtClean="0"/>
                  <a:t> = 651</a:t>
                </a:r>
                <a:endParaRPr lang="ko-KR" altLang="en-US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7999" y="1905000"/>
                <a:ext cx="4050323" cy="485774"/>
              </a:xfrm>
              <a:prstGeom prst="rect">
                <a:avLst/>
              </a:prstGeom>
              <a:blipFill>
                <a:blip r:embed="rId2"/>
                <a:stretch>
                  <a:fillRect l="-1051" b="-4938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그림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21336" y="1594339"/>
            <a:ext cx="3085341" cy="4953000"/>
          </a:xfrm>
          <a:prstGeom prst="rect">
            <a:avLst/>
          </a:prstGeom>
        </p:spPr>
      </p:pic>
      <p:sp>
        <p:nvSpPr>
          <p:cNvPr id="8" name="직사각형 7"/>
          <p:cNvSpPr/>
          <p:nvPr/>
        </p:nvSpPr>
        <p:spPr>
          <a:xfrm>
            <a:off x="2721335" y="2866292"/>
            <a:ext cx="3085341" cy="890954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0" name="직선 화살표 연결선 9"/>
          <p:cNvCxnSpPr>
            <a:stCxn id="6" idx="1"/>
            <a:endCxn id="8" idx="3"/>
          </p:cNvCxnSpPr>
          <p:nvPr/>
        </p:nvCxnSpPr>
        <p:spPr>
          <a:xfrm flipH="1">
            <a:off x="5806676" y="2147887"/>
            <a:ext cx="1051323" cy="116388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857999" y="3514359"/>
            <a:ext cx="4273063" cy="646331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dirty="0" err="1" smtClean="0"/>
              <a:t>baud_tick</a:t>
            </a:r>
            <a:r>
              <a:rPr lang="en-US" altLang="ko-KR" dirty="0" smtClean="0"/>
              <a:t> </a:t>
            </a:r>
            <a:r>
              <a:rPr lang="ko-KR" altLang="en-US" dirty="0" smtClean="0"/>
              <a:t>모듈은 </a:t>
            </a:r>
            <a:r>
              <a:rPr lang="en-US" altLang="ko-KR" dirty="0" smtClean="0"/>
              <a:t>0~650</a:t>
            </a:r>
            <a:r>
              <a:rPr lang="ko-KR" altLang="en-US" dirty="0" smtClean="0"/>
              <a:t>까지 </a:t>
            </a:r>
            <a:endParaRPr lang="en-US" altLang="ko-KR" dirty="0" smtClean="0"/>
          </a:p>
          <a:p>
            <a:r>
              <a:rPr lang="ko-KR" altLang="en-US" dirty="0" err="1" smtClean="0"/>
              <a:t>카운팅하다</a:t>
            </a:r>
            <a:r>
              <a:rPr lang="ko-KR" altLang="en-US" dirty="0" smtClean="0"/>
              <a:t> </a:t>
            </a:r>
            <a:r>
              <a:rPr lang="en-US" altLang="ko-KR" dirty="0" smtClean="0"/>
              <a:t>1tick</a:t>
            </a:r>
            <a:r>
              <a:rPr lang="ko-KR" altLang="en-US" dirty="0" smtClean="0"/>
              <a:t>을 출력함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754702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ED9F6F4-1F93-9FB1-47A3-E1F3345C13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44415"/>
          </a:xfrm>
        </p:spPr>
        <p:txBody>
          <a:bodyPr/>
          <a:lstStyle/>
          <a:p>
            <a:r>
              <a:rPr lang="en-US" altLang="ko-KR" b="1" dirty="0" smtClean="0"/>
              <a:t>4. Module – </a:t>
            </a:r>
            <a:r>
              <a:rPr lang="en-US" altLang="ko-KR" dirty="0" err="1" smtClean="0"/>
              <a:t>uart</a:t>
            </a:r>
            <a:r>
              <a:rPr lang="en-US" altLang="ko-KR" dirty="0" smtClean="0"/>
              <a:t> </a:t>
            </a:r>
            <a:r>
              <a:rPr lang="en-US" altLang="ko-KR" dirty="0" err="1" smtClean="0"/>
              <a:t>tx</a:t>
            </a:r>
            <a:endParaRPr lang="en-US" altLang="ko-KR" b="1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2787" y="1955650"/>
            <a:ext cx="4353533" cy="3896269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66080" y="2107819"/>
            <a:ext cx="2704504" cy="27045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41670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ED9F6F4-1F93-9FB1-47A3-E1F3345C13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44415"/>
          </a:xfrm>
        </p:spPr>
        <p:txBody>
          <a:bodyPr/>
          <a:lstStyle/>
          <a:p>
            <a:r>
              <a:rPr lang="en-US" altLang="ko-KR" b="1" dirty="0" smtClean="0"/>
              <a:t>4. Module – </a:t>
            </a:r>
            <a:r>
              <a:rPr lang="en-US" altLang="ko-KR" dirty="0" err="1" smtClean="0"/>
              <a:t>uart</a:t>
            </a:r>
            <a:r>
              <a:rPr lang="en-US" altLang="ko-KR" dirty="0" smtClean="0"/>
              <a:t> </a:t>
            </a:r>
            <a:r>
              <a:rPr lang="en-US" altLang="ko-KR" dirty="0" err="1" smtClean="0"/>
              <a:t>tx</a:t>
            </a:r>
            <a:endParaRPr lang="en-US" altLang="ko-KR" b="1" dirty="0"/>
          </a:p>
        </p:txBody>
      </p:sp>
      <p:sp>
        <p:nvSpPr>
          <p:cNvPr id="5" name="TextBox 4"/>
          <p:cNvSpPr txBox="1"/>
          <p:nvPr/>
        </p:nvSpPr>
        <p:spPr>
          <a:xfrm>
            <a:off x="6318737" y="2384530"/>
            <a:ext cx="4085493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모든 </a:t>
            </a:r>
            <a:r>
              <a:rPr lang="en-US" altLang="ko-KR" dirty="0" err="1" smtClean="0"/>
              <a:t>reg</a:t>
            </a:r>
            <a:r>
              <a:rPr lang="ko-KR" altLang="en-US" dirty="0" smtClean="0"/>
              <a:t>는</a:t>
            </a:r>
            <a:r>
              <a:rPr lang="en-US" altLang="ko-KR" dirty="0"/>
              <a:t> </a:t>
            </a:r>
            <a:r>
              <a:rPr lang="en-US" altLang="ko-KR" dirty="0" err="1" smtClean="0"/>
              <a:t>clk</a:t>
            </a:r>
            <a:r>
              <a:rPr lang="ko-KR" altLang="en-US" dirty="0" smtClean="0"/>
              <a:t>에 의해 값에 변화를 받음</a:t>
            </a:r>
            <a:endParaRPr lang="ko-KR" altLang="en-US" dirty="0"/>
          </a:p>
        </p:txBody>
      </p:sp>
      <p:graphicFrame>
        <p:nvGraphicFramePr>
          <p:cNvPr id="9" name="표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9339208"/>
              </p:ext>
            </p:extLst>
          </p:nvPr>
        </p:nvGraphicFramePr>
        <p:xfrm>
          <a:off x="5900615" y="2884528"/>
          <a:ext cx="6165880" cy="2961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1785">
                  <a:extLst>
                    <a:ext uri="{9D8B030D-6E8A-4147-A177-3AD203B41FA5}">
                      <a16:colId xmlns:a16="http://schemas.microsoft.com/office/drawing/2014/main" val="2490485743"/>
                    </a:ext>
                  </a:extLst>
                </a:gridCol>
                <a:gridCol w="4294095">
                  <a:extLst>
                    <a:ext uri="{9D8B030D-6E8A-4147-A177-3AD203B41FA5}">
                      <a16:colId xmlns:a16="http://schemas.microsoft.com/office/drawing/2014/main" val="101404973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name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smtClean="0"/>
                        <a:t>사용 목적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0874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err="1" smtClean="0"/>
                        <a:t>c_state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err="1" smtClean="0"/>
                        <a:t>fms</a:t>
                      </a:r>
                      <a:r>
                        <a:rPr lang="ko-KR" altLang="en-US" dirty="0" smtClean="0"/>
                        <a:t>에 동작 구현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469337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err="1" smtClean="0"/>
                        <a:t>tx_reg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err="1" smtClean="0"/>
                        <a:t>uart_tx</a:t>
                      </a:r>
                      <a:r>
                        <a:rPr lang="ko-KR" altLang="en-US" dirty="0" smtClean="0"/>
                        <a:t>로</a:t>
                      </a:r>
                      <a:r>
                        <a:rPr lang="en-US" altLang="ko-KR" dirty="0" smtClean="0"/>
                        <a:t> </a:t>
                      </a:r>
                      <a:r>
                        <a:rPr lang="ko-KR" altLang="en-US" dirty="0" smtClean="0"/>
                        <a:t>출력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160329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err="1" smtClean="0"/>
                        <a:t>bit_cnt_reg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err="1" smtClean="0"/>
                        <a:t>t</a:t>
                      </a:r>
                      <a:r>
                        <a:rPr lang="en-US" altLang="ko-KR" baseline="0" dirty="0" err="1" smtClean="0"/>
                        <a:t>data</a:t>
                      </a:r>
                      <a:r>
                        <a:rPr lang="en-US" altLang="ko-KR" baseline="0" dirty="0" smtClean="0"/>
                        <a:t> </a:t>
                      </a:r>
                      <a:r>
                        <a:rPr lang="ko-KR" altLang="en-US" baseline="0" dirty="0" smtClean="0"/>
                        <a:t>비트 선언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08194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err="1" smtClean="0"/>
                        <a:t>tx_busy_reg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err="1" smtClean="0"/>
                        <a:t>tx_busy</a:t>
                      </a:r>
                      <a:r>
                        <a:rPr lang="en-US" altLang="ko-KR" dirty="0" smtClean="0"/>
                        <a:t> </a:t>
                      </a:r>
                      <a:r>
                        <a:rPr lang="ko-KR" altLang="en-US" dirty="0" smtClean="0"/>
                        <a:t>출력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7453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err="1" smtClean="0"/>
                        <a:t>tx_done_reg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err="1" smtClean="0"/>
                        <a:t>tx_done</a:t>
                      </a:r>
                      <a:r>
                        <a:rPr lang="en-US" altLang="ko-KR" baseline="0" dirty="0" smtClean="0"/>
                        <a:t> </a:t>
                      </a:r>
                      <a:r>
                        <a:rPr lang="ko-KR" altLang="en-US" baseline="0" dirty="0" smtClean="0"/>
                        <a:t>출력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00074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err="1" smtClean="0"/>
                        <a:t>data_in_buf_reg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Input</a:t>
                      </a:r>
                      <a:r>
                        <a:rPr lang="en-US" altLang="ko-KR" baseline="0" dirty="0" smtClean="0"/>
                        <a:t> </a:t>
                      </a:r>
                      <a:r>
                        <a:rPr lang="en-US" altLang="ko-KR" baseline="0" dirty="0" err="1" smtClean="0"/>
                        <a:t>tx_data</a:t>
                      </a:r>
                      <a:r>
                        <a:rPr lang="en-US" altLang="ko-KR" baseline="0" dirty="0" smtClean="0"/>
                        <a:t> </a:t>
                      </a:r>
                      <a:r>
                        <a:rPr lang="ko-KR" altLang="en-US" baseline="0" dirty="0" smtClean="0"/>
                        <a:t>저장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904429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bt_cnt16_reg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(state !=</a:t>
                      </a:r>
                      <a:r>
                        <a:rPr lang="en-US" altLang="ko-KR" baseline="0" dirty="0" smtClean="0"/>
                        <a:t> IDLE)</a:t>
                      </a:r>
                      <a:r>
                        <a:rPr lang="ko-KR" altLang="en-US" baseline="0" dirty="0" err="1" smtClean="0"/>
                        <a:t>일때</a:t>
                      </a:r>
                      <a:r>
                        <a:rPr lang="ko-KR" altLang="en-US" baseline="0" dirty="0" smtClean="0"/>
                        <a:t> </a:t>
                      </a:r>
                      <a:r>
                        <a:rPr lang="en-US" altLang="ko-KR" dirty="0" err="1" smtClean="0"/>
                        <a:t>b_tick</a:t>
                      </a:r>
                      <a:r>
                        <a:rPr lang="ko-KR" altLang="en-US" dirty="0" smtClean="0"/>
                        <a:t>의 신호를</a:t>
                      </a:r>
                      <a:r>
                        <a:rPr lang="ko-KR" altLang="en-US" baseline="0" dirty="0" smtClean="0"/>
                        <a:t> 저장</a:t>
                      </a:r>
                      <a:endParaRPr lang="en-US" altLang="ko-KR" dirty="0" smtClean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51483843"/>
                  </a:ext>
                </a:extLst>
              </a:tr>
            </a:tbl>
          </a:graphicData>
        </a:graphic>
      </p:graphicFrame>
      <p:pic>
        <p:nvPicPr>
          <p:cNvPr id="8" name="그림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8736" y="0"/>
            <a:ext cx="5873263" cy="2379839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3297" y="2073261"/>
            <a:ext cx="3391373" cy="3696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66451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ED9F6F4-1F93-9FB1-47A3-E1F3345C13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44415"/>
          </a:xfrm>
        </p:spPr>
        <p:txBody>
          <a:bodyPr/>
          <a:lstStyle/>
          <a:p>
            <a:r>
              <a:rPr lang="en-US" altLang="ko-KR" b="1" dirty="0" smtClean="0"/>
              <a:t>4. Module – </a:t>
            </a:r>
            <a:r>
              <a:rPr lang="en-US" altLang="ko-KR" dirty="0" err="1" smtClean="0"/>
              <a:t>uart</a:t>
            </a:r>
            <a:r>
              <a:rPr lang="en-US" altLang="ko-KR" dirty="0" smtClean="0"/>
              <a:t> </a:t>
            </a:r>
            <a:r>
              <a:rPr lang="en-US" altLang="ko-KR" dirty="0" err="1" smtClean="0"/>
              <a:t>tx</a:t>
            </a:r>
            <a:endParaRPr lang="en-US" altLang="ko-KR" b="1" dirty="0"/>
          </a:p>
        </p:txBody>
      </p:sp>
      <p:sp>
        <p:nvSpPr>
          <p:cNvPr id="4" name="TextBox 3"/>
          <p:cNvSpPr txBox="1"/>
          <p:nvPr/>
        </p:nvSpPr>
        <p:spPr>
          <a:xfrm>
            <a:off x="5486401" y="2901462"/>
            <a:ext cx="6629399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bt_cnt16_reg</a:t>
            </a:r>
            <a:r>
              <a:rPr lang="ko-KR" altLang="en-US" dirty="0"/>
              <a:t>는</a:t>
            </a:r>
            <a:r>
              <a:rPr lang="ko-KR" altLang="en-US" dirty="0" smtClean="0"/>
              <a:t> </a:t>
            </a:r>
            <a:r>
              <a:rPr lang="en-US" altLang="ko-KR" dirty="0" err="1" smtClean="0"/>
              <a:t>b_tick</a:t>
            </a:r>
            <a:r>
              <a:rPr lang="ko-KR" altLang="en-US" dirty="0" smtClean="0"/>
              <a:t>에 의해 동작하게 설계</a:t>
            </a:r>
            <a:endParaRPr lang="en-US" altLang="ko-KR" dirty="0" smtClean="0"/>
          </a:p>
          <a:p>
            <a:endParaRPr lang="en-US" altLang="ko-KR" dirty="0" smtClean="0"/>
          </a:p>
          <a:p>
            <a:r>
              <a:rPr lang="en-US" altLang="ko-KR" dirty="0" smtClean="0"/>
              <a:t>bt_cnt16_reg</a:t>
            </a:r>
            <a:r>
              <a:rPr lang="ko-KR" altLang="en-US" dirty="0" smtClean="0"/>
              <a:t>는 </a:t>
            </a:r>
            <a:r>
              <a:rPr lang="en-US" altLang="ko-KR" dirty="0" smtClean="0"/>
              <a:t>16 </a:t>
            </a:r>
            <a:r>
              <a:rPr lang="ko-KR" altLang="en-US" dirty="0" err="1" smtClean="0"/>
              <a:t>카운팅</a:t>
            </a:r>
            <a:r>
              <a:rPr lang="ko-KR" altLang="en-US" dirty="0" smtClean="0"/>
              <a:t> 후 초기화</a:t>
            </a:r>
            <a:endParaRPr lang="en-US" altLang="ko-KR" dirty="0" smtClean="0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8736" y="0"/>
            <a:ext cx="5873263" cy="2379839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9632" y="2280675"/>
            <a:ext cx="3915321" cy="2800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25267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ED9F6F4-1F93-9FB1-47A3-E1F3345C13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44415"/>
          </a:xfrm>
        </p:spPr>
        <p:txBody>
          <a:bodyPr/>
          <a:lstStyle/>
          <a:p>
            <a:r>
              <a:rPr lang="en-US" altLang="ko-KR" b="1" dirty="0" smtClean="0"/>
              <a:t>4. Module – </a:t>
            </a:r>
            <a:r>
              <a:rPr lang="en-US" altLang="ko-KR" dirty="0" err="1" smtClean="0"/>
              <a:t>uart</a:t>
            </a:r>
            <a:r>
              <a:rPr lang="en-US" altLang="ko-KR" dirty="0" smtClean="0"/>
              <a:t> </a:t>
            </a:r>
            <a:r>
              <a:rPr lang="en-US" altLang="ko-KR" dirty="0" err="1" smtClean="0"/>
              <a:t>tx</a:t>
            </a:r>
            <a:endParaRPr lang="en-US" altLang="ko-KR" b="1" dirty="0"/>
          </a:p>
        </p:txBody>
      </p:sp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6094144"/>
              </p:ext>
            </p:extLst>
          </p:nvPr>
        </p:nvGraphicFramePr>
        <p:xfrm>
          <a:off x="5791197" y="2632764"/>
          <a:ext cx="6219095" cy="3586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8208">
                  <a:extLst>
                    <a:ext uri="{9D8B030D-6E8A-4147-A177-3AD203B41FA5}">
                      <a16:colId xmlns:a16="http://schemas.microsoft.com/office/drawing/2014/main" val="1402609883"/>
                    </a:ext>
                  </a:extLst>
                </a:gridCol>
                <a:gridCol w="4340887">
                  <a:extLst>
                    <a:ext uri="{9D8B030D-6E8A-4147-A177-3AD203B41FA5}">
                      <a16:colId xmlns:a16="http://schemas.microsoft.com/office/drawing/2014/main" val="9704838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name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smtClean="0"/>
                        <a:t>설명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093680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err="1" smtClean="0"/>
                        <a:t>tx_next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smtClean="0"/>
                        <a:t>위 </a:t>
                      </a:r>
                      <a:r>
                        <a:rPr lang="ko-KR" altLang="en-US" dirty="0" err="1" smtClean="0"/>
                        <a:t>상태도에</a:t>
                      </a:r>
                      <a:r>
                        <a:rPr lang="ko-KR" altLang="en-US" dirty="0" smtClean="0"/>
                        <a:t> 따른 </a:t>
                      </a:r>
                      <a:r>
                        <a:rPr lang="en-US" altLang="ko-KR" dirty="0" err="1" smtClean="0"/>
                        <a:t>uart_tx</a:t>
                      </a:r>
                      <a:r>
                        <a:rPr lang="en-US" altLang="ko-KR" dirty="0" smtClean="0"/>
                        <a:t> </a:t>
                      </a:r>
                      <a:r>
                        <a:rPr lang="ko-KR" altLang="en-US" dirty="0" smtClean="0"/>
                        <a:t>출력</a:t>
                      </a:r>
                      <a:r>
                        <a:rPr lang="ko-KR" altLang="en-US" baseline="0" dirty="0" smtClean="0"/>
                        <a:t> 값 제어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334720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err="1" smtClean="0"/>
                        <a:t>bit_cnt_next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err="1" smtClean="0"/>
                        <a:t>data_in_buf_reg</a:t>
                      </a:r>
                      <a:r>
                        <a:rPr lang="ko-KR" altLang="en-US" dirty="0" smtClean="0"/>
                        <a:t>의 </a:t>
                      </a:r>
                      <a:r>
                        <a:rPr lang="en-US" altLang="ko-KR" dirty="0" err="1" smtClean="0"/>
                        <a:t>tx_data</a:t>
                      </a:r>
                      <a:r>
                        <a:rPr lang="ko-KR" altLang="en-US" dirty="0" smtClean="0"/>
                        <a:t>를 </a:t>
                      </a:r>
                      <a:endParaRPr lang="en-US" altLang="ko-KR" dirty="0" smtClean="0"/>
                    </a:p>
                    <a:p>
                      <a:pPr latinLnBrk="1"/>
                      <a:r>
                        <a:rPr lang="ko-KR" altLang="en-US" dirty="0" smtClean="0"/>
                        <a:t>순서대로 출력하기 위한 카운터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56613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err="1" smtClean="0"/>
                        <a:t>tx_busy_next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IDLE </a:t>
                      </a:r>
                      <a:r>
                        <a:rPr lang="ko-KR" altLang="en-US" dirty="0" smtClean="0"/>
                        <a:t>상태가 아닐 때 </a:t>
                      </a:r>
                      <a:r>
                        <a:rPr lang="en-US" altLang="ko-KR" dirty="0" smtClean="0"/>
                        <a:t>1</a:t>
                      </a:r>
                      <a:r>
                        <a:rPr lang="ko-KR" altLang="en-US" dirty="0" smtClean="0"/>
                        <a:t> 출력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48978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err="1" smtClean="0"/>
                        <a:t>tx_done_next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STOP</a:t>
                      </a:r>
                      <a:r>
                        <a:rPr lang="en-US" altLang="ko-KR" baseline="0" dirty="0" smtClean="0"/>
                        <a:t> -&gt; IDLE</a:t>
                      </a:r>
                      <a:r>
                        <a:rPr lang="ko-KR" altLang="en-US" baseline="0" dirty="0" smtClean="0"/>
                        <a:t>로 변할 때 </a:t>
                      </a:r>
                      <a:r>
                        <a:rPr lang="en-US" altLang="ko-KR" baseline="0" dirty="0" smtClean="0"/>
                        <a:t>1</a:t>
                      </a:r>
                      <a:r>
                        <a:rPr lang="ko-KR" altLang="en-US" baseline="0" dirty="0" smtClean="0"/>
                        <a:t> 출력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36797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err="1" smtClean="0"/>
                        <a:t>data_in_buf_next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IDLE </a:t>
                      </a:r>
                      <a:r>
                        <a:rPr lang="ko-KR" altLang="en-US" dirty="0" smtClean="0"/>
                        <a:t>상태일 때</a:t>
                      </a:r>
                      <a:r>
                        <a:rPr lang="en-US" altLang="ko-KR" dirty="0" smtClean="0"/>
                        <a:t>, </a:t>
                      </a:r>
                      <a:r>
                        <a:rPr lang="en-US" altLang="ko-KR" dirty="0" err="1" smtClean="0"/>
                        <a:t>tx_data</a:t>
                      </a:r>
                      <a:r>
                        <a:rPr lang="en-US" altLang="ko-KR" baseline="0" dirty="0" smtClean="0"/>
                        <a:t> </a:t>
                      </a:r>
                      <a:r>
                        <a:rPr lang="ko-KR" altLang="en-US" baseline="0" dirty="0" smtClean="0"/>
                        <a:t>받아 들림</a:t>
                      </a:r>
                      <a:endParaRPr lang="en-US" altLang="ko-KR" baseline="0" dirty="0" smtClean="0"/>
                    </a:p>
                    <a:p>
                      <a:pPr latinLnBrk="1"/>
                      <a:r>
                        <a:rPr lang="en-US" altLang="ko-KR" baseline="0" dirty="0" smtClean="0"/>
                        <a:t>START </a:t>
                      </a:r>
                      <a:r>
                        <a:rPr lang="ko-KR" altLang="en-US" baseline="0" dirty="0" smtClean="0"/>
                        <a:t>상태일 때</a:t>
                      </a:r>
                      <a:r>
                        <a:rPr lang="en-US" altLang="ko-KR" baseline="0" dirty="0" smtClean="0"/>
                        <a:t>, </a:t>
                      </a:r>
                      <a:r>
                        <a:rPr lang="ko-KR" altLang="en-US" baseline="0" dirty="0" smtClean="0"/>
                        <a:t>저장 유지 및 </a:t>
                      </a:r>
                      <a:r>
                        <a:rPr lang="en-US" altLang="ko-KR" baseline="0" dirty="0" smtClean="0"/>
                        <a:t>DATA</a:t>
                      </a:r>
                      <a:r>
                        <a:rPr lang="ko-KR" altLang="en-US" baseline="0" dirty="0" smtClean="0"/>
                        <a:t>에서 출력을 위해 </a:t>
                      </a:r>
                      <a:r>
                        <a:rPr lang="ko-KR" altLang="en-US" baseline="0" dirty="0" smtClean="0"/>
                        <a:t>사용</a:t>
                      </a:r>
                      <a:endParaRPr lang="en-US" altLang="ko-KR" baseline="0" dirty="0" smtClean="0"/>
                    </a:p>
                    <a:p>
                      <a:pPr latinLnBrk="1"/>
                      <a:r>
                        <a:rPr lang="en-US" altLang="ko-KR" dirty="0" err="1" smtClean="0"/>
                        <a:t>data_in_buf</a:t>
                      </a:r>
                      <a:r>
                        <a:rPr lang="en-US" altLang="ko-KR" dirty="0" smtClean="0"/>
                        <a:t>[0]</a:t>
                      </a:r>
                      <a:r>
                        <a:rPr lang="ko-KR" altLang="en-US" dirty="0" smtClean="0"/>
                        <a:t>에서 </a:t>
                      </a:r>
                      <a:r>
                        <a:rPr lang="en-US" altLang="ko-KR" dirty="0" smtClean="0"/>
                        <a:t>TX</a:t>
                      </a:r>
                      <a:r>
                        <a:rPr lang="ko-KR" altLang="en-US" dirty="0" smtClean="0"/>
                        <a:t>로 출력되도록 </a:t>
                      </a:r>
                      <a:r>
                        <a:rPr lang="en-US" altLang="ko-KR" dirty="0" err="1" smtClean="0"/>
                        <a:t>bit_cnt_reg</a:t>
                      </a:r>
                      <a:r>
                        <a:rPr lang="ko-KR" altLang="en-US" dirty="0" smtClean="0"/>
                        <a:t>가 증가할 때마다 </a:t>
                      </a:r>
                      <a:r>
                        <a:rPr lang="en-US" altLang="ko-KR" dirty="0" err="1" smtClean="0"/>
                        <a:t>right_shift</a:t>
                      </a:r>
                      <a:r>
                        <a:rPr lang="ko-KR" altLang="en-US" dirty="0" smtClean="0"/>
                        <a:t>함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7495955"/>
                  </a:ext>
                </a:extLst>
              </a:tr>
            </a:tbl>
          </a:graphicData>
        </a:graphic>
      </p:graphicFrame>
      <p:pic>
        <p:nvPicPr>
          <p:cNvPr id="6" name="그림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8736" y="0"/>
            <a:ext cx="5873263" cy="2379839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3307" y="1430215"/>
            <a:ext cx="3421839" cy="5363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74703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ED9F6F4-1F93-9FB1-47A3-E1F3345C13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44415"/>
          </a:xfrm>
        </p:spPr>
        <p:txBody>
          <a:bodyPr/>
          <a:lstStyle/>
          <a:p>
            <a:r>
              <a:rPr lang="en-US" altLang="ko-KR" b="1" dirty="0" smtClean="0"/>
              <a:t>4. Simulation – </a:t>
            </a:r>
            <a:r>
              <a:rPr lang="en-US" altLang="ko-KR" b="1" dirty="0" err="1" smtClean="0"/>
              <a:t>testbench</a:t>
            </a:r>
            <a:endParaRPr lang="en-US" altLang="ko-KR" b="1" dirty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6029" y="1646538"/>
            <a:ext cx="4099602" cy="500388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617678" y="2813539"/>
            <a:ext cx="5234354" cy="369331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dirty="0" err="1" smtClean="0"/>
              <a:t>clk</a:t>
            </a:r>
            <a:r>
              <a:rPr lang="en-US" altLang="ko-KR" dirty="0" smtClean="0"/>
              <a:t> </a:t>
            </a:r>
            <a:r>
              <a:rPr lang="ko-KR" altLang="en-US" dirty="0" smtClean="0"/>
              <a:t>주기 </a:t>
            </a:r>
            <a:r>
              <a:rPr lang="en-US" altLang="ko-KR" dirty="0" smtClean="0"/>
              <a:t>: 100Mhz</a:t>
            </a:r>
          </a:p>
          <a:p>
            <a:endParaRPr lang="en-US" altLang="ko-KR" dirty="0" smtClean="0"/>
          </a:p>
          <a:p>
            <a:r>
              <a:rPr lang="ko-KR" altLang="en-US" b="1" dirty="0"/>
              <a:t>초기값</a:t>
            </a:r>
            <a:r>
              <a:rPr lang="en-US" altLang="ko-KR" b="1" dirty="0"/>
              <a:t>: </a:t>
            </a:r>
            <a:endParaRPr lang="en-US" altLang="ko-KR" b="1" dirty="0" smtClean="0"/>
          </a:p>
          <a:p>
            <a:r>
              <a:rPr lang="en-US" altLang="ko-KR" dirty="0"/>
              <a:t>	</a:t>
            </a:r>
            <a:r>
              <a:rPr lang="en-US" altLang="ko-KR" dirty="0" err="1" smtClean="0"/>
              <a:t>clk</a:t>
            </a:r>
            <a:r>
              <a:rPr lang="en-US" altLang="ko-KR" dirty="0" smtClean="0"/>
              <a:t>=0</a:t>
            </a:r>
            <a:r>
              <a:rPr lang="en-US" altLang="ko-KR" dirty="0"/>
              <a:t>, </a:t>
            </a:r>
            <a:r>
              <a:rPr lang="en-US" altLang="ko-KR" dirty="0" err="1"/>
              <a:t>rst</a:t>
            </a:r>
            <a:r>
              <a:rPr lang="en-US" altLang="ko-KR" dirty="0"/>
              <a:t> =1, </a:t>
            </a:r>
            <a:r>
              <a:rPr lang="en-US" altLang="ko-KR" dirty="0" err="1"/>
              <a:t>btn_down</a:t>
            </a:r>
            <a:r>
              <a:rPr lang="en-US" altLang="ko-KR" dirty="0"/>
              <a:t> = </a:t>
            </a:r>
            <a:r>
              <a:rPr lang="en-US" altLang="ko-KR" dirty="0" smtClean="0"/>
              <a:t>0</a:t>
            </a:r>
          </a:p>
          <a:p>
            <a:endParaRPr lang="en-US" altLang="ko-KR" dirty="0"/>
          </a:p>
          <a:p>
            <a:r>
              <a:rPr lang="en-US" altLang="ko-KR" b="1" dirty="0" smtClean="0"/>
              <a:t>20ns(reset </a:t>
            </a:r>
            <a:r>
              <a:rPr lang="ko-KR" altLang="en-US" b="1" dirty="0" smtClean="0"/>
              <a:t>해제</a:t>
            </a:r>
            <a:r>
              <a:rPr lang="en-US" altLang="ko-KR" b="1" dirty="0" smtClean="0"/>
              <a:t>, module </a:t>
            </a:r>
            <a:r>
              <a:rPr lang="ko-KR" altLang="en-US" b="1" dirty="0" smtClean="0"/>
              <a:t>실행을 위한 버튼 동작</a:t>
            </a:r>
            <a:r>
              <a:rPr lang="en-US" altLang="ko-KR" b="1" dirty="0" smtClean="0"/>
              <a:t>):</a:t>
            </a:r>
          </a:p>
          <a:p>
            <a:r>
              <a:rPr lang="en-US" altLang="ko-KR" dirty="0"/>
              <a:t>	</a:t>
            </a:r>
            <a:r>
              <a:rPr lang="en-US" altLang="ko-KR" dirty="0" err="1" smtClean="0"/>
              <a:t>rst</a:t>
            </a:r>
            <a:r>
              <a:rPr lang="en-US" altLang="ko-KR" dirty="0" smtClean="0"/>
              <a:t> = 0, </a:t>
            </a:r>
            <a:r>
              <a:rPr lang="en-US" altLang="ko-KR" dirty="0" err="1" smtClean="0"/>
              <a:t>btn_down</a:t>
            </a:r>
            <a:r>
              <a:rPr lang="en-US" altLang="ko-KR" dirty="0" smtClean="0"/>
              <a:t> = 1’b1</a:t>
            </a:r>
          </a:p>
          <a:p>
            <a:endParaRPr lang="en-US" altLang="ko-KR" dirty="0" smtClean="0"/>
          </a:p>
          <a:p>
            <a:r>
              <a:rPr lang="en-US" altLang="ko-KR" b="1" dirty="0" smtClean="0"/>
              <a:t>100,020ns(100,000ns </a:t>
            </a:r>
            <a:r>
              <a:rPr lang="ko-KR" altLang="en-US" b="1" dirty="0" smtClean="0"/>
              <a:t>동안 누름</a:t>
            </a:r>
            <a:r>
              <a:rPr lang="en-US" altLang="ko-KR" b="1" dirty="0" smtClean="0"/>
              <a:t>):</a:t>
            </a:r>
          </a:p>
          <a:p>
            <a:r>
              <a:rPr lang="en-US" altLang="ko-KR" dirty="0"/>
              <a:t>	</a:t>
            </a:r>
            <a:r>
              <a:rPr lang="en-US" altLang="ko-KR" dirty="0" err="1" smtClean="0"/>
              <a:t>btn_down</a:t>
            </a:r>
            <a:r>
              <a:rPr lang="en-US" altLang="ko-KR" dirty="0" smtClean="0"/>
              <a:t> = 1’b0;</a:t>
            </a:r>
          </a:p>
          <a:p>
            <a:endParaRPr lang="en-US" altLang="ko-KR" dirty="0" smtClean="0"/>
          </a:p>
          <a:p>
            <a:r>
              <a:rPr lang="en-US" altLang="ko-KR" dirty="0" smtClean="0"/>
              <a:t>1,766,560ns(</a:t>
            </a:r>
            <a:r>
              <a:rPr lang="ko-KR" altLang="en-US" dirty="0" smtClean="0"/>
              <a:t>시뮬레이션 종료</a:t>
            </a:r>
            <a:r>
              <a:rPr lang="en-US" altLang="ko-KR" dirty="0" smtClean="0"/>
              <a:t>):</a:t>
            </a:r>
          </a:p>
          <a:p>
            <a:r>
              <a:rPr lang="en-US" altLang="ko-KR" dirty="0"/>
              <a:t>	</a:t>
            </a:r>
            <a:r>
              <a:rPr lang="en-US" altLang="ko-KR" dirty="0" smtClean="0"/>
              <a:t>STOP</a:t>
            </a:r>
          </a:p>
        </p:txBody>
      </p:sp>
    </p:spTree>
    <p:extLst>
      <p:ext uri="{BB962C8B-B14F-4D97-AF65-F5344CB8AC3E}">
        <p14:creationId xmlns:p14="http://schemas.microsoft.com/office/powerpoint/2010/main" val="9040625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ED9F6F4-1F93-9FB1-47A3-E1F3345C13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44415"/>
          </a:xfrm>
        </p:spPr>
        <p:txBody>
          <a:bodyPr/>
          <a:lstStyle/>
          <a:p>
            <a:r>
              <a:rPr lang="en-US" altLang="ko-KR" b="1" dirty="0" smtClean="0"/>
              <a:t>4. Simulation - </a:t>
            </a:r>
            <a:r>
              <a:rPr lang="en-US" altLang="ko-KR" dirty="0" err="1" smtClean="0"/>
              <a:t>boud</a:t>
            </a:r>
            <a:r>
              <a:rPr lang="en-US" altLang="ko-KR" dirty="0" smtClean="0"/>
              <a:t> </a:t>
            </a:r>
            <a:r>
              <a:rPr lang="en-US" altLang="ko-KR" dirty="0"/>
              <a:t>tick 9600 X </a:t>
            </a:r>
            <a:r>
              <a:rPr lang="en-US" altLang="ko-KR" dirty="0" smtClean="0"/>
              <a:t>16 </a:t>
            </a:r>
            <a:endParaRPr lang="en-US" altLang="ko-KR" b="1" dirty="0"/>
          </a:p>
        </p:txBody>
      </p:sp>
      <p:sp>
        <p:nvSpPr>
          <p:cNvPr id="3" name="TextBox 2"/>
          <p:cNvSpPr txBox="1"/>
          <p:nvPr/>
        </p:nvSpPr>
        <p:spPr>
          <a:xfrm>
            <a:off x="3335214" y="1430215"/>
            <a:ext cx="5767756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Simulation </a:t>
            </a:r>
            <a:r>
              <a:rPr lang="ko-KR" altLang="en-US" dirty="0" smtClean="0"/>
              <a:t>목표</a:t>
            </a:r>
            <a:r>
              <a:rPr lang="en-US" altLang="ko-KR" dirty="0" smtClean="0"/>
              <a:t>:</a:t>
            </a:r>
          </a:p>
          <a:p>
            <a:pPr lvl="1"/>
            <a:r>
              <a:rPr lang="en-US" altLang="ko-KR" dirty="0" smtClean="0"/>
              <a:t>9600x 16</a:t>
            </a:r>
            <a:r>
              <a:rPr lang="ko-KR" altLang="en-US" dirty="0" smtClean="0"/>
              <a:t>배 기준으로 </a:t>
            </a:r>
            <a:r>
              <a:rPr lang="en-US" altLang="ko-KR" dirty="0" smtClean="0"/>
              <a:t>650</a:t>
            </a:r>
            <a:r>
              <a:rPr lang="ko-KR" altLang="en-US" dirty="0" smtClean="0"/>
              <a:t>까지 </a:t>
            </a:r>
            <a:r>
              <a:rPr lang="ko-KR" altLang="en-US" dirty="0" err="1" smtClean="0"/>
              <a:t>카운팅을</a:t>
            </a:r>
            <a:r>
              <a:rPr lang="ko-KR" altLang="en-US" dirty="0" smtClean="0"/>
              <a:t> 하고 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1clk</a:t>
            </a:r>
            <a:r>
              <a:rPr lang="ko-KR" altLang="en-US" dirty="0" smtClean="0"/>
              <a:t>동안 </a:t>
            </a:r>
            <a:r>
              <a:rPr lang="en-US" altLang="ko-KR" dirty="0" smtClean="0"/>
              <a:t>1tick</a:t>
            </a:r>
            <a:r>
              <a:rPr lang="ko-KR" altLang="en-US" dirty="0" smtClean="0"/>
              <a:t>을 내보는지 확인</a:t>
            </a:r>
            <a:endParaRPr lang="en-US" altLang="ko-KR" dirty="0" smtClean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556756"/>
            <a:ext cx="12192000" cy="232716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733800" y="5134708"/>
            <a:ext cx="26259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ko-KR" alt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3549160" y="5319374"/>
            <a:ext cx="56212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6.51us(9600bps*16) </a:t>
            </a:r>
            <a:r>
              <a:rPr lang="ko-KR" altLang="en-US" dirty="0" smtClean="0"/>
              <a:t>주기로 </a:t>
            </a:r>
            <a:r>
              <a:rPr lang="en-US" altLang="ko-KR" dirty="0" smtClean="0"/>
              <a:t>tick</a:t>
            </a:r>
            <a:r>
              <a:rPr lang="ko-KR" altLang="en-US" dirty="0" smtClean="0"/>
              <a:t>을 </a:t>
            </a:r>
            <a:r>
              <a:rPr lang="ko-KR" altLang="en-US" dirty="0" err="1" smtClean="0"/>
              <a:t>보낸는</a:t>
            </a:r>
            <a:r>
              <a:rPr lang="ko-KR" altLang="en-US" dirty="0" smtClean="0"/>
              <a:t> 것을 확인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482289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ED9F6F4-1F93-9FB1-47A3-E1F3345C13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44415"/>
          </a:xfrm>
        </p:spPr>
        <p:txBody>
          <a:bodyPr/>
          <a:lstStyle/>
          <a:p>
            <a:r>
              <a:rPr lang="en-US" altLang="ko-KR" b="1" dirty="0" smtClean="0"/>
              <a:t>4. Simulation - </a:t>
            </a:r>
            <a:r>
              <a:rPr lang="en-US" altLang="ko-KR" dirty="0" err="1" smtClean="0"/>
              <a:t>boud</a:t>
            </a:r>
            <a:r>
              <a:rPr lang="en-US" altLang="ko-KR" dirty="0" smtClean="0"/>
              <a:t> </a:t>
            </a:r>
            <a:r>
              <a:rPr lang="en-US" altLang="ko-KR" dirty="0"/>
              <a:t>tick 9600 X </a:t>
            </a:r>
            <a:r>
              <a:rPr lang="en-US" altLang="ko-KR" dirty="0" smtClean="0"/>
              <a:t>16 </a:t>
            </a:r>
            <a:endParaRPr lang="en-US" altLang="ko-KR" b="1" dirty="0"/>
          </a:p>
        </p:txBody>
      </p:sp>
      <p:sp>
        <p:nvSpPr>
          <p:cNvPr id="3" name="TextBox 2"/>
          <p:cNvSpPr txBox="1"/>
          <p:nvPr/>
        </p:nvSpPr>
        <p:spPr>
          <a:xfrm>
            <a:off x="3335214" y="1430215"/>
            <a:ext cx="5767756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Simulation </a:t>
            </a:r>
            <a:r>
              <a:rPr lang="ko-KR" altLang="en-US" dirty="0" smtClean="0"/>
              <a:t>목표</a:t>
            </a:r>
            <a:r>
              <a:rPr lang="en-US" altLang="ko-KR" dirty="0" smtClean="0"/>
              <a:t>:</a:t>
            </a:r>
          </a:p>
          <a:p>
            <a:pPr lvl="1"/>
            <a:r>
              <a:rPr lang="en-US" altLang="ko-KR" dirty="0" smtClean="0"/>
              <a:t>9600x 16</a:t>
            </a:r>
            <a:r>
              <a:rPr lang="ko-KR" altLang="en-US" dirty="0" smtClean="0"/>
              <a:t>배 기준으로 </a:t>
            </a:r>
            <a:r>
              <a:rPr lang="en-US" altLang="ko-KR" dirty="0" smtClean="0"/>
              <a:t>650</a:t>
            </a:r>
            <a:r>
              <a:rPr lang="ko-KR" altLang="en-US" dirty="0" smtClean="0"/>
              <a:t>까지 </a:t>
            </a:r>
            <a:r>
              <a:rPr lang="ko-KR" altLang="en-US" dirty="0" err="1" smtClean="0"/>
              <a:t>카운팅을</a:t>
            </a:r>
            <a:r>
              <a:rPr lang="ko-KR" altLang="en-US" dirty="0" smtClean="0"/>
              <a:t> 하고 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1clk</a:t>
            </a:r>
            <a:r>
              <a:rPr lang="ko-KR" altLang="en-US" dirty="0" smtClean="0"/>
              <a:t>동안 </a:t>
            </a:r>
            <a:r>
              <a:rPr lang="en-US" altLang="ko-KR" dirty="0" smtClean="0"/>
              <a:t>1tick</a:t>
            </a:r>
            <a:r>
              <a:rPr lang="ko-KR" altLang="en-US" dirty="0" smtClean="0"/>
              <a:t>을 내보는지 확인</a:t>
            </a:r>
            <a:endParaRPr lang="en-US" altLang="ko-KR" dirty="0" smtClean="0"/>
          </a:p>
        </p:txBody>
      </p:sp>
      <p:sp>
        <p:nvSpPr>
          <p:cNvPr id="5" name="TextBox 4"/>
          <p:cNvSpPr txBox="1"/>
          <p:nvPr/>
        </p:nvSpPr>
        <p:spPr>
          <a:xfrm>
            <a:off x="3733800" y="5134708"/>
            <a:ext cx="26259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ko-KR" altLang="en-US" dirty="0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9263" y="2677459"/>
            <a:ext cx="9525874" cy="235515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549160" y="5319374"/>
            <a:ext cx="56212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6.51us(9600bps*16) </a:t>
            </a:r>
            <a:r>
              <a:rPr lang="ko-KR" altLang="en-US" dirty="0" smtClean="0"/>
              <a:t>주기로 </a:t>
            </a:r>
            <a:r>
              <a:rPr lang="en-US" altLang="ko-KR" dirty="0" smtClean="0"/>
              <a:t>tick</a:t>
            </a:r>
            <a:r>
              <a:rPr lang="ko-KR" altLang="en-US" dirty="0" smtClean="0"/>
              <a:t>을 </a:t>
            </a:r>
            <a:r>
              <a:rPr lang="ko-KR" altLang="en-US" dirty="0" err="1" smtClean="0"/>
              <a:t>보낸는</a:t>
            </a:r>
            <a:r>
              <a:rPr lang="ko-KR" altLang="en-US" dirty="0" smtClean="0"/>
              <a:t> 것을 확인</a:t>
            </a:r>
            <a:endParaRPr lang="ko-KR" altLang="en-US" dirty="0"/>
          </a:p>
        </p:txBody>
      </p:sp>
      <p:cxnSp>
        <p:nvCxnSpPr>
          <p:cNvPr id="9" name="직선 화살표 연결선 8"/>
          <p:cNvCxnSpPr/>
          <p:nvPr/>
        </p:nvCxnSpPr>
        <p:spPr>
          <a:xfrm>
            <a:off x="3733800" y="4114801"/>
            <a:ext cx="2039815" cy="17584"/>
          </a:xfrm>
          <a:prstGeom prst="straightConnector1">
            <a:avLst/>
          </a:prstGeom>
          <a:ln w="76200">
            <a:solidFill>
              <a:schemeClr val="bg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화살표 연결선 10"/>
          <p:cNvCxnSpPr/>
          <p:nvPr/>
        </p:nvCxnSpPr>
        <p:spPr>
          <a:xfrm>
            <a:off x="5861539" y="4132385"/>
            <a:ext cx="2039815" cy="17584"/>
          </a:xfrm>
          <a:prstGeom prst="straightConnector1">
            <a:avLst/>
          </a:prstGeom>
          <a:ln w="76200">
            <a:solidFill>
              <a:schemeClr val="bg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671736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ED9F6F4-1F93-9FB1-47A3-E1F3345C13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44415"/>
          </a:xfrm>
        </p:spPr>
        <p:txBody>
          <a:bodyPr/>
          <a:lstStyle/>
          <a:p>
            <a:r>
              <a:rPr lang="en-US" altLang="ko-KR" b="1" dirty="0" smtClean="0"/>
              <a:t>4. Simulation – </a:t>
            </a:r>
            <a:r>
              <a:rPr lang="en-US" altLang="ko-KR" b="1" dirty="0" err="1" smtClean="0"/>
              <a:t>uart</a:t>
            </a:r>
            <a:r>
              <a:rPr lang="en-US" altLang="ko-KR" b="1" dirty="0" smtClean="0"/>
              <a:t> </a:t>
            </a:r>
            <a:r>
              <a:rPr lang="en-US" altLang="ko-KR" b="1" dirty="0" err="1" smtClean="0"/>
              <a:t>tx</a:t>
            </a:r>
            <a:endParaRPr lang="en-US" altLang="ko-KR" b="1" dirty="0"/>
          </a:p>
        </p:txBody>
      </p:sp>
      <p:sp>
        <p:nvSpPr>
          <p:cNvPr id="3" name="TextBox 2"/>
          <p:cNvSpPr txBox="1"/>
          <p:nvPr/>
        </p:nvSpPr>
        <p:spPr>
          <a:xfrm>
            <a:off x="2550593" y="2732257"/>
            <a:ext cx="7514495" cy="12003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Simulation </a:t>
            </a:r>
            <a:r>
              <a:rPr lang="ko-KR" altLang="en-US" dirty="0" smtClean="0"/>
              <a:t>목표</a:t>
            </a:r>
            <a:r>
              <a:rPr lang="en-US" altLang="ko-KR" dirty="0" smtClean="0"/>
              <a:t>:</a:t>
            </a:r>
          </a:p>
          <a:p>
            <a:r>
              <a:rPr lang="en-US" altLang="ko-KR" dirty="0" smtClean="0"/>
              <a:t>1. 9600bps*16</a:t>
            </a:r>
            <a:r>
              <a:rPr lang="ko-KR" altLang="en-US" dirty="0" smtClean="0"/>
              <a:t>신호를 받아 </a:t>
            </a:r>
            <a:r>
              <a:rPr lang="en-US" altLang="ko-KR" dirty="0" smtClean="0"/>
              <a:t>9600bps </a:t>
            </a:r>
            <a:r>
              <a:rPr lang="ko-KR" altLang="en-US" dirty="0" smtClean="0"/>
              <a:t>신호를 내보내는지 </a:t>
            </a:r>
            <a:r>
              <a:rPr lang="ko-KR" altLang="en-US" dirty="0" err="1" smtClean="0"/>
              <a:t>내보내는지</a:t>
            </a:r>
            <a:r>
              <a:rPr lang="ko-KR" altLang="en-US" dirty="0" smtClean="0"/>
              <a:t> 확인</a:t>
            </a:r>
            <a:endParaRPr lang="en-US" altLang="ko-KR" dirty="0" smtClean="0"/>
          </a:p>
          <a:p>
            <a:r>
              <a:rPr lang="en-US" altLang="ko-KR" dirty="0" smtClean="0"/>
              <a:t>2. </a:t>
            </a:r>
            <a:r>
              <a:rPr lang="ko-KR" altLang="en-US" dirty="0" err="1" smtClean="0"/>
              <a:t>상태도에</a:t>
            </a:r>
            <a:r>
              <a:rPr lang="ko-KR" altLang="en-US" dirty="0" smtClean="0"/>
              <a:t> 따른 상태 변화가 정확한지 확인</a:t>
            </a:r>
            <a:endParaRPr lang="en-US" altLang="ko-KR" dirty="0" smtClean="0"/>
          </a:p>
          <a:p>
            <a:r>
              <a:rPr lang="en-US" altLang="ko-KR" dirty="0" smtClean="0"/>
              <a:t>3. </a:t>
            </a:r>
            <a:r>
              <a:rPr lang="ko-KR" altLang="en-US" dirty="0" smtClean="0"/>
              <a:t>상태에 따른 출력을 정상적으로 보내는지 확인</a:t>
            </a:r>
            <a:endParaRPr lang="en-US" altLang="ko-KR" dirty="0" smtClean="0"/>
          </a:p>
        </p:txBody>
      </p:sp>
    </p:spTree>
    <p:extLst>
      <p:ext uri="{BB962C8B-B14F-4D97-AF65-F5344CB8AC3E}">
        <p14:creationId xmlns:p14="http://schemas.microsoft.com/office/powerpoint/2010/main" val="290769221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ED9F6F4-1F93-9FB1-47A3-E1F3345C13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44415"/>
          </a:xfrm>
        </p:spPr>
        <p:txBody>
          <a:bodyPr/>
          <a:lstStyle/>
          <a:p>
            <a:r>
              <a:rPr lang="en-US" altLang="ko-KR" b="1" dirty="0" smtClean="0"/>
              <a:t>4. Simulation – </a:t>
            </a:r>
            <a:r>
              <a:rPr lang="en-US" altLang="ko-KR" b="1" dirty="0" err="1" smtClean="0"/>
              <a:t>uart</a:t>
            </a:r>
            <a:r>
              <a:rPr lang="en-US" altLang="ko-KR" b="1" dirty="0" smtClean="0"/>
              <a:t> </a:t>
            </a:r>
            <a:r>
              <a:rPr lang="en-US" altLang="ko-KR" b="1" dirty="0" err="1" smtClean="0"/>
              <a:t>tx</a:t>
            </a:r>
            <a:endParaRPr lang="en-US" altLang="ko-KR" b="1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0793" y="1332025"/>
            <a:ext cx="10212225" cy="4572638"/>
          </a:xfrm>
          <a:prstGeom prst="rect">
            <a:avLst/>
          </a:prstGeom>
        </p:spPr>
      </p:pic>
      <p:sp>
        <p:nvSpPr>
          <p:cNvPr id="5" name="직사각형 4"/>
          <p:cNvSpPr/>
          <p:nvPr/>
        </p:nvSpPr>
        <p:spPr>
          <a:xfrm>
            <a:off x="3988992" y="1332026"/>
            <a:ext cx="1251931" cy="4572638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/>
          <p:cNvSpPr txBox="1"/>
          <p:nvPr/>
        </p:nvSpPr>
        <p:spPr>
          <a:xfrm>
            <a:off x="2080414" y="6100091"/>
            <a:ext cx="6977670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dirty="0" err="1" smtClean="0"/>
              <a:t>tx_busy</a:t>
            </a:r>
            <a:r>
              <a:rPr lang="en-US" altLang="ko-KR" dirty="0" smtClean="0"/>
              <a:t> : </a:t>
            </a:r>
            <a:r>
              <a:rPr lang="en-US" altLang="ko-KR" dirty="0" err="1" smtClean="0"/>
              <a:t>c_state</a:t>
            </a:r>
            <a:r>
              <a:rPr lang="en-US" altLang="ko-KR" dirty="0" smtClean="0"/>
              <a:t> </a:t>
            </a:r>
            <a:r>
              <a:rPr lang="ko-KR" altLang="en-US" dirty="0" smtClean="0"/>
              <a:t>가 </a:t>
            </a:r>
            <a:r>
              <a:rPr lang="en-US" altLang="ko-KR" dirty="0" smtClean="0"/>
              <a:t>IDLE-&gt;START</a:t>
            </a:r>
            <a:r>
              <a:rPr lang="ko-KR" altLang="en-US" dirty="0" smtClean="0"/>
              <a:t>로 변경 시</a:t>
            </a:r>
            <a:r>
              <a:rPr lang="en-US" altLang="ko-KR" dirty="0" smtClean="0"/>
              <a:t>, 1</a:t>
            </a:r>
            <a:r>
              <a:rPr lang="ko-KR" altLang="en-US" dirty="0" smtClean="0"/>
              <a:t>을 출력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4828643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ED9F6F4-1F93-9FB1-47A3-E1F3345C13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44415"/>
          </a:xfrm>
        </p:spPr>
        <p:txBody>
          <a:bodyPr/>
          <a:lstStyle/>
          <a:p>
            <a:r>
              <a:rPr lang="en-US" altLang="ko-KR" b="1" dirty="0" smtClean="0"/>
              <a:t>4. Simulation – </a:t>
            </a:r>
            <a:r>
              <a:rPr lang="en-US" altLang="ko-KR" b="1" dirty="0" err="1" smtClean="0"/>
              <a:t>uart</a:t>
            </a:r>
            <a:r>
              <a:rPr lang="en-US" altLang="ko-KR" b="1" dirty="0" smtClean="0"/>
              <a:t> </a:t>
            </a:r>
            <a:r>
              <a:rPr lang="en-US" altLang="ko-KR" b="1" dirty="0" err="1" smtClean="0"/>
              <a:t>tx</a:t>
            </a:r>
            <a:endParaRPr lang="en-US" altLang="ko-KR" b="1" dirty="0"/>
          </a:p>
        </p:txBody>
      </p:sp>
      <p:sp>
        <p:nvSpPr>
          <p:cNvPr id="6" name="TextBox 5"/>
          <p:cNvSpPr txBox="1"/>
          <p:nvPr/>
        </p:nvSpPr>
        <p:spPr>
          <a:xfrm>
            <a:off x="2080414" y="6100091"/>
            <a:ext cx="7290652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bt_cnt_16_reg : 9600bps(104.16us)</a:t>
            </a:r>
            <a:r>
              <a:rPr lang="ko-KR" altLang="en-US" dirty="0" smtClean="0"/>
              <a:t>주기로 </a:t>
            </a:r>
            <a:r>
              <a:rPr lang="en-US" altLang="ko-KR" dirty="0" smtClean="0"/>
              <a:t>0~15</a:t>
            </a:r>
            <a:r>
              <a:rPr lang="ko-KR" altLang="en-US" dirty="0" err="1" smtClean="0"/>
              <a:t>카운팅</a:t>
            </a:r>
            <a:r>
              <a:rPr lang="ko-KR" altLang="en-US" dirty="0" smtClean="0"/>
              <a:t> 되는 것을 확인</a:t>
            </a:r>
            <a:endParaRPr lang="ko-KR" altLang="en-US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76619"/>
            <a:ext cx="12192000" cy="3703347"/>
          </a:xfrm>
          <a:prstGeom prst="rect">
            <a:avLst/>
          </a:prstGeom>
        </p:spPr>
      </p:pic>
      <p:sp>
        <p:nvSpPr>
          <p:cNvPr id="7" name="직사각형 6"/>
          <p:cNvSpPr/>
          <p:nvPr/>
        </p:nvSpPr>
        <p:spPr>
          <a:xfrm>
            <a:off x="0" y="4651780"/>
            <a:ext cx="2344301" cy="306846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0871052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1517544"/>
            <a:ext cx="12146642" cy="3192741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2ED9F6F4-1F93-9FB1-47A3-E1F3345C13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44415"/>
          </a:xfrm>
        </p:spPr>
        <p:txBody>
          <a:bodyPr/>
          <a:lstStyle/>
          <a:p>
            <a:r>
              <a:rPr lang="en-US" altLang="ko-KR" b="1" dirty="0" smtClean="0"/>
              <a:t>4. Simulation – </a:t>
            </a:r>
            <a:r>
              <a:rPr lang="en-US" altLang="ko-KR" b="1" dirty="0" err="1" smtClean="0"/>
              <a:t>uart</a:t>
            </a:r>
            <a:r>
              <a:rPr lang="en-US" altLang="ko-KR" b="1" dirty="0" smtClean="0"/>
              <a:t> </a:t>
            </a:r>
            <a:r>
              <a:rPr lang="en-US" altLang="ko-KR" b="1" dirty="0" err="1" smtClean="0"/>
              <a:t>tx</a:t>
            </a:r>
            <a:endParaRPr lang="en-US" altLang="ko-KR" b="1" dirty="0"/>
          </a:p>
        </p:txBody>
      </p:sp>
      <p:sp>
        <p:nvSpPr>
          <p:cNvPr id="6" name="TextBox 5"/>
          <p:cNvSpPr txBox="1"/>
          <p:nvPr/>
        </p:nvSpPr>
        <p:spPr>
          <a:xfrm>
            <a:off x="2178605" y="5002147"/>
            <a:ext cx="7842974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dirty="0" err="1" smtClean="0"/>
              <a:t>c_state</a:t>
            </a:r>
            <a:r>
              <a:rPr lang="en-US" altLang="ko-KR" dirty="0" smtClean="0"/>
              <a:t> : START -&gt; DATA -&gt; STOP -&gt; IDLE </a:t>
            </a:r>
            <a:r>
              <a:rPr lang="ko-KR" altLang="en-US" dirty="0" smtClean="0"/>
              <a:t>순으로 동작하는 것을 확인</a:t>
            </a:r>
            <a:endParaRPr lang="en-US" altLang="ko-KR" dirty="0" smtClean="0"/>
          </a:p>
          <a:p>
            <a:r>
              <a:rPr lang="en-US" altLang="ko-KR" dirty="0" err="1" smtClean="0"/>
              <a:t>bit_cnt_reg</a:t>
            </a:r>
            <a:r>
              <a:rPr lang="en-US" altLang="ko-KR" dirty="0" smtClean="0"/>
              <a:t>: </a:t>
            </a:r>
            <a:r>
              <a:rPr lang="en-US" altLang="ko-KR" dirty="0" err="1" smtClean="0"/>
              <a:t>c_state</a:t>
            </a:r>
            <a:r>
              <a:rPr lang="en-US" altLang="ko-KR" dirty="0" smtClean="0"/>
              <a:t> DATA </a:t>
            </a:r>
            <a:r>
              <a:rPr lang="ko-KR" altLang="en-US" dirty="0" smtClean="0"/>
              <a:t>때</a:t>
            </a:r>
            <a:r>
              <a:rPr lang="en-US" altLang="ko-KR" dirty="0" smtClean="0"/>
              <a:t>,</a:t>
            </a:r>
            <a:r>
              <a:rPr lang="ko-KR" altLang="en-US" dirty="0" smtClean="0"/>
              <a:t> </a:t>
            </a:r>
            <a:r>
              <a:rPr lang="en-US" altLang="ko-KR" dirty="0" smtClean="0"/>
              <a:t>9600bps</a:t>
            </a:r>
            <a:r>
              <a:rPr lang="ko-KR" altLang="en-US" dirty="0" smtClean="0"/>
              <a:t>로 </a:t>
            </a:r>
            <a:r>
              <a:rPr lang="en-US" altLang="ko-KR" dirty="0" smtClean="0"/>
              <a:t>0~7</a:t>
            </a:r>
            <a:r>
              <a:rPr lang="ko-KR" altLang="en-US" dirty="0" smtClean="0"/>
              <a:t>까지 </a:t>
            </a:r>
            <a:r>
              <a:rPr lang="ko-KR" altLang="en-US" dirty="0" err="1" smtClean="0"/>
              <a:t>카운팅을</a:t>
            </a:r>
            <a:r>
              <a:rPr lang="ko-KR" altLang="en-US" dirty="0" smtClean="0"/>
              <a:t> 하는 것을 확인</a:t>
            </a:r>
            <a:endParaRPr lang="ko-KR" altLang="en-US" dirty="0"/>
          </a:p>
        </p:txBody>
      </p:sp>
      <p:sp>
        <p:nvSpPr>
          <p:cNvPr id="7" name="직사각형 6"/>
          <p:cNvSpPr/>
          <p:nvPr/>
        </p:nvSpPr>
        <p:spPr>
          <a:xfrm>
            <a:off x="0" y="2654371"/>
            <a:ext cx="2344301" cy="306846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-1022" y="3248627"/>
            <a:ext cx="2344301" cy="306846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1946098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28653"/>
            <a:ext cx="12194858" cy="2846253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2ED9F6F4-1F93-9FB1-47A3-E1F3345C13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44415"/>
          </a:xfrm>
        </p:spPr>
        <p:txBody>
          <a:bodyPr/>
          <a:lstStyle/>
          <a:p>
            <a:r>
              <a:rPr lang="en-US" altLang="ko-KR" b="1" dirty="0" smtClean="0"/>
              <a:t>4. Simulation – </a:t>
            </a:r>
            <a:r>
              <a:rPr lang="en-US" altLang="ko-KR" b="1" dirty="0" err="1" smtClean="0"/>
              <a:t>uart</a:t>
            </a:r>
            <a:r>
              <a:rPr lang="en-US" altLang="ko-KR" b="1" dirty="0" smtClean="0"/>
              <a:t> </a:t>
            </a:r>
            <a:r>
              <a:rPr lang="en-US" altLang="ko-KR" b="1" dirty="0" err="1" smtClean="0"/>
              <a:t>tx</a:t>
            </a:r>
            <a:endParaRPr lang="en-US" altLang="ko-KR" b="1" dirty="0"/>
          </a:p>
        </p:txBody>
      </p:sp>
      <p:sp>
        <p:nvSpPr>
          <p:cNvPr id="6" name="TextBox 5"/>
          <p:cNvSpPr txBox="1"/>
          <p:nvPr/>
        </p:nvSpPr>
        <p:spPr>
          <a:xfrm>
            <a:off x="2149656" y="5022756"/>
            <a:ext cx="9073019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dirty="0" err="1" smtClean="0"/>
              <a:t>data_in_buf_reg</a:t>
            </a:r>
            <a:r>
              <a:rPr lang="en-US" altLang="ko-KR" dirty="0" smtClean="0"/>
              <a:t> : </a:t>
            </a:r>
          </a:p>
          <a:p>
            <a:r>
              <a:rPr lang="en-US" altLang="ko-KR" dirty="0" err="1" smtClean="0">
                <a:sym typeface="Wingdings" panose="05000000000000000000" pitchFamily="2" charset="2"/>
              </a:rPr>
              <a:t>c_state</a:t>
            </a:r>
            <a:r>
              <a:rPr lang="en-US" altLang="ko-KR" dirty="0">
                <a:sym typeface="Wingdings" panose="05000000000000000000" pitchFamily="2" charset="2"/>
              </a:rPr>
              <a:t> </a:t>
            </a:r>
            <a:r>
              <a:rPr lang="en-US" altLang="ko-KR" dirty="0" smtClean="0">
                <a:sym typeface="Wingdings" panose="05000000000000000000" pitchFamily="2" charset="2"/>
              </a:rPr>
              <a:t>START </a:t>
            </a:r>
            <a:r>
              <a:rPr lang="ko-KR" altLang="en-US" dirty="0" smtClean="0">
                <a:sym typeface="Wingdings" panose="05000000000000000000" pitchFamily="2" charset="2"/>
              </a:rPr>
              <a:t>일 </a:t>
            </a:r>
            <a:r>
              <a:rPr lang="ko-KR" altLang="en-US" dirty="0">
                <a:sym typeface="Wingdings" panose="05000000000000000000" pitchFamily="2" charset="2"/>
              </a:rPr>
              <a:t>때</a:t>
            </a:r>
            <a:r>
              <a:rPr lang="en-US" altLang="ko-KR" dirty="0">
                <a:sym typeface="Wingdings" panose="05000000000000000000" pitchFamily="2" charset="2"/>
              </a:rPr>
              <a:t>, </a:t>
            </a:r>
            <a:r>
              <a:rPr lang="en-US" altLang="ko-KR" dirty="0" err="1" smtClean="0"/>
              <a:t>bit_cnt_reg</a:t>
            </a:r>
            <a:r>
              <a:rPr lang="en-US" altLang="ko-KR" dirty="0"/>
              <a:t> </a:t>
            </a:r>
            <a:r>
              <a:rPr lang="ko-KR" altLang="en-US" dirty="0" smtClean="0"/>
              <a:t>값 유지</a:t>
            </a:r>
            <a:endParaRPr lang="en-US" altLang="ko-KR" dirty="0" smtClean="0">
              <a:sym typeface="Wingdings" panose="05000000000000000000" pitchFamily="2" charset="2"/>
            </a:endParaRPr>
          </a:p>
          <a:p>
            <a:r>
              <a:rPr lang="en-US" altLang="ko-KR" dirty="0" err="1">
                <a:sym typeface="Wingdings" panose="05000000000000000000" pitchFamily="2" charset="2"/>
              </a:rPr>
              <a:t>c_state</a:t>
            </a:r>
            <a:r>
              <a:rPr lang="en-US" altLang="ko-KR" dirty="0">
                <a:sym typeface="Wingdings" panose="05000000000000000000" pitchFamily="2" charset="2"/>
              </a:rPr>
              <a:t> </a:t>
            </a:r>
            <a:r>
              <a:rPr lang="en-US" altLang="ko-KR" dirty="0" smtClean="0">
                <a:sym typeface="Wingdings" panose="05000000000000000000" pitchFamily="2" charset="2"/>
              </a:rPr>
              <a:t>DATA </a:t>
            </a:r>
            <a:r>
              <a:rPr lang="ko-KR" altLang="en-US" dirty="0">
                <a:sym typeface="Wingdings" panose="05000000000000000000" pitchFamily="2" charset="2"/>
              </a:rPr>
              <a:t>일 때</a:t>
            </a:r>
            <a:r>
              <a:rPr lang="en-US" altLang="ko-KR" dirty="0">
                <a:sym typeface="Wingdings" panose="05000000000000000000" pitchFamily="2" charset="2"/>
              </a:rPr>
              <a:t>, </a:t>
            </a:r>
            <a:r>
              <a:rPr lang="en-US" altLang="ko-KR" dirty="0" err="1" smtClean="0"/>
              <a:t>bit_cnt_reg</a:t>
            </a:r>
            <a:r>
              <a:rPr lang="en-US" altLang="ko-KR" dirty="0" smtClean="0"/>
              <a:t> </a:t>
            </a:r>
            <a:r>
              <a:rPr lang="ko-KR" altLang="en-US" dirty="0" smtClean="0"/>
              <a:t>가 증가할 때마다 </a:t>
            </a:r>
            <a:r>
              <a:rPr lang="en-US" altLang="ko-KR" dirty="0" err="1" smtClean="0"/>
              <a:t>right_shift</a:t>
            </a:r>
            <a:r>
              <a:rPr lang="ko-KR" altLang="en-US" dirty="0" smtClean="0"/>
              <a:t>하는 것을 확인</a:t>
            </a:r>
            <a:endParaRPr lang="en-US" altLang="ko-KR" dirty="0" smtClean="0"/>
          </a:p>
        </p:txBody>
      </p:sp>
      <p:sp>
        <p:nvSpPr>
          <p:cNvPr id="8" name="직사각형 7"/>
          <p:cNvSpPr/>
          <p:nvPr/>
        </p:nvSpPr>
        <p:spPr>
          <a:xfrm>
            <a:off x="2515113" y="3586155"/>
            <a:ext cx="8291990" cy="306846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/>
          <p:cNvSpPr txBox="1"/>
          <p:nvPr/>
        </p:nvSpPr>
        <p:spPr>
          <a:xfrm>
            <a:off x="3540998" y="4099454"/>
            <a:ext cx="2700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 smtClean="0"/>
              <a:t>0</a:t>
            </a:r>
            <a:endParaRPr lang="ko-KR" altLang="en-US" b="1" dirty="0"/>
          </a:p>
        </p:txBody>
      </p:sp>
      <p:sp>
        <p:nvSpPr>
          <p:cNvPr id="10" name="TextBox 9"/>
          <p:cNvSpPr txBox="1"/>
          <p:nvPr/>
        </p:nvSpPr>
        <p:spPr>
          <a:xfrm>
            <a:off x="4485059" y="4092291"/>
            <a:ext cx="2700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 smtClean="0"/>
              <a:t>0</a:t>
            </a:r>
            <a:endParaRPr lang="ko-KR" altLang="en-US" b="1" dirty="0"/>
          </a:p>
        </p:txBody>
      </p:sp>
      <p:sp>
        <p:nvSpPr>
          <p:cNvPr id="11" name="TextBox 10"/>
          <p:cNvSpPr txBox="1"/>
          <p:nvPr/>
        </p:nvSpPr>
        <p:spPr>
          <a:xfrm>
            <a:off x="5306383" y="4091267"/>
            <a:ext cx="2700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 smtClean="0"/>
              <a:t>0</a:t>
            </a:r>
            <a:endParaRPr lang="ko-KR" altLang="en-US" b="1" dirty="0"/>
          </a:p>
        </p:txBody>
      </p:sp>
      <p:sp>
        <p:nvSpPr>
          <p:cNvPr id="12" name="TextBox 11"/>
          <p:cNvSpPr txBox="1"/>
          <p:nvPr/>
        </p:nvSpPr>
        <p:spPr>
          <a:xfrm>
            <a:off x="6115432" y="4096380"/>
            <a:ext cx="2700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 smtClean="0"/>
              <a:t>0</a:t>
            </a:r>
            <a:endParaRPr lang="ko-KR" altLang="en-US" b="1" dirty="0"/>
          </a:p>
        </p:txBody>
      </p:sp>
      <p:sp>
        <p:nvSpPr>
          <p:cNvPr id="13" name="TextBox 12"/>
          <p:cNvSpPr txBox="1"/>
          <p:nvPr/>
        </p:nvSpPr>
        <p:spPr>
          <a:xfrm>
            <a:off x="6949332" y="4090347"/>
            <a:ext cx="2700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1</a:t>
            </a:r>
            <a:endParaRPr lang="ko-KR" altLang="en-US" b="1" dirty="0"/>
          </a:p>
        </p:txBody>
      </p:sp>
      <p:sp>
        <p:nvSpPr>
          <p:cNvPr id="14" name="TextBox 13"/>
          <p:cNvSpPr txBox="1"/>
          <p:nvPr/>
        </p:nvSpPr>
        <p:spPr>
          <a:xfrm>
            <a:off x="7662342" y="4081444"/>
            <a:ext cx="2700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1</a:t>
            </a:r>
            <a:endParaRPr lang="ko-KR" altLang="en-US" b="1" dirty="0"/>
          </a:p>
        </p:txBody>
      </p:sp>
      <p:sp>
        <p:nvSpPr>
          <p:cNvPr id="15" name="TextBox 14"/>
          <p:cNvSpPr txBox="1"/>
          <p:nvPr/>
        </p:nvSpPr>
        <p:spPr>
          <a:xfrm>
            <a:off x="8483666" y="4099855"/>
            <a:ext cx="2700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 smtClean="0"/>
              <a:t>0</a:t>
            </a:r>
            <a:endParaRPr lang="ko-KR" altLang="en-US" b="1" dirty="0"/>
          </a:p>
        </p:txBody>
      </p:sp>
      <p:sp>
        <p:nvSpPr>
          <p:cNvPr id="16" name="TextBox 15"/>
          <p:cNvSpPr txBox="1"/>
          <p:nvPr/>
        </p:nvSpPr>
        <p:spPr>
          <a:xfrm>
            <a:off x="9330252" y="4096315"/>
            <a:ext cx="2700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 smtClean="0"/>
              <a:t>0</a:t>
            </a:r>
            <a:endParaRPr lang="ko-KR" altLang="en-US" b="1" dirty="0"/>
          </a:p>
        </p:txBody>
      </p:sp>
      <p:cxnSp>
        <p:nvCxnSpPr>
          <p:cNvPr id="18" name="직선 화살표 연결선 17"/>
          <p:cNvCxnSpPr/>
          <p:nvPr/>
        </p:nvCxnSpPr>
        <p:spPr>
          <a:xfrm>
            <a:off x="3540998" y="4560993"/>
            <a:ext cx="6290336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937145" y="4594362"/>
            <a:ext cx="32148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 err="1" smtClean="0"/>
              <a:t>uart_tx</a:t>
            </a:r>
            <a:r>
              <a:rPr lang="en-US" altLang="ko-KR" b="1" dirty="0" smtClean="0"/>
              <a:t> = </a:t>
            </a:r>
            <a:r>
              <a:rPr lang="en-US" altLang="ko-KR" b="1" dirty="0" err="1" smtClean="0"/>
              <a:t>data_in_buf_reg</a:t>
            </a:r>
            <a:r>
              <a:rPr lang="en-US" altLang="ko-KR" b="1" dirty="0" smtClean="0"/>
              <a:t>[0]</a:t>
            </a:r>
            <a:endParaRPr lang="ko-KR" altLang="en-US" b="1" dirty="0"/>
          </a:p>
        </p:txBody>
      </p:sp>
      <p:cxnSp>
        <p:nvCxnSpPr>
          <p:cNvPr id="20" name="직선 화살표 연결선 19"/>
          <p:cNvCxnSpPr/>
          <p:nvPr/>
        </p:nvCxnSpPr>
        <p:spPr>
          <a:xfrm>
            <a:off x="2581745" y="4560993"/>
            <a:ext cx="930561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화살표 연결선 22"/>
          <p:cNvCxnSpPr/>
          <p:nvPr/>
        </p:nvCxnSpPr>
        <p:spPr>
          <a:xfrm>
            <a:off x="9831334" y="4560993"/>
            <a:ext cx="930561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10018916" y="4593310"/>
            <a:ext cx="9400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 smtClean="0"/>
              <a:t>STOP</a:t>
            </a:r>
            <a:endParaRPr lang="ko-KR" altLang="en-US" b="1" dirty="0"/>
          </a:p>
        </p:txBody>
      </p:sp>
      <p:sp>
        <p:nvSpPr>
          <p:cNvPr id="25" name="TextBox 24"/>
          <p:cNvSpPr txBox="1"/>
          <p:nvPr/>
        </p:nvSpPr>
        <p:spPr>
          <a:xfrm>
            <a:off x="2735940" y="4591972"/>
            <a:ext cx="9400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 smtClean="0"/>
              <a:t>START</a:t>
            </a:r>
            <a:endParaRPr lang="ko-KR" altLang="en-US" b="1" dirty="0"/>
          </a:p>
        </p:txBody>
      </p:sp>
      <p:sp>
        <p:nvSpPr>
          <p:cNvPr id="26" name="TextBox 25"/>
          <p:cNvSpPr txBox="1"/>
          <p:nvPr/>
        </p:nvSpPr>
        <p:spPr>
          <a:xfrm>
            <a:off x="2852031" y="4103451"/>
            <a:ext cx="2700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 smtClean="0"/>
              <a:t>0</a:t>
            </a:r>
            <a:endParaRPr lang="ko-KR" altLang="en-US" b="1" dirty="0"/>
          </a:p>
        </p:txBody>
      </p:sp>
      <p:sp>
        <p:nvSpPr>
          <p:cNvPr id="27" name="TextBox 26"/>
          <p:cNvSpPr txBox="1"/>
          <p:nvPr/>
        </p:nvSpPr>
        <p:spPr>
          <a:xfrm>
            <a:off x="10101764" y="4072758"/>
            <a:ext cx="2700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1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147937925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28653"/>
            <a:ext cx="12194858" cy="2846253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2ED9F6F4-1F93-9FB1-47A3-E1F3345C13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44415"/>
          </a:xfrm>
        </p:spPr>
        <p:txBody>
          <a:bodyPr/>
          <a:lstStyle/>
          <a:p>
            <a:r>
              <a:rPr lang="en-US" altLang="ko-KR" b="1" dirty="0" smtClean="0"/>
              <a:t>4. Simulation – </a:t>
            </a:r>
            <a:r>
              <a:rPr lang="en-US" altLang="ko-KR" b="1" dirty="0" err="1" smtClean="0"/>
              <a:t>uart</a:t>
            </a:r>
            <a:r>
              <a:rPr lang="en-US" altLang="ko-KR" b="1" dirty="0" smtClean="0"/>
              <a:t> </a:t>
            </a:r>
            <a:r>
              <a:rPr lang="en-US" altLang="ko-KR" b="1" dirty="0" err="1" smtClean="0"/>
              <a:t>tx</a:t>
            </a:r>
            <a:endParaRPr lang="en-US" altLang="ko-KR" b="1" dirty="0"/>
          </a:p>
        </p:txBody>
      </p:sp>
      <p:sp>
        <p:nvSpPr>
          <p:cNvPr id="6" name="TextBox 5"/>
          <p:cNvSpPr txBox="1"/>
          <p:nvPr/>
        </p:nvSpPr>
        <p:spPr>
          <a:xfrm>
            <a:off x="2149656" y="5022756"/>
            <a:ext cx="9073019" cy="12003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dirty="0" err="1" smtClean="0"/>
              <a:t>uart_tx</a:t>
            </a:r>
            <a:r>
              <a:rPr lang="en-US" altLang="ko-KR" dirty="0" smtClean="0"/>
              <a:t> </a:t>
            </a:r>
            <a:r>
              <a:rPr lang="en-US" altLang="ko-KR" dirty="0" smtClean="0">
                <a:sym typeface="Wingdings" panose="05000000000000000000" pitchFamily="2" charset="2"/>
              </a:rPr>
              <a:t>:</a:t>
            </a:r>
          </a:p>
          <a:p>
            <a:r>
              <a:rPr lang="en-US" altLang="ko-KR" dirty="0" err="1" smtClean="0">
                <a:sym typeface="Wingdings" panose="05000000000000000000" pitchFamily="2" charset="2"/>
              </a:rPr>
              <a:t>c_state</a:t>
            </a:r>
            <a:r>
              <a:rPr lang="en-US" altLang="ko-KR" dirty="0" smtClean="0">
                <a:sym typeface="Wingdings" panose="05000000000000000000" pitchFamily="2" charset="2"/>
              </a:rPr>
              <a:t> START</a:t>
            </a:r>
            <a:r>
              <a:rPr lang="ko-KR" altLang="en-US" dirty="0" smtClean="0">
                <a:sym typeface="Wingdings" panose="05000000000000000000" pitchFamily="2" charset="2"/>
              </a:rPr>
              <a:t>일 때</a:t>
            </a:r>
            <a:r>
              <a:rPr lang="en-US" altLang="ko-KR" dirty="0" smtClean="0">
                <a:sym typeface="Wingdings" panose="05000000000000000000" pitchFamily="2" charset="2"/>
              </a:rPr>
              <a:t>, </a:t>
            </a:r>
            <a:r>
              <a:rPr lang="en-US" altLang="ko-KR" dirty="0" smtClean="0"/>
              <a:t>1</a:t>
            </a:r>
            <a:r>
              <a:rPr lang="ko-KR" altLang="en-US" dirty="0" smtClean="0"/>
              <a:t>이 출력되는 것을 확인</a:t>
            </a:r>
            <a:endParaRPr lang="en-US" altLang="ko-KR" dirty="0" smtClean="0"/>
          </a:p>
          <a:p>
            <a:r>
              <a:rPr lang="en-US" altLang="ko-KR" dirty="0" err="1">
                <a:sym typeface="Wingdings" panose="05000000000000000000" pitchFamily="2" charset="2"/>
              </a:rPr>
              <a:t>c_state</a:t>
            </a:r>
            <a:r>
              <a:rPr lang="en-US" altLang="ko-KR" dirty="0">
                <a:sym typeface="Wingdings" panose="05000000000000000000" pitchFamily="2" charset="2"/>
              </a:rPr>
              <a:t> </a:t>
            </a:r>
            <a:r>
              <a:rPr lang="en-US" altLang="ko-KR" dirty="0" smtClean="0">
                <a:sym typeface="Wingdings" panose="05000000000000000000" pitchFamily="2" charset="2"/>
              </a:rPr>
              <a:t>DATA</a:t>
            </a:r>
            <a:r>
              <a:rPr lang="ko-KR" altLang="en-US" dirty="0" smtClean="0">
                <a:sym typeface="Wingdings" panose="05000000000000000000" pitchFamily="2" charset="2"/>
              </a:rPr>
              <a:t>일 </a:t>
            </a:r>
            <a:r>
              <a:rPr lang="ko-KR" altLang="en-US" dirty="0">
                <a:sym typeface="Wingdings" panose="05000000000000000000" pitchFamily="2" charset="2"/>
              </a:rPr>
              <a:t>때</a:t>
            </a:r>
            <a:r>
              <a:rPr lang="en-US" altLang="ko-KR" dirty="0">
                <a:sym typeface="Wingdings" panose="05000000000000000000" pitchFamily="2" charset="2"/>
              </a:rPr>
              <a:t>, </a:t>
            </a:r>
            <a:r>
              <a:rPr lang="en-US" altLang="ko-KR" dirty="0" err="1"/>
              <a:t>data_in_buf_reg</a:t>
            </a:r>
            <a:r>
              <a:rPr lang="en-US" altLang="ko-KR" dirty="0"/>
              <a:t>[0]</a:t>
            </a:r>
            <a:r>
              <a:rPr lang="ko-KR" altLang="en-US" dirty="0"/>
              <a:t>이 출력되는 것을 확인</a:t>
            </a:r>
          </a:p>
          <a:p>
            <a:r>
              <a:rPr lang="en-US" altLang="ko-KR" dirty="0" err="1">
                <a:sym typeface="Wingdings" panose="05000000000000000000" pitchFamily="2" charset="2"/>
              </a:rPr>
              <a:t>c_state</a:t>
            </a:r>
            <a:r>
              <a:rPr lang="en-US" altLang="ko-KR" dirty="0">
                <a:sym typeface="Wingdings" panose="05000000000000000000" pitchFamily="2" charset="2"/>
              </a:rPr>
              <a:t> </a:t>
            </a:r>
            <a:r>
              <a:rPr lang="en-US" altLang="ko-KR" dirty="0" smtClean="0">
                <a:sym typeface="Wingdings" panose="05000000000000000000" pitchFamily="2" charset="2"/>
              </a:rPr>
              <a:t>STOP</a:t>
            </a:r>
            <a:r>
              <a:rPr lang="ko-KR" altLang="en-US" dirty="0" smtClean="0">
                <a:sym typeface="Wingdings" panose="05000000000000000000" pitchFamily="2" charset="2"/>
              </a:rPr>
              <a:t>일 </a:t>
            </a:r>
            <a:r>
              <a:rPr lang="ko-KR" altLang="en-US" dirty="0">
                <a:sym typeface="Wingdings" panose="05000000000000000000" pitchFamily="2" charset="2"/>
              </a:rPr>
              <a:t>때</a:t>
            </a:r>
            <a:r>
              <a:rPr lang="en-US" altLang="ko-KR" dirty="0">
                <a:sym typeface="Wingdings" panose="05000000000000000000" pitchFamily="2" charset="2"/>
              </a:rPr>
              <a:t>, 1</a:t>
            </a:r>
            <a:r>
              <a:rPr lang="ko-KR" altLang="en-US" dirty="0" smtClean="0"/>
              <a:t>이 </a:t>
            </a:r>
            <a:r>
              <a:rPr lang="ko-KR" altLang="en-US" dirty="0"/>
              <a:t>출력되는 것을 </a:t>
            </a:r>
            <a:r>
              <a:rPr lang="ko-KR" altLang="en-US" dirty="0" smtClean="0"/>
              <a:t>확인</a:t>
            </a:r>
            <a:endParaRPr lang="ko-KR" altLang="en-US" dirty="0"/>
          </a:p>
        </p:txBody>
      </p:sp>
      <p:sp>
        <p:nvSpPr>
          <p:cNvPr id="8" name="직사각형 7"/>
          <p:cNvSpPr/>
          <p:nvPr/>
        </p:nvSpPr>
        <p:spPr>
          <a:xfrm>
            <a:off x="2515113" y="3586155"/>
            <a:ext cx="8291990" cy="306846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/>
          <p:cNvSpPr/>
          <p:nvPr/>
        </p:nvSpPr>
        <p:spPr>
          <a:xfrm>
            <a:off x="0" y="2149554"/>
            <a:ext cx="2515113" cy="306846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/>
          <p:cNvSpPr txBox="1"/>
          <p:nvPr/>
        </p:nvSpPr>
        <p:spPr>
          <a:xfrm>
            <a:off x="3540998" y="4074906"/>
            <a:ext cx="2700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 smtClean="0"/>
              <a:t>0</a:t>
            </a:r>
            <a:endParaRPr lang="ko-KR" altLang="en-US" b="1" dirty="0"/>
          </a:p>
        </p:txBody>
      </p:sp>
      <p:sp>
        <p:nvSpPr>
          <p:cNvPr id="10" name="TextBox 9"/>
          <p:cNvSpPr txBox="1"/>
          <p:nvPr/>
        </p:nvSpPr>
        <p:spPr>
          <a:xfrm>
            <a:off x="4485059" y="4080017"/>
            <a:ext cx="2700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 smtClean="0"/>
              <a:t>0</a:t>
            </a:r>
            <a:endParaRPr lang="ko-KR" altLang="en-US" b="1" dirty="0"/>
          </a:p>
        </p:txBody>
      </p:sp>
      <p:sp>
        <p:nvSpPr>
          <p:cNvPr id="11" name="TextBox 10"/>
          <p:cNvSpPr txBox="1"/>
          <p:nvPr/>
        </p:nvSpPr>
        <p:spPr>
          <a:xfrm>
            <a:off x="5306383" y="4078993"/>
            <a:ext cx="2700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 smtClean="0"/>
              <a:t>0</a:t>
            </a:r>
            <a:endParaRPr lang="ko-KR" altLang="en-US" b="1" dirty="0"/>
          </a:p>
        </p:txBody>
      </p:sp>
      <p:sp>
        <p:nvSpPr>
          <p:cNvPr id="12" name="TextBox 11"/>
          <p:cNvSpPr txBox="1"/>
          <p:nvPr/>
        </p:nvSpPr>
        <p:spPr>
          <a:xfrm>
            <a:off x="6115432" y="4077969"/>
            <a:ext cx="2700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 smtClean="0"/>
              <a:t>0</a:t>
            </a:r>
            <a:endParaRPr lang="ko-KR" altLang="en-US" b="1" dirty="0"/>
          </a:p>
        </p:txBody>
      </p:sp>
      <p:sp>
        <p:nvSpPr>
          <p:cNvPr id="13" name="TextBox 12"/>
          <p:cNvSpPr txBox="1"/>
          <p:nvPr/>
        </p:nvSpPr>
        <p:spPr>
          <a:xfrm>
            <a:off x="6949332" y="4084210"/>
            <a:ext cx="2700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1</a:t>
            </a:r>
            <a:endParaRPr lang="ko-KR" altLang="en-US" b="1" dirty="0"/>
          </a:p>
        </p:txBody>
      </p:sp>
      <p:sp>
        <p:nvSpPr>
          <p:cNvPr id="14" name="TextBox 13"/>
          <p:cNvSpPr txBox="1"/>
          <p:nvPr/>
        </p:nvSpPr>
        <p:spPr>
          <a:xfrm>
            <a:off x="7662342" y="4099855"/>
            <a:ext cx="2700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1</a:t>
            </a:r>
            <a:endParaRPr lang="ko-KR" altLang="en-US" b="1" dirty="0"/>
          </a:p>
        </p:txBody>
      </p:sp>
      <p:sp>
        <p:nvSpPr>
          <p:cNvPr id="15" name="TextBox 14"/>
          <p:cNvSpPr txBox="1"/>
          <p:nvPr/>
        </p:nvSpPr>
        <p:spPr>
          <a:xfrm>
            <a:off x="8483666" y="4099855"/>
            <a:ext cx="2700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 smtClean="0"/>
              <a:t>0</a:t>
            </a:r>
            <a:endParaRPr lang="ko-KR" altLang="en-US" b="1" dirty="0"/>
          </a:p>
        </p:txBody>
      </p:sp>
      <p:sp>
        <p:nvSpPr>
          <p:cNvPr id="16" name="TextBox 15"/>
          <p:cNvSpPr txBox="1"/>
          <p:nvPr/>
        </p:nvSpPr>
        <p:spPr>
          <a:xfrm>
            <a:off x="9330252" y="4102452"/>
            <a:ext cx="2700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 smtClean="0"/>
              <a:t>0</a:t>
            </a:r>
            <a:endParaRPr lang="ko-KR" altLang="en-US" b="1" dirty="0"/>
          </a:p>
        </p:txBody>
      </p:sp>
      <p:cxnSp>
        <p:nvCxnSpPr>
          <p:cNvPr id="18" name="직선 화살표 연결선 17"/>
          <p:cNvCxnSpPr/>
          <p:nvPr/>
        </p:nvCxnSpPr>
        <p:spPr>
          <a:xfrm>
            <a:off x="3540998" y="4560993"/>
            <a:ext cx="6290336" cy="0"/>
          </a:xfrm>
          <a:prstGeom prst="straightConnector1">
            <a:avLst/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937145" y="4594362"/>
            <a:ext cx="32148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 err="1" smtClean="0"/>
              <a:t>uart_tx</a:t>
            </a:r>
            <a:r>
              <a:rPr lang="en-US" altLang="ko-KR" b="1" dirty="0" smtClean="0"/>
              <a:t> = </a:t>
            </a:r>
            <a:r>
              <a:rPr lang="en-US" altLang="ko-KR" b="1" dirty="0" err="1" smtClean="0"/>
              <a:t>data_in_buf_reg</a:t>
            </a:r>
            <a:r>
              <a:rPr lang="en-US" altLang="ko-KR" b="1" dirty="0" smtClean="0"/>
              <a:t>[0]</a:t>
            </a:r>
            <a:endParaRPr lang="ko-KR" altLang="en-US" b="1" dirty="0"/>
          </a:p>
        </p:txBody>
      </p:sp>
      <p:cxnSp>
        <p:nvCxnSpPr>
          <p:cNvPr id="20" name="직선 화살표 연결선 19"/>
          <p:cNvCxnSpPr/>
          <p:nvPr/>
        </p:nvCxnSpPr>
        <p:spPr>
          <a:xfrm>
            <a:off x="2581745" y="4560993"/>
            <a:ext cx="930561" cy="0"/>
          </a:xfrm>
          <a:prstGeom prst="straightConnector1">
            <a:avLst/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화살표 연결선 22"/>
          <p:cNvCxnSpPr/>
          <p:nvPr/>
        </p:nvCxnSpPr>
        <p:spPr>
          <a:xfrm>
            <a:off x="9831334" y="4560993"/>
            <a:ext cx="930561" cy="0"/>
          </a:xfrm>
          <a:prstGeom prst="straightConnector1">
            <a:avLst/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10018916" y="4593310"/>
            <a:ext cx="9400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 smtClean="0"/>
              <a:t>STOP</a:t>
            </a:r>
            <a:endParaRPr lang="ko-KR" altLang="en-US" b="1" dirty="0"/>
          </a:p>
        </p:txBody>
      </p:sp>
      <p:sp>
        <p:nvSpPr>
          <p:cNvPr id="25" name="TextBox 24"/>
          <p:cNvSpPr txBox="1"/>
          <p:nvPr/>
        </p:nvSpPr>
        <p:spPr>
          <a:xfrm>
            <a:off x="2735940" y="4591972"/>
            <a:ext cx="9400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 smtClean="0"/>
              <a:t>START</a:t>
            </a:r>
            <a:endParaRPr lang="ko-KR" altLang="en-US" b="1" dirty="0"/>
          </a:p>
        </p:txBody>
      </p:sp>
      <p:sp>
        <p:nvSpPr>
          <p:cNvPr id="26" name="TextBox 25"/>
          <p:cNvSpPr txBox="1"/>
          <p:nvPr/>
        </p:nvSpPr>
        <p:spPr>
          <a:xfrm>
            <a:off x="2852031" y="4109588"/>
            <a:ext cx="2700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 smtClean="0"/>
              <a:t>0</a:t>
            </a:r>
            <a:endParaRPr lang="ko-KR" altLang="en-US" b="1" dirty="0"/>
          </a:p>
        </p:txBody>
      </p:sp>
      <p:sp>
        <p:nvSpPr>
          <p:cNvPr id="27" name="TextBox 26"/>
          <p:cNvSpPr txBox="1"/>
          <p:nvPr/>
        </p:nvSpPr>
        <p:spPr>
          <a:xfrm>
            <a:off x="10101764" y="4042073"/>
            <a:ext cx="2700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1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815788093"/>
      </p:ext>
    </p:extLst>
  </p:cSld>
  <p:clrMapOvr>
    <a:masterClrMapping/>
  </p:clrMapOvr>
</p:sld>
</file>

<file path=ppt/theme/theme1.xml><?xml version="1.0" encoding="utf-8"?>
<a:theme xmlns:a="http://schemas.openxmlformats.org/drawingml/2006/main" name="HDOfficeLightV0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HDOfficeLightV0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2_HDOfficeLightV0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Crop">
  <a:themeElements>
    <a:clrScheme name="Crop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Crop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Crop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ppt/theme/theme5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TM02900720[[fn=전체]]</Template>
  <TotalTime>1312</TotalTime>
  <Words>576</Words>
  <Application>Microsoft Office PowerPoint</Application>
  <PresentationFormat>와이드스크린</PresentationFormat>
  <Paragraphs>147</Paragraphs>
  <Slides>21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4</vt:i4>
      </vt:variant>
      <vt:variant>
        <vt:lpstr>슬라이드 제목</vt:lpstr>
      </vt:variant>
      <vt:variant>
        <vt:i4>21</vt:i4>
      </vt:variant>
    </vt:vector>
  </HeadingPairs>
  <TitlesOfParts>
    <vt:vector size="33" baseType="lpstr">
      <vt:lpstr>돋움</vt:lpstr>
      <vt:lpstr>맑은 고딕</vt:lpstr>
      <vt:lpstr>Calibri</vt:lpstr>
      <vt:lpstr>Calibri Light</vt:lpstr>
      <vt:lpstr>Cambria Math</vt:lpstr>
      <vt:lpstr>Franklin Gothic Book</vt:lpstr>
      <vt:lpstr>Wingdings</vt:lpstr>
      <vt:lpstr>Wingdings 2</vt:lpstr>
      <vt:lpstr>HDOfficeLightV0</vt:lpstr>
      <vt:lpstr>1_HDOfficeLightV0</vt:lpstr>
      <vt:lpstr>2_HDOfficeLightV0</vt:lpstr>
      <vt:lpstr>Crop</vt:lpstr>
      <vt:lpstr>UART TX baud  tick 16x FSM &amp; ASM &amp;  시뮬레이션</vt:lpstr>
      <vt:lpstr>목차</vt:lpstr>
      <vt:lpstr>1. 설계 목표</vt:lpstr>
      <vt:lpstr>1. 설계 목표</vt:lpstr>
      <vt:lpstr>2. FSM</vt:lpstr>
      <vt:lpstr>3. ASM</vt:lpstr>
      <vt:lpstr>4. Module - boud tick 9600 X 16 </vt:lpstr>
      <vt:lpstr>4. Module - boud tick 9600 X 16 </vt:lpstr>
      <vt:lpstr>4. Module – uart tx</vt:lpstr>
      <vt:lpstr>4. Module – uart tx</vt:lpstr>
      <vt:lpstr>4. Module – uart tx</vt:lpstr>
      <vt:lpstr>4. Module – uart tx</vt:lpstr>
      <vt:lpstr>4. Simulation – testbench</vt:lpstr>
      <vt:lpstr>4. Simulation - boud tick 9600 X 16 </vt:lpstr>
      <vt:lpstr>4. Simulation - boud tick 9600 X 16 </vt:lpstr>
      <vt:lpstr>4. Simulation – uart tx</vt:lpstr>
      <vt:lpstr>4. Simulation – uart tx</vt:lpstr>
      <vt:lpstr>4. Simulation – uart tx</vt:lpstr>
      <vt:lpstr>4. Simulation – uart tx</vt:lpstr>
      <vt:lpstr>4. Simulation – uart tx</vt:lpstr>
      <vt:lpstr>4. Simulation – uart tx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10000 counter 10hz 시뮬레이션</dc:title>
  <dc:creator>kccistc</dc:creator>
  <cp:lastModifiedBy>kccistc</cp:lastModifiedBy>
  <cp:revision>130</cp:revision>
  <dcterms:created xsi:type="dcterms:W3CDTF">2026-01-26T09:32:19Z</dcterms:created>
  <dcterms:modified xsi:type="dcterms:W3CDTF">2026-02-10T05:44:13Z</dcterms:modified>
</cp:coreProperties>
</file>