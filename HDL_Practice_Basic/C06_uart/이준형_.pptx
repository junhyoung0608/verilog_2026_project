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26"/>
  </p:notesMasterIdLst>
  <p:sldIdLst>
    <p:sldId id="256" r:id="rId5"/>
    <p:sldId id="290" r:id="rId6"/>
    <p:sldId id="291" r:id="rId7"/>
    <p:sldId id="293" r:id="rId8"/>
    <p:sldId id="292" r:id="rId9"/>
    <p:sldId id="294" r:id="rId10"/>
    <p:sldId id="300" r:id="rId11"/>
    <p:sldId id="295" r:id="rId12"/>
    <p:sldId id="299" r:id="rId13"/>
    <p:sldId id="301" r:id="rId14"/>
    <p:sldId id="302" r:id="rId15"/>
    <p:sldId id="305" r:id="rId16"/>
    <p:sldId id="303" r:id="rId17"/>
    <p:sldId id="296" r:id="rId18"/>
    <p:sldId id="298" r:id="rId19"/>
    <p:sldId id="306" r:id="rId20"/>
    <p:sldId id="307" r:id="rId21"/>
    <p:sldId id="311" r:id="rId22"/>
    <p:sldId id="310" r:id="rId23"/>
    <p:sldId id="308" r:id="rId24"/>
    <p:sldId id="30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9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51713" y="1788454"/>
            <a:ext cx="9157318" cy="209822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UART TX baud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tick </a:t>
            </a:r>
            <a:r>
              <a:rPr lang="en-US" altLang="ko-KR" dirty="0"/>
              <a:t>16x </a:t>
            </a:r>
            <a:r>
              <a:rPr lang="en-US" altLang="ko-KR" dirty="0" smtClean="0"/>
              <a:t>FSM &amp; ASM &amp; </a:t>
            </a:r>
            <a:br>
              <a:rPr lang="en-US" altLang="ko-KR" dirty="0" smtClean="0"/>
            </a:br>
            <a:r>
              <a:rPr lang="ko-KR" altLang="en-US" dirty="0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85767" y="3886680"/>
            <a:ext cx="6831673" cy="1086237"/>
          </a:xfrm>
        </p:spPr>
        <p:txBody>
          <a:bodyPr/>
          <a:lstStyle/>
          <a:p>
            <a:pPr algn="r"/>
            <a:r>
              <a:rPr lang="en-US" altLang="ko-KR" dirty="0" smtClean="0"/>
              <a:t>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 </a:t>
            </a:r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968C-06B2-387E-6E4B-165DF20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smtClean="0"/>
              <a:t>설계 목표</a:t>
            </a:r>
            <a:endParaRPr lang="en-US" altLang="ko-KR" dirty="0" smtClean="0"/>
          </a:p>
          <a:p>
            <a:r>
              <a:rPr lang="en-US" altLang="ko-KR" dirty="0" smtClean="0"/>
              <a:t>2</a:t>
            </a:r>
            <a:r>
              <a:rPr lang="en-US" altLang="ko-KR" dirty="0"/>
              <a:t>. </a:t>
            </a:r>
            <a:r>
              <a:rPr lang="en-US" altLang="ko-KR" dirty="0" smtClean="0"/>
              <a:t>FSM</a:t>
            </a:r>
          </a:p>
          <a:p>
            <a:r>
              <a:rPr lang="en-US" altLang="ko-KR" dirty="0" smtClean="0"/>
              <a:t>3. ASM</a:t>
            </a:r>
          </a:p>
          <a:p>
            <a:r>
              <a:rPr lang="en-US" altLang="ko-KR" dirty="0" smtClean="0"/>
              <a:t>4. Module -</a:t>
            </a:r>
            <a:r>
              <a:rPr lang="en-US" altLang="ko-KR" dirty="0"/>
              <a:t> </a:t>
            </a:r>
            <a:r>
              <a:rPr lang="en-US" altLang="ko-KR" dirty="0" err="1"/>
              <a:t>boud</a:t>
            </a:r>
            <a:r>
              <a:rPr lang="en-US" altLang="ko-KR" dirty="0"/>
              <a:t> tick 9600 X </a:t>
            </a:r>
            <a:r>
              <a:rPr lang="en-US" altLang="ko-KR" dirty="0" smtClean="0"/>
              <a:t>16 </a:t>
            </a:r>
          </a:p>
          <a:p>
            <a:r>
              <a:rPr lang="en-US" altLang="ko-KR" dirty="0" smtClean="0"/>
              <a:t>5</a:t>
            </a:r>
            <a:r>
              <a:rPr lang="en-US" altLang="ko-KR" dirty="0"/>
              <a:t>. Module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dirty="0" smtClean="0"/>
          </a:p>
          <a:p>
            <a:r>
              <a:rPr lang="en-US" altLang="ko-KR" dirty="0" smtClean="0"/>
              <a:t>6.</a:t>
            </a:r>
            <a:r>
              <a:rPr lang="en-US" altLang="ko-KR" dirty="0"/>
              <a:t> </a:t>
            </a:r>
            <a:r>
              <a:rPr lang="en-US" altLang="ko-KR" dirty="0" smtClean="0"/>
              <a:t>Simulation - </a:t>
            </a:r>
            <a:r>
              <a:rPr lang="en-US" altLang="ko-KR" dirty="0" err="1" smtClean="0"/>
              <a:t>testbench</a:t>
            </a:r>
            <a:endParaRPr lang="en-US" altLang="ko-KR" dirty="0" smtClean="0"/>
          </a:p>
          <a:p>
            <a:r>
              <a:rPr lang="en-US" altLang="ko-KR" dirty="0" smtClean="0"/>
              <a:t>7. Simulation </a:t>
            </a:r>
            <a:r>
              <a:rPr lang="en-US" altLang="ko-KR" dirty="0"/>
              <a:t>- </a:t>
            </a:r>
            <a:r>
              <a:rPr lang="en-US" altLang="ko-KR" dirty="0" err="1"/>
              <a:t>boud</a:t>
            </a:r>
            <a:r>
              <a:rPr lang="en-US" altLang="ko-KR" dirty="0"/>
              <a:t> tick 9600 X </a:t>
            </a:r>
            <a:r>
              <a:rPr lang="en-US" altLang="ko-KR" dirty="0" smtClean="0"/>
              <a:t>6 </a:t>
            </a:r>
            <a:r>
              <a:rPr lang="ko-KR" altLang="en-US" dirty="0" smtClean="0"/>
              <a:t>검증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6</a:t>
            </a:r>
            <a:r>
              <a:rPr lang="en-US" altLang="ko-KR" dirty="0"/>
              <a:t>. </a:t>
            </a:r>
            <a:r>
              <a:rPr lang="en-US" altLang="ko-KR" dirty="0" smtClean="0"/>
              <a:t>Simulation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0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설계 </a:t>
            </a:r>
            <a:r>
              <a:rPr lang="ko-KR" altLang="en-US" b="1" dirty="0" smtClean="0"/>
              <a:t>목표</a:t>
            </a:r>
            <a:endParaRPr lang="ko-KR" altLang="en-US" b="1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7971692" y="1887416"/>
            <a:ext cx="3839308" cy="3581400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 smtClean="0"/>
              <a:t>UART_TX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 속도는 </a:t>
            </a:r>
            <a:r>
              <a:rPr lang="en-US" altLang="ko-KR" dirty="0" smtClean="0"/>
              <a:t>9600bps</a:t>
            </a:r>
            <a:r>
              <a:rPr lang="ko-KR" altLang="en-US" dirty="0"/>
              <a:t> </a:t>
            </a:r>
            <a:r>
              <a:rPr lang="ko-KR" altLang="en-US" dirty="0" smtClean="0"/>
              <a:t>기준으로 설계함</a:t>
            </a:r>
            <a:endParaRPr lang="en-US" altLang="ko-KR" dirty="0" smtClean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Uart_Tx</a:t>
            </a:r>
            <a:r>
              <a:rPr lang="en-US" altLang="ko-KR" dirty="0" smtClean="0"/>
              <a:t> module</a:t>
            </a:r>
            <a:r>
              <a:rPr lang="ko-KR" altLang="en-US" dirty="0" smtClean="0"/>
              <a:t>이 받는 통신 속도는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보다 빠른 </a:t>
            </a:r>
            <a:r>
              <a:rPr lang="en-US" altLang="ko-KR" dirty="0" smtClean="0"/>
              <a:t>16</a:t>
            </a:r>
            <a:r>
              <a:rPr lang="ko-KR" altLang="en-US" dirty="0" err="1" smtClean="0"/>
              <a:t>배을</a:t>
            </a:r>
            <a:r>
              <a:rPr lang="ko-KR" altLang="en-US" dirty="0" smtClean="0"/>
              <a:t> 기준으로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받아옴</a:t>
            </a:r>
            <a:endParaRPr lang="en-US" altLang="ko-KR" dirty="0" smtClean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Uart_Tx</a:t>
            </a:r>
            <a:r>
              <a:rPr lang="en-US" altLang="ko-KR" dirty="0" smtClean="0"/>
              <a:t> module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9600bps </a:t>
            </a:r>
            <a:r>
              <a:rPr lang="ko-KR" altLang="en-US" dirty="0" err="1" smtClean="0"/>
              <a:t>통신속도로</a:t>
            </a:r>
            <a:r>
              <a:rPr lang="ko-KR" altLang="en-US" dirty="0" smtClean="0"/>
              <a:t> 데이터를 출력하게 설계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5" y="2009523"/>
            <a:ext cx="653506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9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설계 </a:t>
            </a:r>
            <a:r>
              <a:rPr lang="ko-KR" altLang="en-US" b="1" dirty="0" smtClean="0"/>
              <a:t>목표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5" y="2009523"/>
            <a:ext cx="6535062" cy="3600953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658450"/>
              </p:ext>
            </p:extLst>
          </p:nvPr>
        </p:nvGraphicFramePr>
        <p:xfrm>
          <a:off x="8083060" y="2009523"/>
          <a:ext cx="351887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439">
                  <a:extLst>
                    <a:ext uri="{9D8B030D-6E8A-4147-A177-3AD203B41FA5}">
                      <a16:colId xmlns:a16="http://schemas.microsoft.com/office/drawing/2014/main" val="3162012489"/>
                    </a:ext>
                  </a:extLst>
                </a:gridCol>
                <a:gridCol w="1759439">
                  <a:extLst>
                    <a:ext uri="{9D8B030D-6E8A-4147-A177-3AD203B41FA5}">
                      <a16:colId xmlns:a16="http://schemas.microsoft.com/office/drawing/2014/main" val="1588460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I/O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8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33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Input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19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Input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tx_start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29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tx_data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96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Input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boud_tick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97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tx_data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8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97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4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231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2. FSM</a:t>
            </a:r>
            <a:endParaRPr lang="ko-KR" altLang="en-US" b="1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500" y="2209800"/>
            <a:ext cx="9105838" cy="29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0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ASM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540" y="609599"/>
            <a:ext cx="5253319" cy="578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36" y="1594339"/>
            <a:ext cx="3085341" cy="4953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160" y="2266386"/>
            <a:ext cx="4382112" cy="282932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 rot="10800000">
            <a:off x="5931876" y="3405554"/>
            <a:ext cx="668216" cy="445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64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7999" y="1905000"/>
                <a:ext cx="4050323" cy="485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counter</a:t>
                </a:r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카운팅</a:t>
                </a:r>
                <a:r>
                  <a:rPr lang="ko-KR" altLang="en-US" dirty="0" smtClean="0"/>
                  <a:t> 수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100,000,000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9600∗16</m:t>
                        </m:r>
                      </m:den>
                    </m:f>
                  </m:oMath>
                </a14:m>
                <a:r>
                  <a:rPr lang="en-US" altLang="ko-KR" dirty="0" smtClean="0"/>
                  <a:t> = 651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9" y="1905000"/>
                <a:ext cx="4050323" cy="485774"/>
              </a:xfrm>
              <a:prstGeom prst="rect">
                <a:avLst/>
              </a:prstGeom>
              <a:blipFill>
                <a:blip r:embed="rId2"/>
                <a:stretch>
                  <a:fillRect l="-1051" b="-4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336" y="1594339"/>
            <a:ext cx="3085341" cy="49530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721335" y="2866292"/>
            <a:ext cx="3085341" cy="8909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6" idx="1"/>
            <a:endCxn id="8" idx="3"/>
          </p:cNvCxnSpPr>
          <p:nvPr/>
        </p:nvCxnSpPr>
        <p:spPr>
          <a:xfrm flipH="1">
            <a:off x="5806676" y="2147887"/>
            <a:ext cx="1051323" cy="1163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7999" y="3514359"/>
            <a:ext cx="4273063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baud_tick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모듈은 </a:t>
            </a:r>
            <a:r>
              <a:rPr lang="en-US" altLang="ko-KR" dirty="0" smtClean="0"/>
              <a:t>0~650</a:t>
            </a:r>
            <a:r>
              <a:rPr lang="ko-KR" altLang="en-US" dirty="0" smtClean="0"/>
              <a:t>까지 </a:t>
            </a:r>
            <a:endParaRPr lang="en-US" altLang="ko-KR" dirty="0" smtClean="0"/>
          </a:p>
          <a:p>
            <a:r>
              <a:rPr lang="ko-KR" altLang="en-US" dirty="0" err="1" smtClean="0"/>
              <a:t>카운팅하다</a:t>
            </a:r>
            <a:r>
              <a:rPr lang="ko-KR" altLang="en-US" dirty="0" smtClean="0"/>
              <a:t>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출력함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547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87" y="1955650"/>
            <a:ext cx="4353533" cy="38962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080" y="2107819"/>
            <a:ext cx="2704504" cy="270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6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318737" y="2384530"/>
            <a:ext cx="4085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모든 </a:t>
            </a:r>
            <a:r>
              <a:rPr lang="en-US" altLang="ko-KR" dirty="0" err="1" smtClean="0"/>
              <a:t>reg</a:t>
            </a:r>
            <a:r>
              <a:rPr lang="ko-KR" altLang="en-US" dirty="0" smtClean="0"/>
              <a:t>는</a:t>
            </a:r>
            <a:r>
              <a:rPr lang="en-US" altLang="ko-KR" dirty="0"/>
              <a:t>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의해 값에 변화를 받음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963" y="1518516"/>
            <a:ext cx="3229426" cy="5087060"/>
          </a:xfrm>
          <a:prstGeom prst="rect">
            <a:avLst/>
          </a:prstGeom>
        </p:spPr>
      </p:pic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30800"/>
              </p:ext>
            </p:extLst>
          </p:nvPr>
        </p:nvGraphicFramePr>
        <p:xfrm>
          <a:off x="5900615" y="2884528"/>
          <a:ext cx="616588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85">
                  <a:extLst>
                    <a:ext uri="{9D8B030D-6E8A-4147-A177-3AD203B41FA5}">
                      <a16:colId xmlns:a16="http://schemas.microsoft.com/office/drawing/2014/main" val="2490485743"/>
                    </a:ext>
                  </a:extLst>
                </a:gridCol>
                <a:gridCol w="4294095">
                  <a:extLst>
                    <a:ext uri="{9D8B030D-6E8A-4147-A177-3AD203B41FA5}">
                      <a16:colId xmlns:a16="http://schemas.microsoft.com/office/drawing/2014/main" val="1014049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사용 목적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c_state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fms</a:t>
                      </a:r>
                      <a:r>
                        <a:rPr lang="ko-KR" altLang="en-US" dirty="0" smtClean="0"/>
                        <a:t>에 동작 구현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3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uart_tx</a:t>
                      </a:r>
                      <a:r>
                        <a:rPr lang="ko-KR" altLang="en-US" dirty="0" smtClean="0"/>
                        <a:t>로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03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bit_cnt_reg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</a:t>
                      </a:r>
                      <a:r>
                        <a:rPr lang="en-US" altLang="ko-KR" baseline="0" dirty="0" err="1" smtClean="0"/>
                        <a:t>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비트 선언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19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00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Input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err="1" smtClean="0"/>
                        <a:t>tx_data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저장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4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bt_cnt16_reg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(state !=</a:t>
                      </a:r>
                      <a:r>
                        <a:rPr lang="en-US" altLang="ko-KR" baseline="0" dirty="0" smtClean="0"/>
                        <a:t> IDLE)</a:t>
                      </a:r>
                      <a:r>
                        <a:rPr lang="ko-KR" altLang="en-US" baseline="0" dirty="0" err="1" smtClean="0"/>
                        <a:t>일때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dirty="0" err="1" smtClean="0"/>
                        <a:t>b_tick</a:t>
                      </a:r>
                      <a:r>
                        <a:rPr lang="ko-KR" altLang="en-US" dirty="0" smtClean="0"/>
                        <a:t>의 신호를</a:t>
                      </a:r>
                      <a:r>
                        <a:rPr lang="ko-KR" altLang="en-US" baseline="0" dirty="0" smtClean="0"/>
                        <a:t> 저장</a:t>
                      </a:r>
                      <a:endParaRPr lang="en-US" altLang="ko-K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83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bt_16_done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bt_cnt16_reg</a:t>
                      </a:r>
                      <a:r>
                        <a:rPr lang="ko-KR" altLang="en-US" dirty="0" smtClean="0"/>
                        <a:t>가 </a:t>
                      </a:r>
                      <a:r>
                        <a:rPr lang="en-US" altLang="ko-KR" dirty="0" smtClean="0"/>
                        <a:t>15</a:t>
                      </a:r>
                      <a:r>
                        <a:rPr lang="ko-KR" altLang="en-US" dirty="0" smtClean="0"/>
                        <a:t>일 때 다음 </a:t>
                      </a:r>
                      <a:r>
                        <a:rPr lang="en-US" altLang="ko-KR" dirty="0" err="1" smtClean="0"/>
                        <a:t>clk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95017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98" y="-12657"/>
            <a:ext cx="6061302" cy="19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4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67" y="2529036"/>
            <a:ext cx="4322787" cy="2799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1" y="2901462"/>
            <a:ext cx="662939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bt_16_done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에 의해 동작하게 설계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bt_16_done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16</a:t>
            </a:r>
            <a:r>
              <a:rPr lang="ko-KR" altLang="en-US" dirty="0" smtClean="0"/>
              <a:t>번째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알려주는 신호이기에 </a:t>
            </a:r>
            <a:endParaRPr lang="en-US" altLang="ko-KR" dirty="0" smtClean="0"/>
          </a:p>
          <a:p>
            <a:r>
              <a:rPr lang="en-US" altLang="ko-KR" dirty="0" smtClean="0"/>
              <a:t>16</a:t>
            </a:r>
            <a:r>
              <a:rPr lang="ko-KR" altLang="en-US" dirty="0" smtClean="0"/>
              <a:t>번째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bt_16_done</a:t>
            </a:r>
            <a:r>
              <a:rPr lang="ko-KR" altLang="en-US" dirty="0" smtClean="0"/>
              <a:t>간의 </a:t>
            </a:r>
            <a:r>
              <a:rPr lang="en-US" altLang="ko-KR" dirty="0" err="1" smtClean="0"/>
              <a:t>dealy</a:t>
            </a:r>
            <a:r>
              <a:rPr lang="en-US" altLang="ko-KR" dirty="0" smtClean="0"/>
              <a:t> </a:t>
            </a:r>
            <a:r>
              <a:rPr lang="ko-KR" altLang="en-US" dirty="0" smtClean="0"/>
              <a:t>발생을 하지 않게 </a:t>
            </a:r>
            <a:r>
              <a:rPr lang="en-US" altLang="ko-KR" dirty="0" smtClean="0"/>
              <a:t>CL</a:t>
            </a:r>
            <a:r>
              <a:rPr lang="ko-KR" altLang="en-US" dirty="0" smtClean="0"/>
              <a:t>설계</a:t>
            </a:r>
            <a:endParaRPr lang="en-US" altLang="ko-KR" dirty="0" smtClean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98" y="-12657"/>
            <a:ext cx="6061302" cy="19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2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698" y="-12657"/>
            <a:ext cx="6061302" cy="19469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202" y="2243908"/>
            <a:ext cx="8371598" cy="3224908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 flipV="1">
            <a:off x="5843953" y="1581554"/>
            <a:ext cx="1178170" cy="18064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44914" y="5620155"/>
            <a:ext cx="70282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 </a:t>
            </a:r>
            <a:r>
              <a:rPr lang="en-US" altLang="ko-KR" dirty="0" err="1" smtClean="0"/>
              <a:t>fsm</a:t>
            </a:r>
            <a:r>
              <a:rPr lang="ko-KR" altLang="en-US" dirty="0" smtClean="0"/>
              <a:t>을 바탕으로 동작하게 </a:t>
            </a:r>
            <a:r>
              <a:rPr lang="en-US" altLang="ko-KR" dirty="0" err="1" smtClean="0"/>
              <a:t>c_state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next_state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설계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1384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376" y="1934307"/>
            <a:ext cx="3434771" cy="4609052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25347"/>
              </p:ext>
            </p:extLst>
          </p:nvPr>
        </p:nvGraphicFramePr>
        <p:xfrm>
          <a:off x="5791197" y="2632764"/>
          <a:ext cx="6219095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208">
                  <a:extLst>
                    <a:ext uri="{9D8B030D-6E8A-4147-A177-3AD203B41FA5}">
                      <a16:colId xmlns:a16="http://schemas.microsoft.com/office/drawing/2014/main" val="1402609883"/>
                    </a:ext>
                  </a:extLst>
                </a:gridCol>
                <a:gridCol w="4340887">
                  <a:extLst>
                    <a:ext uri="{9D8B030D-6E8A-4147-A177-3AD203B41FA5}">
                      <a16:colId xmlns:a16="http://schemas.microsoft.com/office/drawing/2014/main" val="970483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36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위 </a:t>
                      </a:r>
                      <a:r>
                        <a:rPr lang="ko-KR" altLang="en-US" dirty="0" err="1" smtClean="0"/>
                        <a:t>상태도에</a:t>
                      </a:r>
                      <a:r>
                        <a:rPr lang="ko-KR" altLang="en-US" dirty="0" smtClean="0"/>
                        <a:t> 따른 </a:t>
                      </a:r>
                      <a:r>
                        <a:rPr lang="en-US" altLang="ko-KR" dirty="0" err="1" smtClean="0"/>
                        <a:t>uart_tx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r>
                        <a:rPr lang="ko-KR" altLang="en-US" baseline="0" dirty="0" smtClean="0"/>
                        <a:t> 값 제어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7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bit_cnt_next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data_in_buf_reg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err="1" smtClean="0"/>
                        <a:t>tx_data</a:t>
                      </a:r>
                      <a:r>
                        <a:rPr lang="ko-KR" altLang="en-US" dirty="0" smtClean="0"/>
                        <a:t>를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순서대로 출력하기 위한 카운터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661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IDLE </a:t>
                      </a:r>
                      <a:r>
                        <a:rPr lang="ko-KR" altLang="en-US" dirty="0" smtClean="0"/>
                        <a:t>상태가 아닐 때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 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9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STOP</a:t>
                      </a:r>
                      <a:r>
                        <a:rPr lang="en-US" altLang="ko-KR" baseline="0" dirty="0" smtClean="0"/>
                        <a:t> -&gt; IDLE</a:t>
                      </a:r>
                      <a:r>
                        <a:rPr lang="ko-KR" altLang="en-US" baseline="0" dirty="0" smtClean="0"/>
                        <a:t>로 변할 때 </a:t>
                      </a:r>
                      <a:r>
                        <a:rPr lang="en-US" altLang="ko-KR" baseline="0" dirty="0" smtClean="0"/>
                        <a:t>1</a:t>
                      </a:r>
                      <a:r>
                        <a:rPr lang="ko-KR" altLang="en-US" baseline="0" dirty="0" smtClean="0"/>
                        <a:t> 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67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IDLE </a:t>
                      </a:r>
                      <a:r>
                        <a:rPr lang="ko-KR" altLang="en-US" dirty="0" smtClean="0"/>
                        <a:t>상태일 때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tx_data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받아 들림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dirty="0" smtClean="0"/>
                        <a:t>WITE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상태일 때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저장 유지 및 </a:t>
                      </a:r>
                      <a:r>
                        <a:rPr lang="en-US" altLang="ko-KR" baseline="0" dirty="0" smtClean="0"/>
                        <a:t>DATA</a:t>
                      </a:r>
                      <a:r>
                        <a:rPr lang="ko-KR" altLang="en-US" baseline="0" dirty="0" smtClean="0"/>
                        <a:t>에서 출력을 위해 사용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495955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98" y="-12657"/>
            <a:ext cx="6061302" cy="19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7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testbench</a:t>
            </a:r>
            <a:endParaRPr lang="en-US" altLang="ko-KR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29" y="1646538"/>
            <a:ext cx="4099602" cy="50038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7678" y="2813539"/>
            <a:ext cx="5234354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 smtClean="0"/>
              <a:t>: 100Mhz</a:t>
            </a:r>
          </a:p>
          <a:p>
            <a:endParaRPr lang="en-US" altLang="ko-KR" dirty="0" smtClean="0"/>
          </a:p>
          <a:p>
            <a:r>
              <a:rPr lang="ko-KR" altLang="en-US" b="1" dirty="0"/>
              <a:t>초기값</a:t>
            </a:r>
            <a:r>
              <a:rPr lang="en-US" altLang="ko-KR" b="1" dirty="0"/>
              <a:t>: </a:t>
            </a:r>
            <a:endParaRPr lang="en-US" altLang="ko-KR" b="1" dirty="0" smtClean="0"/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=0</a:t>
            </a:r>
            <a:r>
              <a:rPr lang="en-US" altLang="ko-KR" dirty="0"/>
              <a:t>, </a:t>
            </a:r>
            <a:r>
              <a:rPr lang="en-US" altLang="ko-KR" dirty="0" err="1"/>
              <a:t>rst</a:t>
            </a:r>
            <a:r>
              <a:rPr lang="en-US" altLang="ko-KR" dirty="0"/>
              <a:t> =1, </a:t>
            </a:r>
            <a:r>
              <a:rPr lang="en-US" altLang="ko-KR" dirty="0" err="1"/>
              <a:t>btn_down</a:t>
            </a:r>
            <a:r>
              <a:rPr lang="en-US" altLang="ko-KR" dirty="0"/>
              <a:t> = </a:t>
            </a:r>
            <a:r>
              <a:rPr lang="en-US" altLang="ko-KR" dirty="0" smtClean="0"/>
              <a:t>0</a:t>
            </a:r>
          </a:p>
          <a:p>
            <a:endParaRPr lang="en-US" altLang="ko-KR" dirty="0"/>
          </a:p>
          <a:p>
            <a:r>
              <a:rPr lang="en-US" altLang="ko-KR" b="1" dirty="0" smtClean="0"/>
              <a:t>20ns(reset </a:t>
            </a:r>
            <a:r>
              <a:rPr lang="ko-KR" altLang="en-US" b="1" dirty="0" smtClean="0"/>
              <a:t>해제</a:t>
            </a:r>
            <a:r>
              <a:rPr lang="en-US" altLang="ko-KR" b="1" dirty="0" smtClean="0"/>
              <a:t>, module </a:t>
            </a:r>
            <a:r>
              <a:rPr lang="ko-KR" altLang="en-US" b="1" dirty="0" smtClean="0"/>
              <a:t>실행을 위한 버튼 동작</a:t>
            </a:r>
            <a:r>
              <a:rPr lang="en-US" altLang="ko-KR" b="1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rst</a:t>
            </a:r>
            <a:r>
              <a:rPr lang="en-US" altLang="ko-KR" dirty="0" smtClean="0"/>
              <a:t> = 0, </a:t>
            </a:r>
            <a:r>
              <a:rPr lang="en-US" altLang="ko-KR" dirty="0" err="1" smtClean="0"/>
              <a:t>btn_down</a:t>
            </a:r>
            <a:r>
              <a:rPr lang="en-US" altLang="ko-KR" dirty="0" smtClean="0"/>
              <a:t> = 1’b1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100,020ns(100,000ns </a:t>
            </a:r>
            <a:r>
              <a:rPr lang="ko-KR" altLang="en-US" b="1" dirty="0" smtClean="0"/>
              <a:t>동안 누름</a:t>
            </a:r>
            <a:r>
              <a:rPr lang="en-US" altLang="ko-KR" b="1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btn_down</a:t>
            </a:r>
            <a:r>
              <a:rPr lang="en-US" altLang="ko-KR" dirty="0" smtClean="0"/>
              <a:t> = 1’b0;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1,766,560ns(</a:t>
            </a:r>
            <a:r>
              <a:rPr lang="ko-KR" altLang="en-US" dirty="0" smtClean="0"/>
              <a:t>시뮬레이션 종료</a:t>
            </a:r>
            <a:r>
              <a:rPr lang="en-US" altLang="ko-KR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904062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35214" y="1430215"/>
            <a:ext cx="57677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 smtClean="0"/>
              <a:t>9600x 16</a:t>
            </a:r>
            <a:r>
              <a:rPr lang="ko-KR" altLang="en-US" dirty="0" smtClean="0"/>
              <a:t>배 기준으로 </a:t>
            </a:r>
            <a:r>
              <a:rPr lang="en-US" altLang="ko-KR" dirty="0" smtClean="0"/>
              <a:t>650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하고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내보는지 확인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6756"/>
            <a:ext cx="12192000" cy="23271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3800" y="5134708"/>
            <a:ext cx="26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49160" y="5319374"/>
            <a:ext cx="562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6.51us(9600bps*16) </a:t>
            </a:r>
            <a:r>
              <a:rPr lang="ko-KR" altLang="en-US" dirty="0" smtClean="0"/>
              <a:t>주기로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보낸는</a:t>
            </a:r>
            <a:r>
              <a:rPr lang="ko-KR" altLang="en-US" dirty="0" smtClean="0"/>
              <a:t> 것을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22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35214" y="1430215"/>
            <a:ext cx="57677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 smtClean="0"/>
              <a:t>9600x 16</a:t>
            </a:r>
            <a:r>
              <a:rPr lang="ko-KR" altLang="en-US" dirty="0" smtClean="0"/>
              <a:t>배 기준으로 </a:t>
            </a:r>
            <a:r>
              <a:rPr lang="en-US" altLang="ko-KR" dirty="0" smtClean="0"/>
              <a:t>650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하고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내보는지 확인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33800" y="5134708"/>
            <a:ext cx="26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63" y="2677459"/>
            <a:ext cx="9525874" cy="2355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9160" y="5319374"/>
            <a:ext cx="562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6.51us(9600bps*16) </a:t>
            </a:r>
            <a:r>
              <a:rPr lang="ko-KR" altLang="en-US" dirty="0" smtClean="0"/>
              <a:t>주기로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보낸는</a:t>
            </a:r>
            <a:r>
              <a:rPr lang="ko-KR" altLang="en-US" dirty="0" smtClean="0"/>
              <a:t> 것을 확인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3733800" y="4114801"/>
            <a:ext cx="2039815" cy="17584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5861539" y="4132385"/>
            <a:ext cx="2039815" cy="17584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173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32182" y="1357589"/>
            <a:ext cx="751449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1. 9600bps*16</a:t>
            </a:r>
            <a:r>
              <a:rPr lang="ko-KR" altLang="en-US" dirty="0" smtClean="0"/>
              <a:t>신호를 받아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내보내는지 </a:t>
            </a:r>
            <a:r>
              <a:rPr lang="ko-KR" altLang="en-US" dirty="0" err="1" smtClean="0"/>
              <a:t>내보내는지</a:t>
            </a:r>
            <a:r>
              <a:rPr lang="ko-KR" altLang="en-US" dirty="0" smtClean="0"/>
              <a:t> 확인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상태도에</a:t>
            </a:r>
            <a:r>
              <a:rPr lang="ko-KR" altLang="en-US" dirty="0" smtClean="0"/>
              <a:t> 따른 상태 변화가 정확한지 확인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상태에 따른 출력을 정상적으로 보내는지 확인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3" y="2763198"/>
            <a:ext cx="11891713" cy="32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92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r>
              <a:rPr lang="en-US" altLang="ko-KR" b="1" dirty="0" smtClean="0"/>
              <a:t>(bt_16_done)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01305" y="111369"/>
            <a:ext cx="75144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1. 9600bps*16</a:t>
            </a:r>
            <a:r>
              <a:rPr lang="ko-KR" altLang="en-US" dirty="0" smtClean="0"/>
              <a:t>신호를 받아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내보내는지 </a:t>
            </a:r>
            <a:r>
              <a:rPr lang="ko-KR" altLang="en-US" dirty="0" err="1" smtClean="0"/>
              <a:t>내보내는지</a:t>
            </a:r>
            <a:r>
              <a:rPr lang="ko-KR" altLang="en-US" dirty="0" smtClean="0"/>
              <a:t> 확인</a:t>
            </a:r>
            <a:endParaRPr lang="en-US" altLang="ko-KR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2643553" y="5246078"/>
            <a:ext cx="773723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tx_start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기점으로 상태는 </a:t>
            </a:r>
            <a:r>
              <a:rPr lang="en-US" altLang="ko-KR" dirty="0" smtClean="0"/>
              <a:t>IDLE-&gt;WITE</a:t>
            </a:r>
            <a:r>
              <a:rPr lang="ko-KR" altLang="en-US" dirty="0" smtClean="0"/>
              <a:t>로 바뀌는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WITE </a:t>
            </a:r>
            <a:r>
              <a:rPr lang="ko-KR" altLang="en-US" dirty="0" smtClean="0"/>
              <a:t>상태에서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이 들어오는 시점부터 </a:t>
            </a:r>
            <a:r>
              <a:rPr lang="en-US" altLang="ko-KR" dirty="0" smtClean="0"/>
              <a:t>16</a:t>
            </a:r>
            <a:r>
              <a:rPr lang="ko-KR" altLang="en-US" dirty="0" smtClean="0"/>
              <a:t>번 </a:t>
            </a:r>
            <a:r>
              <a:rPr lang="ko-KR" altLang="en-US" dirty="0" err="1" smtClean="0"/>
              <a:t>카운팅후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 발생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bt_16_done</a:t>
            </a:r>
            <a:r>
              <a:rPr lang="ko-KR" altLang="en-US" dirty="0" smtClean="0"/>
              <a:t>의 주기는 </a:t>
            </a:r>
            <a:r>
              <a:rPr lang="en-US" altLang="ko-KR" dirty="0" smtClean="0"/>
              <a:t>104.16us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도출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9" y="1905000"/>
            <a:ext cx="12192590" cy="2702169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>
            <a:off x="6893170" y="3256084"/>
            <a:ext cx="3722076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462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r>
              <a:rPr lang="en-US" altLang="ko-KR" b="1" dirty="0" smtClean="0"/>
              <a:t>(bt_16_done)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01305" y="111369"/>
            <a:ext cx="75144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1. 9600bps*16</a:t>
            </a:r>
            <a:r>
              <a:rPr lang="ko-KR" altLang="en-US" dirty="0" smtClean="0"/>
              <a:t>신호를 받아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내보내는지 </a:t>
            </a:r>
            <a:r>
              <a:rPr lang="ko-KR" altLang="en-US" dirty="0" err="1" smtClean="0"/>
              <a:t>내보내는지</a:t>
            </a:r>
            <a:r>
              <a:rPr lang="ko-KR" altLang="en-US" dirty="0" smtClean="0"/>
              <a:t> 확인</a:t>
            </a:r>
            <a:endParaRPr lang="en-US" altLang="ko-KR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2643552" y="5246078"/>
            <a:ext cx="79423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bt_16_done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16</a:t>
            </a:r>
            <a:r>
              <a:rPr lang="ko-KR" altLang="en-US" dirty="0" smtClean="0"/>
              <a:t>번째 </a:t>
            </a:r>
            <a:r>
              <a:rPr lang="en-US" altLang="ko-KR" dirty="0" err="1" smtClean="0"/>
              <a:t>b_tick</a:t>
            </a:r>
            <a:r>
              <a:rPr lang="en-US" altLang="ko-KR" dirty="0" smtClean="0"/>
              <a:t> </a:t>
            </a:r>
            <a:r>
              <a:rPr lang="ko-KR" altLang="en-US" dirty="0" smtClean="0"/>
              <a:t>때마다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과 동일한 시간 때에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발생 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9279"/>
            <a:ext cx="12421482" cy="192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47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c_state</a:t>
            </a:r>
            <a:r>
              <a:rPr lang="en-US" altLang="ko-KR" b="1" dirty="0" smtClean="0"/>
              <a:t>)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13028" y="39469"/>
            <a:ext cx="75144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2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상태도에</a:t>
            </a:r>
            <a:r>
              <a:rPr lang="ko-KR" altLang="en-US" dirty="0" smtClean="0"/>
              <a:t> 따른 상태 변화가 정확한지 </a:t>
            </a:r>
            <a:r>
              <a:rPr lang="ko-KR" altLang="en-US" dirty="0" smtClean="0"/>
              <a:t>확인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16" y="2864394"/>
            <a:ext cx="11684253" cy="2492598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H="1">
            <a:off x="3757238" y="2851047"/>
            <a:ext cx="31099" cy="109617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4513380" y="2839388"/>
            <a:ext cx="13514" cy="110782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5242003" y="2851111"/>
            <a:ext cx="4070" cy="109610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>
            <a:off x="6027447" y="2868694"/>
            <a:ext cx="21657" cy="107852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6775934" y="2851110"/>
            <a:ext cx="1" cy="109610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7469802" y="2868694"/>
            <a:ext cx="11722" cy="107852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8196640" y="2839387"/>
            <a:ext cx="11715" cy="11078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8970352" y="2851109"/>
            <a:ext cx="11730" cy="105507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9697190" y="2839384"/>
            <a:ext cx="8" cy="106680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10445681" y="2839383"/>
            <a:ext cx="13506" cy="106680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11186025" y="2786629"/>
            <a:ext cx="8" cy="11195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33325" y="2429777"/>
            <a:ext cx="91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WITE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962756" y="2438626"/>
            <a:ext cx="11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START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036888" y="2438626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[0]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990381" y="2447023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[4]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842472" y="2438626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[1]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241926" y="2448199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[3]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538541" y="2448199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[2]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8775817" y="2447023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[5]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483802" y="2430217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[6]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0239214" y="2436073"/>
            <a:ext cx="4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[7]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728680" y="2404792"/>
            <a:ext cx="868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mtClean="0"/>
              <a:t>STOP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7276390" y="1702740"/>
            <a:ext cx="116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DATA</a:t>
            </a:r>
            <a:endParaRPr lang="ko-KR" altLang="en-US" dirty="0"/>
          </a:p>
        </p:txBody>
      </p:sp>
      <p:sp>
        <p:nvSpPr>
          <p:cNvPr id="71" name="오른쪽 중괄호 70"/>
          <p:cNvSpPr/>
          <p:nvPr/>
        </p:nvSpPr>
        <p:spPr>
          <a:xfrm rot="16200000">
            <a:off x="7646142" y="-331705"/>
            <a:ext cx="404446" cy="519463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2631828" y="5692547"/>
            <a:ext cx="79423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c_state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bt_16_done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WIT-&gt;START-&gt;DATA-&gt;STOP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78798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77305" y="1430215"/>
            <a:ext cx="751449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1. 9600bps*16</a:t>
            </a:r>
            <a:r>
              <a:rPr lang="ko-KR" altLang="en-US" dirty="0" smtClean="0"/>
              <a:t>신호를 받아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내보내는지 </a:t>
            </a:r>
            <a:r>
              <a:rPr lang="ko-KR" altLang="en-US" dirty="0" err="1" smtClean="0"/>
              <a:t>내보내는지</a:t>
            </a:r>
            <a:r>
              <a:rPr lang="ko-KR" altLang="en-US" dirty="0" smtClean="0"/>
              <a:t> 확인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상태도에</a:t>
            </a:r>
            <a:r>
              <a:rPr lang="ko-KR" altLang="en-US" dirty="0" smtClean="0"/>
              <a:t> 따른 상태 변화가 정확한지 확인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상태에 따른 출력을 정상적으로 보내는지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4828643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1272</TotalTime>
  <Words>621</Words>
  <Application>Microsoft Office PowerPoint</Application>
  <PresentationFormat>와이드스크린</PresentationFormat>
  <Paragraphs>145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돋움</vt:lpstr>
      <vt:lpstr>맑은 고딕</vt:lpstr>
      <vt:lpstr>Calibri</vt:lpstr>
      <vt:lpstr>Calibri Light</vt:lpstr>
      <vt:lpstr>Cambria Math</vt:lpstr>
      <vt:lpstr>Franklin Gothic Book</vt:lpstr>
      <vt:lpstr>Wingdings 2</vt:lpstr>
      <vt:lpstr>HDOfficeLightV0</vt:lpstr>
      <vt:lpstr>1_HDOfficeLightV0</vt:lpstr>
      <vt:lpstr>2_HDOfficeLightV0</vt:lpstr>
      <vt:lpstr>Crop</vt:lpstr>
      <vt:lpstr>UART TX baud  tick 16x FSM &amp; ASM &amp;  시뮬레이션</vt:lpstr>
      <vt:lpstr>목차</vt:lpstr>
      <vt:lpstr>1. 설계 목표</vt:lpstr>
      <vt:lpstr>1. 설계 목표</vt:lpstr>
      <vt:lpstr>2. FSM</vt:lpstr>
      <vt:lpstr>3. ASM</vt:lpstr>
      <vt:lpstr>4. Module - boud tick 9600 X 16 </vt:lpstr>
      <vt:lpstr>4. Module - boud tick 9600 X 16 </vt:lpstr>
      <vt:lpstr>4. Module – uart tx</vt:lpstr>
      <vt:lpstr>4. Module – uart tx</vt:lpstr>
      <vt:lpstr>4. Module – uart tx</vt:lpstr>
      <vt:lpstr>4. Module – uart tx</vt:lpstr>
      <vt:lpstr>4. Module – uart tx</vt:lpstr>
      <vt:lpstr>4. Simulation – testbench</vt:lpstr>
      <vt:lpstr>4. Simulation - boud tick 9600 X 16 </vt:lpstr>
      <vt:lpstr>4. Simulation - boud tick 9600 X 16 </vt:lpstr>
      <vt:lpstr>4. Simulation – uart tx</vt:lpstr>
      <vt:lpstr>4. Simulation – uart tx(bt_16_done)</vt:lpstr>
      <vt:lpstr>4. Simulation – uart tx(bt_16_done)</vt:lpstr>
      <vt:lpstr>4. Simulation – uart tx(c_state)</vt:lpstr>
      <vt:lpstr>4. Simulation – uart 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121</cp:revision>
  <dcterms:created xsi:type="dcterms:W3CDTF">2026-01-26T09:32:19Z</dcterms:created>
  <dcterms:modified xsi:type="dcterms:W3CDTF">2026-02-06T02:11:32Z</dcterms:modified>
</cp:coreProperties>
</file>