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3" r:id="rId4"/>
    <p:sldId id="264" r:id="rId5"/>
    <p:sldId id="257" r:id="rId6"/>
    <p:sldId id="265" r:id="rId7"/>
    <p:sldId id="258" r:id="rId8"/>
    <p:sldId id="262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443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95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119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6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335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883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04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7574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960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64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878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485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FSM Moore</a:t>
            </a:r>
            <a:br>
              <a:rPr lang="en-US" altLang="ko-KR" dirty="0" smtClean="0"/>
            </a:br>
            <a:r>
              <a:rPr lang="ko-KR" altLang="en-US" dirty="0" smtClean="0"/>
              <a:t>시뮬레이션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ko-KR" dirty="0" smtClean="0"/>
              <a:t>AI </a:t>
            </a:r>
            <a:r>
              <a:rPr lang="ko-KR" altLang="en-US" dirty="0" err="1" smtClean="0"/>
              <a:t>온디바이스</a:t>
            </a:r>
            <a:r>
              <a:rPr lang="ko-KR" altLang="en-US" dirty="0" smtClean="0"/>
              <a:t> 이준형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0381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module </a:t>
            </a:r>
            <a:r>
              <a:rPr lang="ko-KR" altLang="en-US" dirty="0" smtClean="0"/>
              <a:t>설계 목표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56763" y="2939144"/>
            <a:ext cx="3776354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설계 목표</a:t>
            </a:r>
            <a:r>
              <a:rPr lang="en-US" altLang="ko-KR" dirty="0" smtClean="0"/>
              <a:t>:</a:t>
            </a:r>
          </a:p>
          <a:p>
            <a:r>
              <a:rPr lang="en-US" altLang="ko-KR" dirty="0" err="1" smtClean="0"/>
              <a:t>moore</a:t>
            </a:r>
            <a:r>
              <a:rPr lang="en-US" altLang="ko-KR" dirty="0"/>
              <a:t> </a:t>
            </a:r>
            <a:r>
              <a:rPr lang="en-US" altLang="ko-KR" dirty="0" smtClean="0"/>
              <a:t>machine</a:t>
            </a:r>
            <a:r>
              <a:rPr lang="ko-KR" altLang="en-US" dirty="0" smtClean="0"/>
              <a:t>으로</a:t>
            </a:r>
            <a:endParaRPr lang="en-US" altLang="ko-KR" dirty="0" smtClean="0"/>
          </a:p>
          <a:p>
            <a:r>
              <a:rPr lang="en-US" altLang="ko-KR" dirty="0" smtClean="0"/>
              <a:t>sw</a:t>
            </a:r>
            <a:r>
              <a:rPr lang="ko-KR" altLang="en-US" dirty="0" smtClean="0"/>
              <a:t>신호에 따라 </a:t>
            </a:r>
            <a:r>
              <a:rPr lang="en-US" altLang="ko-KR" dirty="0" smtClean="0"/>
              <a:t>LED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on/off </a:t>
            </a:r>
            <a:r>
              <a:rPr lang="ko-KR" altLang="en-US" dirty="0" smtClean="0"/>
              <a:t>설계</a:t>
            </a:r>
            <a:endParaRPr lang="en-US" altLang="ko-KR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281" y="1611081"/>
            <a:ext cx="3038899" cy="214342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829" y="4690221"/>
            <a:ext cx="4324954" cy="1362265"/>
          </a:xfrm>
          <a:prstGeom prst="rect">
            <a:avLst/>
          </a:prstGeom>
        </p:spPr>
      </p:pic>
      <p:sp>
        <p:nvSpPr>
          <p:cNvPr id="14" name="위로 구부러진 화살표 13"/>
          <p:cNvSpPr/>
          <p:nvPr/>
        </p:nvSpPr>
        <p:spPr>
          <a:xfrm rot="10800000" flipH="1">
            <a:off x="2363189" y="4356846"/>
            <a:ext cx="2372658" cy="510977"/>
          </a:xfrm>
          <a:prstGeom prst="curved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위로 구부러진 화살표 14"/>
          <p:cNvSpPr/>
          <p:nvPr/>
        </p:nvSpPr>
        <p:spPr>
          <a:xfrm flipH="1">
            <a:off x="2291977" y="5859929"/>
            <a:ext cx="2372658" cy="510977"/>
          </a:xfrm>
          <a:prstGeom prst="curved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위로 구부러진 화살표 15"/>
          <p:cNvSpPr/>
          <p:nvPr/>
        </p:nvSpPr>
        <p:spPr>
          <a:xfrm rot="16200000" flipH="1">
            <a:off x="5530629" y="5115864"/>
            <a:ext cx="619765" cy="510977"/>
          </a:xfrm>
          <a:prstGeom prst="curved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위로 구부러진 화살표 16"/>
          <p:cNvSpPr/>
          <p:nvPr/>
        </p:nvSpPr>
        <p:spPr>
          <a:xfrm rot="5400000" flipH="1">
            <a:off x="946670" y="5065064"/>
            <a:ext cx="619765" cy="510977"/>
          </a:xfrm>
          <a:prstGeom prst="curved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05953" y="3969536"/>
            <a:ext cx="1344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 smtClean="0"/>
              <a:t>sw</a:t>
            </a:r>
            <a:r>
              <a:rPr lang="en-US" altLang="ko-KR" dirty="0" smtClean="0"/>
              <a:t>=1</a:t>
            </a:r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877164" y="6346974"/>
            <a:ext cx="1344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 smtClean="0"/>
              <a:t>sw</a:t>
            </a:r>
            <a:r>
              <a:rPr lang="en-US" altLang="ko-KR" dirty="0" smtClean="0"/>
              <a:t>=0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781235" y="5135886"/>
            <a:ext cx="1344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 smtClean="0"/>
              <a:t>sw</a:t>
            </a:r>
            <a:r>
              <a:rPr lang="en-US" altLang="ko-KR" dirty="0" smtClean="0"/>
              <a:t>=1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9953" y="5135886"/>
            <a:ext cx="1344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 smtClean="0"/>
              <a:t>sw</a:t>
            </a:r>
            <a:r>
              <a:rPr lang="en-US" altLang="ko-KR" dirty="0" smtClean="0"/>
              <a:t>=0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0546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module </a:t>
            </a:r>
            <a:r>
              <a:rPr lang="ko-KR" altLang="en-US" dirty="0" smtClean="0"/>
              <a:t>설계 목표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56763" y="2939144"/>
            <a:ext cx="3776354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S0(LED off) : </a:t>
            </a:r>
          </a:p>
          <a:p>
            <a:r>
              <a:rPr lang="en-US" altLang="ko-KR" dirty="0" smtClean="0"/>
              <a:t>sw = 0 </a:t>
            </a:r>
            <a:r>
              <a:rPr lang="ko-KR" altLang="en-US" dirty="0" smtClean="0"/>
              <a:t>일 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상태 유지</a:t>
            </a:r>
            <a:endParaRPr lang="en-US" altLang="ko-KR" dirty="0" smtClean="0"/>
          </a:p>
          <a:p>
            <a:r>
              <a:rPr lang="en-US" altLang="ko-KR" dirty="0" smtClean="0"/>
              <a:t>sw = 1 </a:t>
            </a:r>
            <a:r>
              <a:rPr lang="ko-KR" altLang="en-US" dirty="0" smtClean="0"/>
              <a:t>일 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상태 </a:t>
            </a:r>
            <a:r>
              <a:rPr lang="en-US" altLang="ko-KR" dirty="0" smtClean="0"/>
              <a:t>S1</a:t>
            </a:r>
            <a:r>
              <a:rPr lang="ko-KR" altLang="en-US" dirty="0" smtClean="0"/>
              <a:t>으로 변경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S1(LED on) </a:t>
            </a:r>
            <a:r>
              <a:rPr lang="en-US" altLang="ko-KR" dirty="0"/>
              <a:t>: </a:t>
            </a:r>
          </a:p>
          <a:p>
            <a:r>
              <a:rPr lang="en-US" altLang="ko-KR" dirty="0" smtClean="0"/>
              <a:t>sw = 0 </a:t>
            </a:r>
            <a:r>
              <a:rPr lang="ko-KR" altLang="en-US" dirty="0" smtClean="0"/>
              <a:t>일 때</a:t>
            </a:r>
            <a:r>
              <a:rPr lang="en-US" altLang="ko-KR" dirty="0" smtClean="0"/>
              <a:t>, </a:t>
            </a:r>
            <a:r>
              <a:rPr lang="ko-KR" altLang="en-US" dirty="0"/>
              <a:t>상태 </a:t>
            </a:r>
            <a:r>
              <a:rPr lang="en-US" altLang="ko-KR" dirty="0"/>
              <a:t>S1</a:t>
            </a:r>
            <a:r>
              <a:rPr lang="ko-KR" altLang="en-US" dirty="0"/>
              <a:t>으로 변경</a:t>
            </a:r>
            <a:endParaRPr lang="en-US" altLang="ko-KR" dirty="0"/>
          </a:p>
          <a:p>
            <a:r>
              <a:rPr lang="en-US" altLang="ko-KR" dirty="0" smtClean="0"/>
              <a:t>sw </a:t>
            </a:r>
            <a:r>
              <a:rPr lang="en-US" altLang="ko-KR" dirty="0"/>
              <a:t>= 1 </a:t>
            </a:r>
            <a:r>
              <a:rPr lang="ko-KR" altLang="en-US" dirty="0"/>
              <a:t>일 때</a:t>
            </a:r>
            <a:r>
              <a:rPr lang="en-US" altLang="ko-KR" dirty="0"/>
              <a:t>, </a:t>
            </a:r>
            <a:r>
              <a:rPr lang="ko-KR" altLang="en-US" dirty="0" smtClean="0"/>
              <a:t>상태 유지</a:t>
            </a:r>
            <a:endParaRPr lang="en-US" altLang="ko-KR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281" y="1611081"/>
            <a:ext cx="3038899" cy="214342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829" y="4690221"/>
            <a:ext cx="4324954" cy="1362265"/>
          </a:xfrm>
          <a:prstGeom prst="rect">
            <a:avLst/>
          </a:prstGeom>
        </p:spPr>
      </p:pic>
      <p:sp>
        <p:nvSpPr>
          <p:cNvPr id="14" name="위로 구부러진 화살표 13"/>
          <p:cNvSpPr/>
          <p:nvPr/>
        </p:nvSpPr>
        <p:spPr>
          <a:xfrm rot="10800000" flipH="1">
            <a:off x="2363189" y="4356846"/>
            <a:ext cx="2372658" cy="510977"/>
          </a:xfrm>
          <a:prstGeom prst="curved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위로 구부러진 화살표 14"/>
          <p:cNvSpPr/>
          <p:nvPr/>
        </p:nvSpPr>
        <p:spPr>
          <a:xfrm flipH="1">
            <a:off x="2291977" y="5859929"/>
            <a:ext cx="2372658" cy="510977"/>
          </a:xfrm>
          <a:prstGeom prst="curved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위로 구부러진 화살표 15"/>
          <p:cNvSpPr/>
          <p:nvPr/>
        </p:nvSpPr>
        <p:spPr>
          <a:xfrm rot="16200000" flipH="1">
            <a:off x="5530629" y="5115864"/>
            <a:ext cx="619765" cy="510977"/>
          </a:xfrm>
          <a:prstGeom prst="curved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위로 구부러진 화살표 16"/>
          <p:cNvSpPr/>
          <p:nvPr/>
        </p:nvSpPr>
        <p:spPr>
          <a:xfrm rot="5400000" flipH="1">
            <a:off x="946670" y="5065064"/>
            <a:ext cx="619765" cy="510977"/>
          </a:xfrm>
          <a:prstGeom prst="curved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05953" y="3969536"/>
            <a:ext cx="1344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sw=1</a:t>
            </a:r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877164" y="6346974"/>
            <a:ext cx="1344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sw=0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781235" y="5135886"/>
            <a:ext cx="1344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sw=1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9953" y="5135886"/>
            <a:ext cx="1344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sw=0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993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code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489867" y="4171207"/>
            <a:ext cx="2149433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Input:</a:t>
            </a:r>
          </a:p>
          <a:p>
            <a:pPr lvl="1"/>
            <a:r>
              <a:rPr lang="en-US" altLang="ko-KR" dirty="0" err="1" smtClean="0"/>
              <a:t>clk</a:t>
            </a:r>
            <a:r>
              <a:rPr lang="en-US" altLang="ko-KR" dirty="0" smtClean="0"/>
              <a:t>,</a:t>
            </a:r>
          </a:p>
          <a:p>
            <a:pPr lvl="1"/>
            <a:r>
              <a:rPr lang="en-US" altLang="ko-KR" dirty="0" smtClean="0"/>
              <a:t>reset</a:t>
            </a:r>
          </a:p>
          <a:p>
            <a:pPr lvl="1"/>
            <a:r>
              <a:rPr lang="en-US" altLang="ko-KR" dirty="0" smtClean="0"/>
              <a:t>sw</a:t>
            </a:r>
            <a:endParaRPr lang="en-US" altLang="ko-KR" dirty="0" smtClean="0"/>
          </a:p>
          <a:p>
            <a:r>
              <a:rPr lang="en-US" altLang="ko-KR" dirty="0" smtClean="0"/>
              <a:t>Output:</a:t>
            </a:r>
          </a:p>
          <a:p>
            <a:pPr lvl="1"/>
            <a:r>
              <a:rPr lang="en-US" altLang="ko-KR" dirty="0" smtClean="0"/>
              <a:t>led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363" y="1533068"/>
            <a:ext cx="5119140" cy="204312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377" y="1454727"/>
            <a:ext cx="2384265" cy="497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923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77" y="1454727"/>
            <a:ext cx="2384265" cy="497636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100" y="1803644"/>
            <a:ext cx="3729727" cy="148859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code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942854" y="1690688"/>
            <a:ext cx="173355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mtClean="0"/>
              <a:t>state </a:t>
            </a:r>
            <a:r>
              <a:rPr lang="ko-KR" altLang="en-US" dirty="0" smtClean="0"/>
              <a:t>정의하기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54473" y="2834589"/>
            <a:ext cx="465488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현재 </a:t>
            </a:r>
            <a:r>
              <a:rPr lang="en-US" altLang="ko-KR" dirty="0" smtClean="0"/>
              <a:t>state </a:t>
            </a:r>
            <a:r>
              <a:rPr lang="ko-KR" altLang="en-US" dirty="0" smtClean="0"/>
              <a:t>따라</a:t>
            </a:r>
            <a:r>
              <a:rPr lang="ko-KR" altLang="en-US" dirty="0" smtClean="0"/>
              <a:t> 다음 </a:t>
            </a:r>
            <a:r>
              <a:rPr lang="en-US" altLang="ko-KR" dirty="0" smtClean="0"/>
              <a:t>state</a:t>
            </a:r>
            <a:r>
              <a:rPr lang="ko-KR" altLang="en-US" dirty="0" smtClean="0"/>
              <a:t>로 동작하기 위한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ko-KR" altLang="en-US" dirty="0" smtClean="0"/>
              <a:t>변수</a:t>
            </a:r>
            <a:r>
              <a:rPr lang="en-US" altLang="ko-KR" dirty="0" err="1" smtClean="0"/>
              <a:t>currnet_state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next_state</a:t>
            </a:r>
            <a:r>
              <a:rPr lang="ko-KR" altLang="en-US" dirty="0" smtClean="0"/>
              <a:t> 정의</a:t>
            </a:r>
            <a:endParaRPr lang="en-US" altLang="ko-KR" dirty="0" smtClean="0"/>
          </a:p>
        </p:txBody>
      </p:sp>
      <p:sp>
        <p:nvSpPr>
          <p:cNvPr id="9" name="직사각형 8"/>
          <p:cNvSpPr/>
          <p:nvPr/>
        </p:nvSpPr>
        <p:spPr>
          <a:xfrm>
            <a:off x="1005341" y="2452248"/>
            <a:ext cx="2338057" cy="2404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005341" y="2692663"/>
            <a:ext cx="2338057" cy="3533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>
            <a:stCxn id="9" idx="3"/>
            <a:endCxn id="5" idx="1"/>
          </p:cNvCxnSpPr>
          <p:nvPr/>
        </p:nvCxnSpPr>
        <p:spPr>
          <a:xfrm flipV="1">
            <a:off x="3343398" y="1875354"/>
            <a:ext cx="599456" cy="6971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10" idx="3"/>
            <a:endCxn id="8" idx="1"/>
          </p:cNvCxnSpPr>
          <p:nvPr/>
        </p:nvCxnSpPr>
        <p:spPr>
          <a:xfrm>
            <a:off x="3343398" y="2869339"/>
            <a:ext cx="511075" cy="288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3766457" y="4188699"/>
            <a:ext cx="5122224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reset </a:t>
            </a:r>
            <a:r>
              <a:rPr lang="ko-KR" altLang="en-US" dirty="0"/>
              <a:t>입력 시 </a:t>
            </a:r>
            <a:r>
              <a:rPr lang="en-US" altLang="ko-KR" dirty="0" err="1"/>
              <a:t>currnet_state</a:t>
            </a:r>
            <a:r>
              <a:rPr lang="ko-KR" altLang="en-US" dirty="0"/>
              <a:t>를 </a:t>
            </a:r>
            <a:r>
              <a:rPr lang="en-US" altLang="ko-KR" dirty="0"/>
              <a:t>S0</a:t>
            </a:r>
            <a:r>
              <a:rPr lang="ko-KR" altLang="en-US" dirty="0"/>
              <a:t>로 초기화</a:t>
            </a:r>
            <a:endParaRPr lang="en-US" altLang="ko-KR" dirty="0"/>
          </a:p>
          <a:p>
            <a:r>
              <a:rPr lang="en-US" altLang="ko-KR" dirty="0"/>
              <a:t>positive </a:t>
            </a:r>
            <a:r>
              <a:rPr lang="en-US" altLang="ko-KR" dirty="0" err="1"/>
              <a:t>clk</a:t>
            </a:r>
            <a:r>
              <a:rPr lang="ko-KR" altLang="en-US" dirty="0"/>
              <a:t>에 </a:t>
            </a:r>
            <a:r>
              <a:rPr lang="en-US" altLang="ko-KR" dirty="0" err="1"/>
              <a:t>next_state</a:t>
            </a:r>
            <a:r>
              <a:rPr lang="ko-KR" altLang="en-US" dirty="0"/>
              <a:t>는 </a:t>
            </a:r>
            <a:r>
              <a:rPr lang="en-US" altLang="ko-KR" dirty="0" err="1"/>
              <a:t>currnet_state</a:t>
            </a:r>
            <a:r>
              <a:rPr lang="ko-KR" altLang="en-US" dirty="0" smtClean="0"/>
              <a:t>로 변경</a:t>
            </a:r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985621" y="3044932"/>
            <a:ext cx="2357777" cy="9511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/>
          <p:cNvCxnSpPr>
            <a:stCxn id="22" idx="3"/>
            <a:endCxn id="21" idx="1"/>
          </p:cNvCxnSpPr>
          <p:nvPr/>
        </p:nvCxnSpPr>
        <p:spPr>
          <a:xfrm>
            <a:off x="3343398" y="3520486"/>
            <a:ext cx="423059" cy="9913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8765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77" y="1454727"/>
            <a:ext cx="2384265" cy="497636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287" y="1803644"/>
            <a:ext cx="3729727" cy="148859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code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3873334" y="3585589"/>
            <a:ext cx="6523513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 err="1" smtClean="0"/>
              <a:t>currnet_state</a:t>
            </a:r>
            <a:r>
              <a:rPr lang="ko-KR" altLang="en-US" dirty="0" smtClean="0"/>
              <a:t>은 </a:t>
            </a:r>
            <a:r>
              <a:rPr lang="en-US" altLang="ko-KR" dirty="0" err="1" smtClean="0"/>
              <a:t>next_state</a:t>
            </a:r>
            <a:r>
              <a:rPr lang="ko-KR" altLang="en-US" dirty="0" smtClean="0"/>
              <a:t>로 변경</a:t>
            </a:r>
            <a:endParaRPr lang="en-US" altLang="ko-KR" dirty="0" smtClean="0"/>
          </a:p>
          <a:p>
            <a:r>
              <a:rPr lang="ko-KR" altLang="en-US" dirty="0" smtClean="0"/>
              <a:t>하위 </a:t>
            </a:r>
            <a:r>
              <a:rPr lang="en-US" altLang="ko-KR" dirty="0" smtClean="0"/>
              <a:t>case</a:t>
            </a:r>
            <a:r>
              <a:rPr lang="ko-KR" altLang="en-US" dirty="0" smtClean="0"/>
              <a:t>문의 조건에 맞지 않을 시 상태 유지하기 위한 </a:t>
            </a:r>
            <a:r>
              <a:rPr lang="en-US" altLang="ko-KR" dirty="0" smtClean="0"/>
              <a:t>code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r>
              <a:rPr lang="en-US" altLang="ko-KR" dirty="0" smtClean="0"/>
              <a:t>-------------------------------------------------------------------</a:t>
            </a:r>
          </a:p>
          <a:p>
            <a:r>
              <a:rPr lang="en-US" altLang="ko-KR" dirty="0" err="1" smtClean="0"/>
              <a:t>currnet_state</a:t>
            </a:r>
            <a:r>
              <a:rPr lang="en-US" altLang="ko-KR" dirty="0" smtClean="0"/>
              <a:t> == S0:</a:t>
            </a:r>
          </a:p>
          <a:p>
            <a:pPr lvl="1"/>
            <a:r>
              <a:rPr lang="en-US" altLang="ko-KR" dirty="0" smtClean="0"/>
              <a:t>sw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1‘b1</a:t>
            </a:r>
            <a:r>
              <a:rPr lang="ko-KR" altLang="en-US" dirty="0" smtClean="0"/>
              <a:t>이면</a:t>
            </a:r>
            <a:r>
              <a:rPr lang="en-US" altLang="ko-KR" dirty="0"/>
              <a:t> </a:t>
            </a:r>
            <a:r>
              <a:rPr lang="en-US" altLang="ko-KR" dirty="0" err="1" smtClean="0"/>
              <a:t>next_state</a:t>
            </a:r>
            <a:r>
              <a:rPr lang="ko-KR" altLang="en-US" dirty="0" smtClean="0"/>
              <a:t>는 상태 </a:t>
            </a:r>
            <a:r>
              <a:rPr lang="en-US" altLang="ko-KR" dirty="0" smtClean="0"/>
              <a:t>S1</a:t>
            </a:r>
            <a:r>
              <a:rPr lang="ko-KR" altLang="en-US" dirty="0" smtClean="0"/>
              <a:t>로 변경</a:t>
            </a:r>
            <a:endParaRPr lang="en-US" altLang="ko-KR" dirty="0" smtClean="0"/>
          </a:p>
          <a:p>
            <a:r>
              <a:rPr lang="en-US" altLang="ko-KR" dirty="0" err="1"/>
              <a:t>currnet_state</a:t>
            </a:r>
            <a:r>
              <a:rPr lang="en-US" altLang="ko-KR" dirty="0"/>
              <a:t> == </a:t>
            </a:r>
            <a:r>
              <a:rPr lang="en-US" altLang="ko-KR" dirty="0" smtClean="0"/>
              <a:t>S1:</a:t>
            </a:r>
          </a:p>
          <a:p>
            <a:pPr marL="457200" lvl="2"/>
            <a:r>
              <a:rPr lang="en-US" altLang="ko-KR" dirty="0"/>
              <a:t>sw</a:t>
            </a:r>
            <a:r>
              <a:rPr lang="ko-KR" altLang="en-US" dirty="0"/>
              <a:t>가 </a:t>
            </a:r>
            <a:r>
              <a:rPr lang="en-US" altLang="ko-KR" dirty="0" smtClean="0"/>
              <a:t>1‘b0</a:t>
            </a:r>
            <a:r>
              <a:rPr lang="ko-KR" altLang="en-US" dirty="0" smtClean="0"/>
              <a:t>이면</a:t>
            </a:r>
            <a:r>
              <a:rPr lang="en-US" altLang="ko-KR" dirty="0" smtClean="0"/>
              <a:t> </a:t>
            </a:r>
            <a:r>
              <a:rPr lang="en-US" altLang="ko-KR" dirty="0" err="1"/>
              <a:t>next_state</a:t>
            </a:r>
            <a:r>
              <a:rPr lang="ko-KR" altLang="en-US" dirty="0"/>
              <a:t>는 상태 </a:t>
            </a:r>
            <a:r>
              <a:rPr lang="en-US" altLang="ko-KR" dirty="0" smtClean="0"/>
              <a:t>S0</a:t>
            </a:r>
            <a:r>
              <a:rPr lang="ko-KR" altLang="en-US" dirty="0" smtClean="0"/>
              <a:t>로 변경</a:t>
            </a:r>
            <a:endParaRPr lang="en-US" altLang="ko-KR" dirty="0"/>
          </a:p>
        </p:txBody>
      </p:sp>
      <p:sp>
        <p:nvSpPr>
          <p:cNvPr id="22" name="직사각형 21"/>
          <p:cNvSpPr/>
          <p:nvPr/>
        </p:nvSpPr>
        <p:spPr>
          <a:xfrm>
            <a:off x="985621" y="4119655"/>
            <a:ext cx="2357777" cy="18417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/>
          <p:cNvCxnSpPr>
            <a:stCxn id="22" idx="3"/>
            <a:endCxn id="21" idx="1"/>
          </p:cNvCxnSpPr>
          <p:nvPr/>
        </p:nvCxnSpPr>
        <p:spPr>
          <a:xfrm flipV="1">
            <a:off x="3343398" y="4601252"/>
            <a:ext cx="529936" cy="4392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304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 - </a:t>
            </a:r>
            <a:r>
              <a:rPr lang="en-US" altLang="ko-KR" dirty="0" err="1" smtClean="0"/>
              <a:t>testbench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348774" y="3185079"/>
            <a:ext cx="5885283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smtClean="0"/>
              <a:t>S0 </a:t>
            </a:r>
            <a:r>
              <a:rPr lang="ko-KR" altLang="en-US" dirty="0" smtClean="0"/>
              <a:t>상태에서 </a:t>
            </a:r>
            <a:r>
              <a:rPr lang="en-US" altLang="ko-KR" dirty="0" smtClean="0"/>
              <a:t>sw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0</a:t>
            </a:r>
            <a:r>
              <a:rPr lang="ko-KR" altLang="en-US" dirty="0" smtClean="0"/>
              <a:t>일 때 상태가 유지 되는지 확인</a:t>
            </a:r>
            <a:endParaRPr lang="en-US" altLang="ko-KR" dirty="0" smtClean="0"/>
          </a:p>
          <a:p>
            <a:pPr marL="342900" indent="-342900">
              <a:buFontTx/>
              <a:buAutoNum type="arabicPeriod"/>
            </a:pPr>
            <a:r>
              <a:rPr lang="en-US" altLang="ko-KR" dirty="0"/>
              <a:t>S0 </a:t>
            </a:r>
            <a:r>
              <a:rPr lang="ko-KR" altLang="en-US" dirty="0"/>
              <a:t>상태에서 </a:t>
            </a:r>
            <a:r>
              <a:rPr lang="en-US" altLang="ko-KR" dirty="0"/>
              <a:t>sw</a:t>
            </a:r>
            <a:r>
              <a:rPr lang="ko-KR" altLang="en-US" dirty="0"/>
              <a:t>가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</a:t>
            </a:r>
            <a:r>
              <a:rPr lang="ko-KR" altLang="en-US" dirty="0"/>
              <a:t>때 상태가 </a:t>
            </a:r>
            <a:r>
              <a:rPr lang="en-US" altLang="ko-KR" dirty="0" smtClean="0"/>
              <a:t>S1</a:t>
            </a:r>
            <a:r>
              <a:rPr lang="ko-KR" altLang="en-US" dirty="0" smtClean="0"/>
              <a:t> </a:t>
            </a:r>
            <a:r>
              <a:rPr lang="ko-KR" altLang="en-US" dirty="0"/>
              <a:t>되는지 확인</a:t>
            </a:r>
            <a:endParaRPr lang="en-US" altLang="ko-KR" dirty="0"/>
          </a:p>
          <a:p>
            <a:pPr marL="342900" indent="-342900">
              <a:buFontTx/>
              <a:buAutoNum type="arabicPeriod"/>
            </a:pPr>
            <a:r>
              <a:rPr lang="en-US" altLang="ko-KR" dirty="0" smtClean="0"/>
              <a:t>S1 </a:t>
            </a:r>
            <a:r>
              <a:rPr lang="ko-KR" altLang="en-US" dirty="0"/>
              <a:t>상태에서 </a:t>
            </a:r>
            <a:r>
              <a:rPr lang="en-US" altLang="ko-KR" dirty="0"/>
              <a:t>sw</a:t>
            </a:r>
            <a:r>
              <a:rPr lang="ko-KR" altLang="en-US" dirty="0"/>
              <a:t>가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</a:t>
            </a:r>
            <a:r>
              <a:rPr lang="ko-KR" altLang="en-US" dirty="0"/>
              <a:t>때 상태가 </a:t>
            </a:r>
            <a:r>
              <a:rPr lang="ko-KR" altLang="en-US" dirty="0" smtClean="0"/>
              <a:t>유지 </a:t>
            </a:r>
            <a:r>
              <a:rPr lang="ko-KR" altLang="en-US" dirty="0"/>
              <a:t>되는지 확인</a:t>
            </a:r>
            <a:endParaRPr lang="en-US" altLang="ko-KR" dirty="0"/>
          </a:p>
          <a:p>
            <a:pPr marL="342900" indent="-342900">
              <a:buFontTx/>
              <a:buAutoNum type="arabicPeriod"/>
            </a:pPr>
            <a:r>
              <a:rPr lang="en-US" altLang="ko-KR" dirty="0" smtClean="0"/>
              <a:t>S1 </a:t>
            </a:r>
            <a:r>
              <a:rPr lang="ko-KR" altLang="en-US" dirty="0"/>
              <a:t>상태에서 </a:t>
            </a:r>
            <a:r>
              <a:rPr lang="en-US" altLang="ko-KR" dirty="0"/>
              <a:t>sw</a:t>
            </a:r>
            <a:r>
              <a:rPr lang="ko-KR" altLang="en-US" dirty="0"/>
              <a:t>가 </a:t>
            </a:r>
            <a:r>
              <a:rPr lang="en-US" altLang="ko-KR" dirty="0"/>
              <a:t>0</a:t>
            </a:r>
            <a:r>
              <a:rPr lang="ko-KR" altLang="en-US" dirty="0" smtClean="0"/>
              <a:t>일 </a:t>
            </a:r>
            <a:r>
              <a:rPr lang="ko-KR" altLang="en-US" dirty="0"/>
              <a:t>때 상태가 </a:t>
            </a:r>
            <a:r>
              <a:rPr lang="en-US" altLang="ko-KR" dirty="0" smtClean="0"/>
              <a:t>S0</a:t>
            </a:r>
            <a:r>
              <a:rPr lang="ko-KR" altLang="en-US" dirty="0" smtClean="0"/>
              <a:t> </a:t>
            </a:r>
            <a:r>
              <a:rPr lang="ko-KR" altLang="en-US" dirty="0"/>
              <a:t>되는지 </a:t>
            </a:r>
            <a:r>
              <a:rPr lang="ko-KR" altLang="en-US" dirty="0" smtClean="0"/>
              <a:t>확인</a:t>
            </a:r>
            <a:endParaRPr lang="en-US" altLang="ko-KR" dirty="0" smtClean="0"/>
          </a:p>
          <a:p>
            <a:pPr marL="342900" indent="-342900">
              <a:buFontTx/>
              <a:buAutoNum type="arabicPeriod"/>
            </a:pPr>
            <a:r>
              <a:rPr lang="ko-KR" altLang="en-US" dirty="0" smtClean="0"/>
              <a:t>각 상태에 맞는 </a:t>
            </a:r>
            <a:r>
              <a:rPr lang="en-US" altLang="ko-KR" dirty="0" smtClean="0"/>
              <a:t>LED </a:t>
            </a:r>
            <a:r>
              <a:rPr lang="ko-KR" altLang="en-US" dirty="0" smtClean="0"/>
              <a:t>값을 출력하는지 확인</a:t>
            </a:r>
            <a:endParaRPr lang="en-US" altLang="ko-KR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346" y="1405544"/>
            <a:ext cx="3729727" cy="148859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881" y="1531917"/>
            <a:ext cx="1628583" cy="500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410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simulation(</a:t>
            </a:r>
            <a:r>
              <a:rPr lang="ko-KR" altLang="en-US" dirty="0" smtClean="0"/>
              <a:t>모듈 이름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912042" y="4414788"/>
            <a:ext cx="9441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smtClean="0"/>
              <a:t>S0(</a:t>
            </a:r>
            <a:r>
              <a:rPr lang="en-US" altLang="ko-KR" sz="1200" dirty="0" smtClean="0"/>
              <a:t>1’b0</a:t>
            </a:r>
            <a:r>
              <a:rPr lang="en-US" altLang="ko-KR" dirty="0" smtClean="0"/>
              <a:t>)</a:t>
            </a:r>
            <a:r>
              <a:rPr lang="ko-KR" altLang="en-US" dirty="0" smtClean="0"/>
              <a:t>인 </a:t>
            </a:r>
            <a:r>
              <a:rPr lang="en-US" altLang="ko-KR" dirty="0" err="1" smtClean="0"/>
              <a:t>currnet_state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reset </a:t>
            </a:r>
            <a:r>
              <a:rPr lang="ko-KR" altLang="en-US" dirty="0" smtClean="0"/>
              <a:t>이후</a:t>
            </a:r>
            <a:r>
              <a:rPr lang="en-US" altLang="ko-KR" dirty="0"/>
              <a:t> </a:t>
            </a:r>
            <a:r>
              <a:rPr lang="en-US" altLang="ko-KR" dirty="0" smtClean="0"/>
              <a:t>sw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1’b0</a:t>
            </a:r>
            <a:r>
              <a:rPr lang="ko-KR" altLang="en-US" dirty="0" smtClean="0"/>
              <a:t>인 동안 </a:t>
            </a:r>
            <a:r>
              <a:rPr lang="en-US" altLang="ko-KR" dirty="0" smtClean="0"/>
              <a:t>S0(</a:t>
            </a:r>
            <a:r>
              <a:rPr lang="en-US" altLang="ko-KR" sz="1200" dirty="0" smtClean="0"/>
              <a:t>1’b0</a:t>
            </a:r>
            <a:r>
              <a:rPr lang="en-US" altLang="ko-KR" dirty="0" smtClean="0"/>
              <a:t>)</a:t>
            </a:r>
            <a:r>
              <a:rPr lang="ko-KR" altLang="en-US" dirty="0" smtClean="0"/>
              <a:t>로 상태 유지 확인</a:t>
            </a:r>
            <a:endParaRPr lang="en-US" altLang="ko-KR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36" y="1792147"/>
            <a:ext cx="10104101" cy="2154608"/>
          </a:xfrm>
          <a:prstGeom prst="rect">
            <a:avLst/>
          </a:prstGeom>
        </p:spPr>
      </p:pic>
      <p:cxnSp>
        <p:nvCxnSpPr>
          <p:cNvPr id="8" name="직선 연결선 7"/>
          <p:cNvCxnSpPr/>
          <p:nvPr/>
        </p:nvCxnSpPr>
        <p:spPr>
          <a:xfrm>
            <a:off x="5414682" y="1656258"/>
            <a:ext cx="11953" cy="272563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9284563" y="1506636"/>
            <a:ext cx="11953" cy="272563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55981" y="1331554"/>
            <a:ext cx="8027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S0 </a:t>
            </a:r>
            <a:r>
              <a:rPr lang="ko-KR" altLang="en-US" dirty="0"/>
              <a:t>상태에서 </a:t>
            </a:r>
            <a:r>
              <a:rPr lang="en-US" altLang="ko-KR" dirty="0"/>
              <a:t>sw</a:t>
            </a:r>
            <a:r>
              <a:rPr lang="ko-KR" altLang="en-US" dirty="0"/>
              <a:t>가 </a:t>
            </a:r>
            <a:r>
              <a:rPr lang="en-US" altLang="ko-KR" dirty="0"/>
              <a:t>0</a:t>
            </a:r>
            <a:r>
              <a:rPr lang="ko-KR" altLang="en-US" dirty="0"/>
              <a:t>일 때 상태가 유지 되는지 </a:t>
            </a:r>
            <a:r>
              <a:rPr lang="ko-KR" altLang="en-US" dirty="0" smtClean="0"/>
              <a:t>확인하기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4224168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simulation(</a:t>
            </a:r>
            <a:r>
              <a:rPr lang="ko-KR" altLang="en-US" dirty="0" smtClean="0"/>
              <a:t>모듈 이름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912043" y="4414788"/>
            <a:ext cx="8953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smtClean="0"/>
              <a:t>sw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1‘b1</a:t>
            </a:r>
            <a:r>
              <a:rPr lang="ko-KR" altLang="en-US" dirty="0" smtClean="0"/>
              <a:t>의 신호를 넣을 시 </a:t>
            </a:r>
            <a:r>
              <a:rPr lang="en-US" altLang="ko-KR" dirty="0" err="1" smtClean="0"/>
              <a:t>next_state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S1(</a:t>
            </a:r>
            <a:r>
              <a:rPr lang="en-US" altLang="ko-KR" sz="1200" dirty="0" smtClean="0"/>
              <a:t>1’b1</a:t>
            </a:r>
            <a:r>
              <a:rPr lang="en-US" altLang="ko-KR" dirty="0" smtClean="0"/>
              <a:t>)</a:t>
            </a:r>
            <a:r>
              <a:rPr lang="ko-KR" altLang="en-US" dirty="0" smtClean="0"/>
              <a:t>이 되는 것을 확인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err="1" smtClean="0"/>
              <a:t>next_state</a:t>
            </a:r>
            <a:r>
              <a:rPr lang="ko-KR" altLang="en-US" dirty="0" smtClean="0"/>
              <a:t>가 다음 </a:t>
            </a:r>
            <a:r>
              <a:rPr lang="en-US" altLang="ko-KR" dirty="0" smtClean="0"/>
              <a:t>positive </a:t>
            </a:r>
            <a:r>
              <a:rPr lang="en-US" altLang="ko-KR" dirty="0" err="1" smtClean="0"/>
              <a:t>clk</a:t>
            </a:r>
            <a:r>
              <a:rPr lang="ko-KR" altLang="en-US" dirty="0" smtClean="0"/>
              <a:t>에서 </a:t>
            </a:r>
            <a:r>
              <a:rPr lang="en-US" altLang="ko-KR" dirty="0" err="1" smtClean="0"/>
              <a:t>currnet_state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S1(</a:t>
            </a:r>
            <a:r>
              <a:rPr lang="en-US" altLang="ko-KR" sz="1200" dirty="0" smtClean="0"/>
              <a:t>1‘b1</a:t>
            </a:r>
            <a:r>
              <a:rPr lang="en-US" altLang="ko-KR" dirty="0" smtClean="0"/>
              <a:t>)</a:t>
            </a:r>
            <a:r>
              <a:rPr lang="ko-KR" altLang="en-US" dirty="0" smtClean="0"/>
              <a:t>로 변경되는 것을 확인</a:t>
            </a:r>
            <a:endParaRPr lang="en-US" altLang="ko-KR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36" y="1792147"/>
            <a:ext cx="10104101" cy="2154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55981" y="1331554"/>
            <a:ext cx="8027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  S0 </a:t>
            </a:r>
            <a:r>
              <a:rPr lang="ko-KR" altLang="en-US" dirty="0"/>
              <a:t>상태에서 </a:t>
            </a:r>
            <a:r>
              <a:rPr lang="en-US" altLang="ko-KR" dirty="0"/>
              <a:t>sw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일 때 상태가 </a:t>
            </a:r>
            <a:r>
              <a:rPr lang="en-US" altLang="ko-KR" dirty="0"/>
              <a:t>S1</a:t>
            </a:r>
            <a:r>
              <a:rPr lang="ko-KR" altLang="en-US" dirty="0"/>
              <a:t> 되는지 </a:t>
            </a:r>
            <a:r>
              <a:rPr lang="ko-KR" altLang="en-US" dirty="0" smtClean="0"/>
              <a:t>확인하기</a:t>
            </a:r>
            <a:endParaRPr lang="en-US" altLang="ko-KR" dirty="0"/>
          </a:p>
        </p:txBody>
      </p:sp>
      <p:sp>
        <p:nvSpPr>
          <p:cNvPr id="3" name="직사각형 2"/>
          <p:cNvSpPr/>
          <p:nvPr/>
        </p:nvSpPr>
        <p:spPr>
          <a:xfrm>
            <a:off x="8633360" y="1781948"/>
            <a:ext cx="1187533" cy="21648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314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simulation(</a:t>
            </a:r>
            <a:r>
              <a:rPr lang="ko-KR" altLang="en-US" dirty="0" smtClean="0"/>
              <a:t>모듈 이름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155981" y="1331554"/>
            <a:ext cx="8027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en-US" altLang="ko-KR" dirty="0"/>
              <a:t>S1 </a:t>
            </a:r>
            <a:r>
              <a:rPr lang="ko-KR" altLang="en-US" dirty="0"/>
              <a:t>상태에서 </a:t>
            </a:r>
            <a:r>
              <a:rPr lang="en-US" altLang="ko-KR" dirty="0"/>
              <a:t>sw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일 때 상태가 유지 되는지 </a:t>
            </a:r>
            <a:r>
              <a:rPr lang="ko-KR" altLang="en-US" dirty="0" smtClean="0"/>
              <a:t>확인하기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57" y="1852551"/>
            <a:ext cx="10072093" cy="2259965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>
          <a:xfrm>
            <a:off x="4761539" y="1775011"/>
            <a:ext cx="11953" cy="272563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8672480" y="1700886"/>
            <a:ext cx="11953" cy="272563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12043" y="4414788"/>
            <a:ext cx="8116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smtClean="0"/>
              <a:t>S1(</a:t>
            </a:r>
            <a:r>
              <a:rPr lang="en-US" altLang="ko-KR" sz="1200" dirty="0" smtClean="0"/>
              <a:t>1’b1</a:t>
            </a:r>
            <a:r>
              <a:rPr lang="en-US" altLang="ko-KR" dirty="0" smtClean="0"/>
              <a:t>)</a:t>
            </a:r>
            <a:r>
              <a:rPr lang="ko-KR" altLang="en-US" dirty="0" smtClean="0"/>
              <a:t>인 </a:t>
            </a:r>
            <a:r>
              <a:rPr lang="en-US" altLang="ko-KR" dirty="0" err="1" smtClean="0"/>
              <a:t>currnet_state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sw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1’b1</a:t>
            </a:r>
            <a:r>
              <a:rPr lang="ko-KR" altLang="en-US" dirty="0" smtClean="0"/>
              <a:t>인 동안 </a:t>
            </a:r>
            <a:r>
              <a:rPr lang="en-US" altLang="ko-KR" dirty="0" smtClean="0"/>
              <a:t>S1(</a:t>
            </a:r>
            <a:r>
              <a:rPr lang="en-US" altLang="ko-KR" sz="1200" dirty="0" smtClean="0"/>
              <a:t>1’b1</a:t>
            </a:r>
            <a:r>
              <a:rPr lang="en-US" altLang="ko-KR" dirty="0" smtClean="0"/>
              <a:t>)</a:t>
            </a:r>
            <a:r>
              <a:rPr lang="ko-KR" altLang="en-US" dirty="0" smtClean="0"/>
              <a:t>로 상태 유지 확인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515417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simulation(</a:t>
            </a:r>
            <a:r>
              <a:rPr lang="ko-KR" altLang="en-US" dirty="0" smtClean="0"/>
              <a:t>모듈 이름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155981" y="1331554"/>
            <a:ext cx="8027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4.  S1 </a:t>
            </a:r>
            <a:r>
              <a:rPr lang="ko-KR" altLang="en-US" dirty="0"/>
              <a:t>상태에서 </a:t>
            </a:r>
            <a:r>
              <a:rPr lang="en-US" altLang="ko-KR" dirty="0"/>
              <a:t>sw</a:t>
            </a:r>
            <a:r>
              <a:rPr lang="ko-KR" altLang="en-US" dirty="0"/>
              <a:t>가 </a:t>
            </a:r>
            <a:r>
              <a:rPr lang="en-US" altLang="ko-KR" dirty="0"/>
              <a:t>0</a:t>
            </a:r>
            <a:r>
              <a:rPr lang="ko-KR" altLang="en-US" dirty="0"/>
              <a:t>일 때 상태가 </a:t>
            </a:r>
            <a:r>
              <a:rPr lang="en-US" altLang="ko-KR" dirty="0"/>
              <a:t>S0</a:t>
            </a:r>
            <a:r>
              <a:rPr lang="ko-KR" altLang="en-US" dirty="0"/>
              <a:t> 되는지 확인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57" y="1852551"/>
            <a:ext cx="10072093" cy="225996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12042" y="4414788"/>
            <a:ext cx="9161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smtClean="0"/>
              <a:t>sw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1‘b0</a:t>
            </a:r>
            <a:r>
              <a:rPr lang="ko-KR" altLang="en-US" dirty="0" smtClean="0"/>
              <a:t>의 신호를 넣을 시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next_state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S0(</a:t>
            </a:r>
            <a:r>
              <a:rPr lang="en-US" altLang="ko-KR" sz="1200" dirty="0" smtClean="0"/>
              <a:t>1’b0</a:t>
            </a:r>
            <a:r>
              <a:rPr lang="en-US" altLang="ko-KR" dirty="0" smtClean="0"/>
              <a:t>)</a:t>
            </a:r>
            <a:r>
              <a:rPr lang="ko-KR" altLang="en-US" dirty="0" smtClean="0"/>
              <a:t>가 되는 것을 확인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err="1" smtClean="0"/>
              <a:t>next_state</a:t>
            </a:r>
            <a:r>
              <a:rPr lang="ko-KR" altLang="en-US" dirty="0" smtClean="0"/>
              <a:t>가 다음 </a:t>
            </a:r>
            <a:r>
              <a:rPr lang="en-US" altLang="ko-KR" dirty="0" smtClean="0"/>
              <a:t>positive edge</a:t>
            </a:r>
            <a:r>
              <a:rPr lang="ko-KR" altLang="en-US" dirty="0" smtClean="0"/>
              <a:t>에서 </a:t>
            </a:r>
            <a:r>
              <a:rPr lang="en-US" altLang="ko-KR" dirty="0" err="1" smtClean="0"/>
              <a:t>current_state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S0(</a:t>
            </a:r>
            <a:r>
              <a:rPr lang="en-US" altLang="ko-KR" sz="1200" dirty="0" smtClean="0"/>
              <a:t>1’b0</a:t>
            </a:r>
            <a:r>
              <a:rPr lang="en-US" altLang="ko-KR" dirty="0" smtClean="0"/>
              <a:t>)</a:t>
            </a:r>
            <a:r>
              <a:rPr lang="ko-KR" altLang="en-US" dirty="0" smtClean="0"/>
              <a:t>로 변경되는 것을 확인</a:t>
            </a:r>
            <a:endParaRPr lang="en-US" altLang="ko-KR" dirty="0" smtClean="0"/>
          </a:p>
        </p:txBody>
      </p:sp>
      <p:sp>
        <p:nvSpPr>
          <p:cNvPr id="9" name="직사각형 8"/>
          <p:cNvSpPr/>
          <p:nvPr/>
        </p:nvSpPr>
        <p:spPr>
          <a:xfrm>
            <a:off x="7996168" y="1852551"/>
            <a:ext cx="1187533" cy="22599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340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simulation(</a:t>
            </a:r>
            <a:r>
              <a:rPr lang="ko-KR" altLang="en-US" dirty="0" smtClean="0"/>
              <a:t>모듈 이름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155981" y="1331554"/>
            <a:ext cx="8027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5.  </a:t>
            </a:r>
            <a:r>
              <a:rPr lang="ko-KR" altLang="en-US" dirty="0" smtClean="0"/>
              <a:t>각 </a:t>
            </a:r>
            <a:r>
              <a:rPr lang="ko-KR" altLang="en-US" dirty="0"/>
              <a:t>상태에 맞는 </a:t>
            </a:r>
            <a:r>
              <a:rPr lang="en-US" altLang="ko-KR" dirty="0"/>
              <a:t>LED </a:t>
            </a:r>
            <a:r>
              <a:rPr lang="ko-KR" altLang="en-US" dirty="0"/>
              <a:t>값을 출력하는지 확인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57" y="1852551"/>
            <a:ext cx="10072093" cy="225996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12042" y="4414788"/>
            <a:ext cx="9161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err="1" smtClean="0"/>
              <a:t>currnet_state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S0(</a:t>
            </a:r>
            <a:r>
              <a:rPr lang="en-US" altLang="ko-KR" sz="1200" dirty="0" smtClean="0"/>
              <a:t>1’b0</a:t>
            </a:r>
            <a:r>
              <a:rPr lang="en-US" altLang="ko-KR" dirty="0" smtClean="0"/>
              <a:t>)</a:t>
            </a:r>
            <a:r>
              <a:rPr lang="ko-KR" altLang="en-US" dirty="0" smtClean="0"/>
              <a:t>인 동안 </a:t>
            </a:r>
            <a:r>
              <a:rPr lang="en-US" altLang="ko-KR" dirty="0" smtClean="0"/>
              <a:t>LED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1‘b0</a:t>
            </a:r>
            <a:r>
              <a:rPr lang="ko-KR" altLang="en-US" dirty="0" smtClean="0"/>
              <a:t>을 출력하는 것을 확인</a:t>
            </a:r>
            <a:endParaRPr lang="en-US" altLang="ko-KR" dirty="0" smtClean="0"/>
          </a:p>
          <a:p>
            <a:pPr marL="342900" indent="-342900">
              <a:buFontTx/>
              <a:buAutoNum type="arabicPeriod"/>
            </a:pPr>
            <a:r>
              <a:rPr lang="en-US" altLang="ko-KR" dirty="0" err="1"/>
              <a:t>currnet_state</a:t>
            </a:r>
            <a:r>
              <a:rPr lang="ko-KR" altLang="en-US" dirty="0"/>
              <a:t>가 </a:t>
            </a:r>
            <a:r>
              <a:rPr lang="en-US" altLang="ko-KR" dirty="0" smtClean="0"/>
              <a:t>S0(</a:t>
            </a:r>
            <a:r>
              <a:rPr lang="en-US" altLang="ko-KR" sz="1200" dirty="0" smtClean="0"/>
              <a:t>1’b1</a:t>
            </a:r>
            <a:r>
              <a:rPr lang="en-US" altLang="ko-KR" dirty="0" smtClean="0"/>
              <a:t>)</a:t>
            </a:r>
            <a:r>
              <a:rPr lang="ko-KR" altLang="en-US" dirty="0"/>
              <a:t>인 동안 </a:t>
            </a:r>
            <a:r>
              <a:rPr lang="en-US" altLang="ko-KR" dirty="0"/>
              <a:t>LED</a:t>
            </a:r>
            <a:r>
              <a:rPr lang="ko-KR" altLang="en-US" dirty="0"/>
              <a:t>는 </a:t>
            </a:r>
            <a:r>
              <a:rPr lang="en-US" altLang="ko-KR" dirty="0"/>
              <a:t>1‘b1</a:t>
            </a:r>
            <a:r>
              <a:rPr lang="ko-KR" altLang="en-US" dirty="0"/>
              <a:t>을 출력하는 것을 </a:t>
            </a:r>
            <a:r>
              <a:rPr lang="ko-KR" altLang="en-US" dirty="0" smtClean="0"/>
              <a:t>확인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05568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421</Words>
  <Application>Microsoft Office PowerPoint</Application>
  <PresentationFormat>와이드스크린</PresentationFormat>
  <Paragraphs>67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FSM Moore 시뮬레이션</vt:lpstr>
      <vt:lpstr>module 설계 목표</vt:lpstr>
      <vt:lpstr>module 설계 목표</vt:lpstr>
      <vt:lpstr>code</vt:lpstr>
      <vt:lpstr>code</vt:lpstr>
      <vt:lpstr>code</vt:lpstr>
      <vt:lpstr>simulation - testbench</vt:lpstr>
      <vt:lpstr>simulation(모듈 이름)</vt:lpstr>
      <vt:lpstr>simulation(모듈 이름)</vt:lpstr>
      <vt:lpstr>simulation(모듈 이름)</vt:lpstr>
      <vt:lpstr>simulation(모듈 이름)</vt:lpstr>
      <vt:lpstr>simulation(모듈 이름)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10000 counter 10hz 시뮬레이션</dc:title>
  <dc:creator>kccistc</dc:creator>
  <cp:lastModifiedBy>kccistc</cp:lastModifiedBy>
  <cp:revision>16</cp:revision>
  <dcterms:created xsi:type="dcterms:W3CDTF">2026-01-26T09:32:19Z</dcterms:created>
  <dcterms:modified xsi:type="dcterms:W3CDTF">2026-01-28T08:52:23Z</dcterms:modified>
</cp:coreProperties>
</file>