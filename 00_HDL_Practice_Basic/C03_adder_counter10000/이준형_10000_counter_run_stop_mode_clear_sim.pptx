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4" r:id="rId5"/>
    <p:sldId id="265" r:id="rId6"/>
    <p:sldId id="266" r:id="rId7"/>
    <p:sldId id="258" r:id="rId8"/>
    <p:sldId id="269" r:id="rId9"/>
    <p:sldId id="262" r:id="rId10"/>
    <p:sldId id="267" r:id="rId11"/>
    <p:sldId id="270" r:id="rId12"/>
    <p:sldId id="272" r:id="rId13"/>
    <p:sldId id="271" r:id="rId14"/>
    <p:sldId id="274" r:id="rId15"/>
    <p:sldId id="273" r:id="rId16"/>
    <p:sldId id="275" r:id="rId17"/>
    <p:sldId id="27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44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9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11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6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33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88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57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96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6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7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48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10000 counter</a:t>
            </a:r>
            <a:br>
              <a:rPr lang="en-US" altLang="ko-KR" dirty="0" smtClean="0"/>
            </a:br>
            <a:r>
              <a:rPr lang="en-US" altLang="ko-KR" dirty="0" err="1"/>
              <a:t>run_stop</a:t>
            </a:r>
            <a:r>
              <a:rPr lang="en-US" altLang="ko-KR" dirty="0"/>
              <a:t>, mode, </a:t>
            </a:r>
            <a:r>
              <a:rPr lang="en-US" altLang="ko-KR"/>
              <a:t>clear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시뮬레이션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 smtClean="0"/>
              <a:t>AI </a:t>
            </a:r>
            <a:r>
              <a:rPr lang="ko-KR" altLang="en-US" dirty="0" err="1" smtClean="0"/>
              <a:t>온디바이스</a:t>
            </a:r>
            <a:r>
              <a:rPr lang="ko-KR" altLang="en-US" dirty="0" smtClean="0"/>
              <a:t> 이준형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module </a:t>
            </a:r>
            <a:r>
              <a:rPr lang="ko-KR" altLang="en-US" dirty="0" smtClean="0"/>
              <a:t>설계 목표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56763" y="2939144"/>
            <a:ext cx="377635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설계 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1hz</a:t>
            </a:r>
            <a:r>
              <a:rPr lang="ko-KR" altLang="en-US" dirty="0" smtClean="0"/>
              <a:t>주기의 </a:t>
            </a:r>
            <a:r>
              <a:rPr lang="en-US" altLang="ko-KR" dirty="0" smtClean="0"/>
              <a:t>counter</a:t>
            </a:r>
            <a:r>
              <a:rPr lang="ko-KR" altLang="en-US" dirty="0" smtClean="0"/>
              <a:t>을 만들고 </a:t>
            </a:r>
            <a:r>
              <a:rPr lang="en-US" altLang="ko-KR" dirty="0" smtClean="0"/>
              <a:t>1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9999</a:t>
            </a:r>
            <a:r>
              <a:rPr lang="ko-KR" altLang="en-US" dirty="0" smtClean="0"/>
              <a:t>까지 카운트하는 모듈에서</a:t>
            </a:r>
            <a:endParaRPr lang="en-US" altLang="ko-KR" dirty="0" smtClean="0"/>
          </a:p>
          <a:p>
            <a:r>
              <a:rPr lang="en-US" altLang="ko-KR" dirty="0" smtClean="0"/>
              <a:t>up-down count, run-stop, clear</a:t>
            </a:r>
            <a:endParaRPr lang="en-US" altLang="ko-KR" dirty="0"/>
          </a:p>
          <a:p>
            <a:r>
              <a:rPr lang="ko-KR" altLang="en-US" dirty="0" smtClean="0"/>
              <a:t>기능을 추가 설계하기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91" y="2556606"/>
            <a:ext cx="6126731" cy="1641089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231670"/>
              </p:ext>
            </p:extLst>
          </p:nvPr>
        </p:nvGraphicFramePr>
        <p:xfrm>
          <a:off x="1307413" y="4662274"/>
          <a:ext cx="476068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895">
                  <a:extLst>
                    <a:ext uri="{9D8B030D-6E8A-4147-A177-3AD203B41FA5}">
                      <a16:colId xmlns:a16="http://schemas.microsoft.com/office/drawing/2014/main" val="1211805759"/>
                    </a:ext>
                  </a:extLst>
                </a:gridCol>
                <a:gridCol w="1586895">
                  <a:extLst>
                    <a:ext uri="{9D8B030D-6E8A-4147-A177-3AD203B41FA5}">
                      <a16:colId xmlns:a16="http://schemas.microsoft.com/office/drawing/2014/main" val="1134151286"/>
                    </a:ext>
                  </a:extLst>
                </a:gridCol>
                <a:gridCol w="1586895">
                  <a:extLst>
                    <a:ext uri="{9D8B030D-6E8A-4147-A177-3AD203B41FA5}">
                      <a16:colId xmlns:a16="http://schemas.microsoft.com/office/drawing/2014/main" val="1625221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기능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139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mode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up</a:t>
                      </a:r>
                      <a:r>
                        <a:rPr lang="en-US" altLang="ko-KR" baseline="0" dirty="0" smtClean="0"/>
                        <a:t> count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down count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99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run-stop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stop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run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686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clear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87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54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code – </a:t>
            </a:r>
            <a:r>
              <a:rPr lang="ko-KR" altLang="en-US" dirty="0" smtClean="0"/>
              <a:t>추가 설계</a:t>
            </a:r>
            <a:r>
              <a:rPr lang="en-US" altLang="ko-KR" dirty="0" smtClean="0"/>
              <a:t>(counter_10000)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07679" y="1852550"/>
            <a:ext cx="2149433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Input:</a:t>
            </a:r>
          </a:p>
          <a:p>
            <a:pPr lvl="1"/>
            <a:r>
              <a:rPr lang="en-US" altLang="ko-KR" dirty="0" err="1" smtClean="0"/>
              <a:t>clk</a:t>
            </a:r>
            <a:r>
              <a:rPr lang="en-US" altLang="ko-KR" dirty="0" smtClean="0"/>
              <a:t>,</a:t>
            </a:r>
          </a:p>
          <a:p>
            <a:pPr lvl="1"/>
            <a:r>
              <a:rPr lang="en-US" altLang="ko-KR" dirty="0" smtClean="0"/>
              <a:t>reset,</a:t>
            </a:r>
          </a:p>
          <a:p>
            <a:pPr lvl="1"/>
            <a:r>
              <a:rPr lang="en-US" altLang="ko-KR" dirty="0" smtClean="0"/>
              <a:t>mode,</a:t>
            </a:r>
          </a:p>
          <a:p>
            <a:pPr lvl="1"/>
            <a:r>
              <a:rPr lang="en-US" altLang="ko-KR" dirty="0" err="1" smtClean="0"/>
              <a:t>run_stop</a:t>
            </a:r>
            <a:r>
              <a:rPr lang="en-US" altLang="ko-KR" dirty="0" smtClean="0"/>
              <a:t>,</a:t>
            </a:r>
          </a:p>
          <a:p>
            <a:pPr lvl="1"/>
            <a:r>
              <a:rPr lang="en-US" altLang="ko-KR" dirty="0" smtClean="0"/>
              <a:t>clear,</a:t>
            </a:r>
          </a:p>
          <a:p>
            <a:pPr lvl="1"/>
            <a:r>
              <a:rPr lang="en-US" altLang="ko-KR" dirty="0" err="1" smtClean="0"/>
              <a:t>i_tick</a:t>
            </a:r>
            <a:endParaRPr lang="en-US" altLang="ko-KR" dirty="0" smtClean="0"/>
          </a:p>
          <a:p>
            <a:r>
              <a:rPr lang="en-US" altLang="ko-KR" dirty="0" smtClean="0"/>
              <a:t>Output:</a:t>
            </a:r>
          </a:p>
          <a:p>
            <a:pPr lvl="1"/>
            <a:r>
              <a:rPr lang="en-US" altLang="ko-KR" dirty="0" err="1" smtClean="0"/>
              <a:t>counter_out</a:t>
            </a:r>
            <a:endParaRPr lang="en-US" altLang="ko-KR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507679" y="4693720"/>
            <a:ext cx="484612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내부 </a:t>
            </a:r>
            <a:r>
              <a:rPr lang="en-US" altLang="ko-KR" dirty="0" smtClean="0"/>
              <a:t>resister </a:t>
            </a:r>
            <a:r>
              <a:rPr lang="ko-KR" altLang="en-US" dirty="0" smtClean="0"/>
              <a:t>인 </a:t>
            </a:r>
            <a:r>
              <a:rPr lang="en-US" altLang="ko-KR" dirty="0" err="1" smtClean="0"/>
              <a:t>r_counte</a:t>
            </a:r>
            <a:r>
              <a:rPr lang="ko-KR" altLang="en-US" dirty="0" smtClean="0"/>
              <a:t>가 상승 </a:t>
            </a:r>
            <a:r>
              <a:rPr lang="en-US" altLang="ko-KR" dirty="0" smtClean="0"/>
              <a:t>edge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의해 동작함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r_counter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reset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이거나 </a:t>
            </a:r>
            <a:r>
              <a:rPr lang="en-US" altLang="ko-KR" dirty="0" err="1" smtClean="0"/>
              <a:t>r_counter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값이 </a:t>
            </a:r>
            <a:r>
              <a:rPr lang="en-US" altLang="ko-KR" dirty="0" smtClean="0"/>
              <a:t>9,999,999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r_counter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9,999,999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의 신호를 </a:t>
            </a:r>
            <a:r>
              <a:rPr lang="en-US" altLang="ko-KR" dirty="0" smtClean="0"/>
              <a:t>1clk </a:t>
            </a:r>
            <a:r>
              <a:rPr lang="ko-KR" altLang="en-US" dirty="0" smtClean="0"/>
              <a:t>동안 출력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678" y="1621714"/>
            <a:ext cx="2588820" cy="513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6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code – </a:t>
            </a:r>
            <a:r>
              <a:rPr lang="ko-KR" altLang="en-US" dirty="0" smtClean="0"/>
              <a:t>추가 설계</a:t>
            </a:r>
            <a:r>
              <a:rPr lang="en-US" altLang="ko-KR" dirty="0" smtClean="0"/>
              <a:t>(counter_10000)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84175" y="2470333"/>
            <a:ext cx="506680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mode == 1:</a:t>
            </a:r>
          </a:p>
          <a:p>
            <a:pPr lvl="1"/>
            <a:r>
              <a:rPr lang="en-US" altLang="ko-KR" dirty="0" smtClean="0"/>
              <a:t>counter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down-</a:t>
            </a:r>
            <a:r>
              <a:rPr lang="en-US" altLang="ko-KR" dirty="0" err="1" smtClean="0"/>
              <a:t>counte</a:t>
            </a:r>
            <a:r>
              <a:rPr lang="ko-KR" altLang="en-US" dirty="0" smtClean="0"/>
              <a:t>로 동작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counter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14’b0</a:t>
            </a:r>
            <a:r>
              <a:rPr lang="ko-KR" altLang="en-US" dirty="0" smtClean="0"/>
              <a:t>이면 </a:t>
            </a:r>
            <a:r>
              <a:rPr lang="en-US" altLang="ko-KR" dirty="0" smtClean="0"/>
              <a:t>14’d9999</a:t>
            </a:r>
            <a:r>
              <a:rPr lang="ko-KR" altLang="en-US" dirty="0" smtClean="0"/>
              <a:t>로 초기화</a:t>
            </a:r>
            <a:endParaRPr lang="en-US" altLang="ko-KR" dirty="0" smtClean="0"/>
          </a:p>
          <a:p>
            <a:r>
              <a:rPr lang="en-US" altLang="ko-KR" b="1" dirty="0"/>
              <a:t>mode == </a:t>
            </a:r>
            <a:r>
              <a:rPr lang="en-US" altLang="ko-KR" b="1" dirty="0" smtClean="0"/>
              <a:t>0:</a:t>
            </a:r>
            <a:endParaRPr lang="en-US" altLang="ko-KR" b="1" dirty="0"/>
          </a:p>
          <a:p>
            <a:pPr lvl="1"/>
            <a:r>
              <a:rPr lang="en-US" altLang="ko-KR" dirty="0"/>
              <a:t>counter</a:t>
            </a:r>
            <a:r>
              <a:rPr lang="ko-KR" altLang="en-US" dirty="0"/>
              <a:t>는 </a:t>
            </a:r>
            <a:r>
              <a:rPr lang="en-US" altLang="ko-KR" dirty="0" smtClean="0"/>
              <a:t>up-</a:t>
            </a:r>
            <a:r>
              <a:rPr lang="en-US" altLang="ko-KR" dirty="0" err="1" smtClean="0"/>
              <a:t>counte</a:t>
            </a:r>
            <a:r>
              <a:rPr lang="ko-KR" altLang="en-US" dirty="0"/>
              <a:t>로 동작</a:t>
            </a:r>
            <a:endParaRPr lang="en-US" altLang="ko-KR" dirty="0"/>
          </a:p>
          <a:p>
            <a:pPr lvl="1"/>
            <a:r>
              <a:rPr lang="en-US" altLang="ko-KR" dirty="0"/>
              <a:t>counter</a:t>
            </a:r>
            <a:r>
              <a:rPr lang="ko-KR" altLang="en-US" dirty="0"/>
              <a:t>가 </a:t>
            </a:r>
            <a:r>
              <a:rPr lang="en-US" altLang="ko-KR" dirty="0" smtClean="0"/>
              <a:t>14’d9999</a:t>
            </a:r>
            <a:r>
              <a:rPr lang="ko-KR" altLang="en-US" dirty="0" smtClean="0"/>
              <a:t>이면 </a:t>
            </a:r>
            <a:r>
              <a:rPr lang="en-US" altLang="ko-KR" dirty="0" smtClean="0"/>
              <a:t>14’b0</a:t>
            </a:r>
            <a:r>
              <a:rPr lang="ko-KR" altLang="en-US" dirty="0" smtClean="0"/>
              <a:t>로 초기화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678" y="1621714"/>
            <a:ext cx="2588820" cy="51369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70" y="5378063"/>
            <a:ext cx="3379409" cy="1206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9106" y="4190172"/>
            <a:ext cx="1915391" cy="1759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8" name="직선 화살표 연결선 7"/>
          <p:cNvCxnSpPr>
            <a:stCxn id="4" idx="3"/>
            <a:endCxn id="5" idx="1"/>
          </p:cNvCxnSpPr>
          <p:nvPr/>
        </p:nvCxnSpPr>
        <p:spPr>
          <a:xfrm flipV="1">
            <a:off x="4524497" y="3347496"/>
            <a:ext cx="1459678" cy="17223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13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code – </a:t>
            </a:r>
            <a:r>
              <a:rPr lang="ko-KR" altLang="en-US" dirty="0" smtClean="0"/>
              <a:t>추가 설계</a:t>
            </a:r>
            <a:r>
              <a:rPr lang="en-US" altLang="ko-KR" dirty="0" smtClean="0"/>
              <a:t>(counter_10000)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84175" y="2470333"/>
            <a:ext cx="506680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run-stop == 1:</a:t>
            </a:r>
          </a:p>
          <a:p>
            <a:pPr lvl="1"/>
            <a:r>
              <a:rPr lang="en-US" altLang="ko-KR" dirty="0" smtClean="0"/>
              <a:t>if</a:t>
            </a:r>
            <a:r>
              <a:rPr lang="ko-KR" altLang="en-US" dirty="0" smtClean="0"/>
              <a:t>문 안에 있는 </a:t>
            </a:r>
            <a:r>
              <a:rPr lang="en-US" altLang="ko-KR" dirty="0" smtClean="0"/>
              <a:t>mode </a:t>
            </a:r>
            <a:r>
              <a:rPr lang="ko-KR" altLang="en-US" dirty="0" smtClean="0"/>
              <a:t>동작 기능을 수행함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b="1" dirty="0" smtClean="0"/>
              <a:t>run-stop </a:t>
            </a:r>
            <a:r>
              <a:rPr lang="en-US" altLang="ko-KR" b="1" dirty="0"/>
              <a:t>== </a:t>
            </a:r>
            <a:r>
              <a:rPr lang="en-US" altLang="ko-KR" b="1" dirty="0" smtClean="0"/>
              <a:t>0:</a:t>
            </a:r>
          </a:p>
          <a:p>
            <a:pPr marL="457200" lvl="2"/>
            <a:r>
              <a:rPr lang="en-US" altLang="ko-KR" dirty="0" smtClean="0"/>
              <a:t>if</a:t>
            </a:r>
            <a:r>
              <a:rPr lang="ko-KR" altLang="en-US" dirty="0"/>
              <a:t>문 안에 있는 </a:t>
            </a:r>
            <a:r>
              <a:rPr lang="en-US" altLang="ko-KR" dirty="0"/>
              <a:t>mode </a:t>
            </a:r>
            <a:r>
              <a:rPr lang="ko-KR" altLang="en-US" dirty="0"/>
              <a:t>동작 기능을 </a:t>
            </a:r>
            <a:endParaRPr lang="en-US" altLang="ko-KR" dirty="0" smtClean="0"/>
          </a:p>
          <a:p>
            <a:pPr marL="457200" lvl="2"/>
            <a:r>
              <a:rPr lang="ko-KR" altLang="en-US" dirty="0" smtClean="0"/>
              <a:t>수행을 안함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678" y="1621714"/>
            <a:ext cx="2588820" cy="51369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70" y="5378063"/>
            <a:ext cx="3379409" cy="1206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99756" y="3960421"/>
            <a:ext cx="2024741" cy="2031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  <p:cxnSp>
        <p:nvCxnSpPr>
          <p:cNvPr id="8" name="직선 화살표 연결선 7"/>
          <p:cNvCxnSpPr>
            <a:stCxn id="4" idx="3"/>
            <a:endCxn id="5" idx="1"/>
          </p:cNvCxnSpPr>
          <p:nvPr/>
        </p:nvCxnSpPr>
        <p:spPr>
          <a:xfrm flipV="1">
            <a:off x="4524497" y="3347496"/>
            <a:ext cx="1459678" cy="17223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553194" y="4190172"/>
            <a:ext cx="8852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54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code – </a:t>
            </a:r>
            <a:r>
              <a:rPr lang="ko-KR" altLang="en-US" dirty="0" smtClean="0"/>
              <a:t>추가 설계</a:t>
            </a:r>
            <a:r>
              <a:rPr lang="en-US" altLang="ko-KR" dirty="0" smtClean="0"/>
              <a:t>(counter_10000)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84175" y="2470333"/>
            <a:ext cx="506680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clear == 1:</a:t>
            </a:r>
          </a:p>
          <a:p>
            <a:pPr lvl="1"/>
            <a:r>
              <a:rPr lang="ko-KR" altLang="en-US" dirty="0" smtClean="0"/>
              <a:t>내부 레지스터 </a:t>
            </a:r>
            <a:r>
              <a:rPr lang="en-US" altLang="ko-KR" dirty="0" smtClean="0"/>
              <a:t>counter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14’b0</a:t>
            </a:r>
            <a:r>
              <a:rPr lang="ko-KR" altLang="en-US" dirty="0" smtClean="0"/>
              <a:t>으로 초기화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b="1" dirty="0" smtClean="0"/>
              <a:t>clear </a:t>
            </a:r>
            <a:r>
              <a:rPr lang="en-US" altLang="ko-KR" b="1" dirty="0"/>
              <a:t>== </a:t>
            </a:r>
            <a:r>
              <a:rPr lang="en-US" altLang="ko-KR" b="1" dirty="0" smtClean="0"/>
              <a:t>0:</a:t>
            </a:r>
          </a:p>
          <a:p>
            <a:pPr lvl="1"/>
            <a:r>
              <a:rPr lang="en-US" altLang="ko-KR" dirty="0" smtClean="0"/>
              <a:t>else</a:t>
            </a:r>
            <a:r>
              <a:rPr lang="ko-KR" altLang="en-US" dirty="0" smtClean="0"/>
              <a:t>문 내에 있는 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run_stop</a:t>
            </a:r>
            <a:r>
              <a:rPr lang="en-US" altLang="ko-KR" dirty="0" smtClean="0"/>
              <a:t>, mode </a:t>
            </a:r>
            <a:r>
              <a:rPr lang="ko-KR" altLang="en-US" dirty="0" smtClean="0"/>
              <a:t>기능 수행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678" y="1621714"/>
            <a:ext cx="2588820" cy="51369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70" y="5378063"/>
            <a:ext cx="3379409" cy="1206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65711" y="3509159"/>
            <a:ext cx="2258787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 smtClean="0"/>
          </a:p>
        </p:txBody>
      </p:sp>
      <p:cxnSp>
        <p:nvCxnSpPr>
          <p:cNvPr id="8" name="직선 화살표 연결선 7"/>
          <p:cNvCxnSpPr>
            <a:stCxn id="4" idx="3"/>
          </p:cNvCxnSpPr>
          <p:nvPr/>
        </p:nvCxnSpPr>
        <p:spPr>
          <a:xfrm flipV="1">
            <a:off x="4524498" y="2796640"/>
            <a:ext cx="1459677" cy="8971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392877" y="3738910"/>
            <a:ext cx="88520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77586" y="3855327"/>
            <a:ext cx="2246912" cy="2308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4524497" y="3591402"/>
            <a:ext cx="1459678" cy="14959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85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기능 </a:t>
            </a:r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573134" y="2057626"/>
            <a:ext cx="591989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 smtClean="0"/>
              <a:t>mode: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en-US" altLang="ko-KR" dirty="0" smtClean="0"/>
              <a:t>mode(up-counter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단일 </a:t>
            </a:r>
            <a:r>
              <a:rPr lang="en-US" altLang="ko-KR" dirty="0" smtClean="0"/>
              <a:t>test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mode(down-counter) </a:t>
            </a:r>
            <a:r>
              <a:rPr lang="ko-KR" altLang="en-US" dirty="0" smtClean="0"/>
              <a:t>단일 </a:t>
            </a:r>
            <a:r>
              <a:rPr lang="en-US" altLang="ko-KR" dirty="0" smtClean="0"/>
              <a:t>test</a:t>
            </a:r>
          </a:p>
          <a:p>
            <a:pPr marL="800100" lvl="1" indent="-342900">
              <a:buAutoNum type="arabicPeriod"/>
            </a:pPr>
            <a:r>
              <a:rPr lang="en-US" altLang="ko-KR" dirty="0" smtClean="0"/>
              <a:t>(up or down) counting </a:t>
            </a:r>
            <a:r>
              <a:rPr lang="ko-KR" altLang="en-US" dirty="0" smtClean="0"/>
              <a:t>중</a:t>
            </a:r>
            <a:r>
              <a:rPr lang="en-US" altLang="ko-KR" dirty="0" smtClean="0"/>
              <a:t> mode </a:t>
            </a:r>
            <a:r>
              <a:rPr lang="ko-KR" altLang="en-US" dirty="0" smtClean="0"/>
              <a:t>동작 변경 </a:t>
            </a:r>
            <a:r>
              <a:rPr lang="en-US" altLang="ko-KR" dirty="0" smtClean="0"/>
              <a:t>test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73134" y="3462873"/>
            <a:ext cx="6579686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 smtClean="0"/>
              <a:t>run-stop:</a:t>
            </a:r>
          </a:p>
          <a:p>
            <a:pPr lvl="1"/>
            <a:r>
              <a:rPr lang="en-US" altLang="ko-KR" dirty="0" smtClean="0"/>
              <a:t>up-counter simulation </a:t>
            </a:r>
            <a:r>
              <a:rPr lang="ko-KR" altLang="en-US" dirty="0" smtClean="0"/>
              <a:t>중 </a:t>
            </a:r>
            <a:r>
              <a:rPr lang="en-US" altLang="ko-KR" dirty="0" smtClean="0"/>
              <a:t>run-stop</a:t>
            </a:r>
            <a:r>
              <a:rPr lang="ko-KR" altLang="en-US" dirty="0" smtClean="0"/>
              <a:t> 신호를 키고 끄는 </a:t>
            </a:r>
            <a:r>
              <a:rPr lang="en-US" altLang="ko-KR" dirty="0" smtClean="0"/>
              <a:t>test</a:t>
            </a:r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1573134" y="4482172"/>
            <a:ext cx="6174447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 smtClean="0"/>
              <a:t>clear:</a:t>
            </a:r>
          </a:p>
          <a:p>
            <a:pPr lvl="1"/>
            <a:r>
              <a:rPr lang="en-US" altLang="ko-KR" dirty="0"/>
              <a:t>up-counter simulation </a:t>
            </a:r>
            <a:r>
              <a:rPr lang="ko-KR" altLang="en-US" dirty="0" smtClean="0"/>
              <a:t>중 </a:t>
            </a:r>
            <a:r>
              <a:rPr lang="en-US" altLang="ko-KR" dirty="0" smtClean="0"/>
              <a:t>clear </a:t>
            </a:r>
            <a:r>
              <a:rPr lang="ko-KR" altLang="en-US" dirty="0" smtClean="0"/>
              <a:t>신호를 키고 끄는 </a:t>
            </a:r>
            <a:r>
              <a:rPr lang="en-US" altLang="ko-KR" dirty="0" smtClean="0"/>
              <a:t>test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941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기능 </a:t>
            </a:r>
            <a:r>
              <a:rPr lang="en-US" altLang="ko-KR" dirty="0"/>
              <a:t>test(mode)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11138" y="4402300"/>
            <a:ext cx="538447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mode == 0: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1. 0~9999</a:t>
            </a:r>
            <a:r>
              <a:rPr lang="ko-KR" altLang="en-US" dirty="0" smtClean="0"/>
              <a:t>까지 </a:t>
            </a:r>
            <a:r>
              <a:rPr lang="en-US" altLang="ko-KR" dirty="0" smtClean="0"/>
              <a:t>up-count</a:t>
            </a:r>
            <a:r>
              <a:rPr lang="ko-KR" altLang="en-US" dirty="0" smtClean="0"/>
              <a:t> 하는지 확인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2. 9999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 되는지 확인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59" y="1805874"/>
            <a:ext cx="2867222" cy="48721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11138" y="2270473"/>
            <a:ext cx="46135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mode = 1’b0 </a:t>
            </a:r>
          </a:p>
          <a:p>
            <a:pPr marL="342900" indent="-342900">
              <a:buAutoNum type="arabicPeriod"/>
            </a:pPr>
            <a:r>
              <a:rPr lang="en-US" altLang="ko-KR" dirty="0" err="1" smtClean="0"/>
              <a:t>run_stop</a:t>
            </a:r>
            <a:r>
              <a:rPr lang="en-US" altLang="ko-KR" dirty="0" smtClean="0"/>
              <a:t> =</a:t>
            </a:r>
            <a:r>
              <a:rPr lang="ko-KR" altLang="en-US" dirty="0" smtClean="0"/>
              <a:t> </a:t>
            </a:r>
            <a:r>
              <a:rPr lang="en-US" altLang="ko-KR" dirty="0" smtClean="0"/>
              <a:t>1’b1 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clear = 1’b0</a:t>
            </a:r>
          </a:p>
          <a:p>
            <a:r>
              <a:rPr lang="en-US" altLang="ko-KR" dirty="0"/>
              <a:t>4</a:t>
            </a:r>
            <a:r>
              <a:rPr lang="en-US" altLang="ko-KR" dirty="0" smtClean="0"/>
              <a:t>.  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10ns</a:t>
            </a:r>
          </a:p>
          <a:p>
            <a:r>
              <a:rPr lang="en-US" altLang="ko-KR" dirty="0"/>
              <a:t>5</a:t>
            </a:r>
            <a:r>
              <a:rPr lang="en-US" altLang="ko-KR" dirty="0" smtClean="0"/>
              <a:t>.  tick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20ns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380823" y="187535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simulation </a:t>
            </a:r>
            <a:r>
              <a:rPr lang="ko-KR" altLang="en-US" dirty="0" smtClean="0"/>
              <a:t>조건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380823" y="4032968"/>
            <a:ext cx="167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확인 할 부분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092183" y="1321356"/>
            <a:ext cx="4738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 smtClean="0"/>
              <a:t>1. </a:t>
            </a:r>
            <a:r>
              <a:rPr lang="en-US" altLang="ko-KR" dirty="0"/>
              <a:t>mode(up-counter)</a:t>
            </a:r>
            <a:r>
              <a:rPr lang="ko-KR" altLang="en-US" dirty="0"/>
              <a:t> 단일 </a:t>
            </a:r>
            <a:r>
              <a:rPr lang="en-US" altLang="ko-KR" dirty="0" smtClean="0"/>
              <a:t>test - </a:t>
            </a:r>
            <a:r>
              <a:rPr lang="en-US" altLang="ko-KR" dirty="0" err="1"/>
              <a:t>testbench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836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22429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</a:t>
            </a:r>
            <a:r>
              <a:rPr lang="en-US" altLang="ko-KR" dirty="0"/>
              <a:t>mode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40251" y="3526892"/>
            <a:ext cx="10001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기준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mode = 0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0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</a:t>
            </a:r>
            <a:r>
              <a:rPr lang="en-US" altLang="ko-KR" dirty="0" smtClean="0"/>
              <a:t>positive </a:t>
            </a:r>
            <a:r>
              <a:rPr lang="en-US" altLang="ko-KR" dirty="0" err="1" smtClean="0"/>
              <a:t>egde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tick 1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up-count</a:t>
            </a:r>
            <a:r>
              <a:rPr lang="ko-KR" altLang="en-US" dirty="0" smtClean="0"/>
              <a:t> 수행 확인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260" y="4137305"/>
            <a:ext cx="9692994" cy="13614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260" y="2150990"/>
            <a:ext cx="9692994" cy="13081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40251" y="5609033"/>
            <a:ext cx="10001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9999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 되는 것을 확인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1092183" y="1321356"/>
            <a:ext cx="4738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 smtClean="0"/>
              <a:t>1. </a:t>
            </a:r>
            <a:r>
              <a:rPr lang="en-US" altLang="ko-KR" dirty="0"/>
              <a:t>mode(up-counter)</a:t>
            </a:r>
            <a:r>
              <a:rPr lang="ko-KR" altLang="en-US" dirty="0"/>
              <a:t> 단일 </a:t>
            </a:r>
            <a:r>
              <a:rPr lang="en-US" altLang="ko-KR" dirty="0" smtClean="0"/>
              <a:t>test - simulation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416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</a:t>
            </a:r>
            <a:r>
              <a:rPr lang="en-US" altLang="ko-KR" dirty="0"/>
              <a:t>mode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90" y="1690688"/>
            <a:ext cx="2769771" cy="493765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092183" y="1321356"/>
            <a:ext cx="688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/>
              <a:t>2</a:t>
            </a:r>
            <a:r>
              <a:rPr lang="en-US" altLang="ko-KR" dirty="0" smtClean="0"/>
              <a:t>. mode(down-counter</a:t>
            </a:r>
            <a:r>
              <a:rPr lang="en-US" altLang="ko-KR" dirty="0"/>
              <a:t>)</a:t>
            </a:r>
            <a:r>
              <a:rPr lang="ko-KR" altLang="en-US" dirty="0"/>
              <a:t> 단일 </a:t>
            </a:r>
            <a:r>
              <a:rPr lang="en-US" altLang="ko-KR" dirty="0" smtClean="0"/>
              <a:t>test - </a:t>
            </a:r>
            <a:r>
              <a:rPr lang="en-US" altLang="ko-KR" dirty="0" err="1"/>
              <a:t>testbench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11138" y="4402300"/>
            <a:ext cx="538447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mode == 1:</a:t>
            </a:r>
          </a:p>
          <a:p>
            <a:r>
              <a:rPr lang="en-US" altLang="ko-KR" dirty="0"/>
              <a:t>	1. 0~9999</a:t>
            </a:r>
            <a:r>
              <a:rPr lang="ko-KR" altLang="en-US" dirty="0"/>
              <a:t>까지 </a:t>
            </a:r>
            <a:r>
              <a:rPr lang="en-US" altLang="ko-KR" dirty="0" smtClean="0"/>
              <a:t>down-count</a:t>
            </a:r>
            <a:r>
              <a:rPr lang="ko-KR" altLang="en-US" dirty="0" smtClean="0"/>
              <a:t> </a:t>
            </a:r>
            <a:r>
              <a:rPr lang="ko-KR" altLang="en-US" dirty="0"/>
              <a:t>하는지 확인</a:t>
            </a:r>
            <a:endParaRPr lang="en-US" altLang="ko-KR" dirty="0"/>
          </a:p>
          <a:p>
            <a:r>
              <a:rPr lang="en-US" altLang="ko-KR" dirty="0"/>
              <a:t>	2. 0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9999</a:t>
            </a:r>
            <a:r>
              <a:rPr lang="ko-KR" altLang="en-US" dirty="0" smtClean="0"/>
              <a:t>으로 초기화 되는지 확인</a:t>
            </a:r>
            <a:endParaRPr lang="en-US" altLang="ko-KR" dirty="0"/>
          </a:p>
        </p:txBody>
      </p:sp>
      <p:sp>
        <p:nvSpPr>
          <p:cNvPr id="13" name="TextBox 12"/>
          <p:cNvSpPr txBox="1"/>
          <p:nvPr/>
        </p:nvSpPr>
        <p:spPr>
          <a:xfrm>
            <a:off x="5511138" y="2270473"/>
            <a:ext cx="461356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mode = 1’b1 </a:t>
            </a:r>
          </a:p>
          <a:p>
            <a:pPr marL="342900" indent="-342900">
              <a:buAutoNum type="arabicPeriod"/>
            </a:pPr>
            <a:r>
              <a:rPr lang="en-US" altLang="ko-KR" dirty="0" err="1" smtClean="0"/>
              <a:t>run_stop</a:t>
            </a:r>
            <a:r>
              <a:rPr lang="en-US" altLang="ko-KR" dirty="0" smtClean="0"/>
              <a:t> =</a:t>
            </a:r>
            <a:r>
              <a:rPr lang="ko-KR" altLang="en-US" dirty="0" smtClean="0"/>
              <a:t> </a:t>
            </a:r>
            <a:r>
              <a:rPr lang="en-US" altLang="ko-KR" dirty="0" smtClean="0"/>
              <a:t>1’b1 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clear = 1’b0</a:t>
            </a:r>
          </a:p>
          <a:p>
            <a:r>
              <a:rPr lang="en-US" altLang="ko-KR" dirty="0"/>
              <a:t>4</a:t>
            </a:r>
            <a:r>
              <a:rPr lang="en-US" altLang="ko-KR" dirty="0" smtClean="0"/>
              <a:t>.  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10ns</a:t>
            </a:r>
          </a:p>
          <a:p>
            <a:r>
              <a:rPr lang="en-US" altLang="ko-KR" dirty="0"/>
              <a:t>5</a:t>
            </a:r>
            <a:r>
              <a:rPr lang="en-US" altLang="ko-KR" dirty="0" smtClean="0"/>
              <a:t>.  tick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20ns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380823" y="187535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simulation </a:t>
            </a:r>
            <a:r>
              <a:rPr lang="ko-KR" altLang="en-US" dirty="0" smtClean="0"/>
              <a:t>조건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380823" y="4032968"/>
            <a:ext cx="167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확인 할 부분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938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22429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</a:t>
            </a:r>
            <a:r>
              <a:rPr lang="en-US" altLang="ko-KR" dirty="0"/>
              <a:t>mode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40251" y="3526892"/>
            <a:ext cx="10001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기준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mode = 1</a:t>
            </a:r>
            <a:r>
              <a:rPr lang="ko-KR" altLang="en-US" dirty="0" smtClean="0"/>
              <a:t>일 때</a:t>
            </a:r>
            <a:r>
              <a:rPr lang="en-US" altLang="ko-KR" dirty="0" smtClean="0"/>
              <a:t>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9999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</a:t>
            </a:r>
            <a:r>
              <a:rPr lang="en-US" altLang="ko-KR" dirty="0" smtClean="0"/>
              <a:t>positive </a:t>
            </a:r>
            <a:r>
              <a:rPr lang="en-US" altLang="ko-KR" dirty="0" err="1" smtClean="0"/>
              <a:t>egde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tick 1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down-count</a:t>
            </a:r>
            <a:r>
              <a:rPr lang="ko-KR" altLang="en-US" dirty="0" smtClean="0"/>
              <a:t> 수행 확인</a:t>
            </a:r>
            <a:endParaRPr lang="en-US" altLang="ko-KR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1440251" y="5609033"/>
            <a:ext cx="10001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는 </a:t>
            </a:r>
            <a:r>
              <a:rPr lang="en-US" altLang="ko-KR" dirty="0"/>
              <a:t>0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9999</a:t>
            </a:r>
            <a:r>
              <a:rPr lang="ko-KR" altLang="en-US" dirty="0" smtClean="0"/>
              <a:t>으로 초기화 되는 것을 확인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1092182" y="1321356"/>
            <a:ext cx="9174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/>
              <a:t>2</a:t>
            </a:r>
            <a:r>
              <a:rPr lang="en-US" altLang="ko-KR" dirty="0" smtClean="0"/>
              <a:t>. mode(down-counter</a:t>
            </a:r>
            <a:r>
              <a:rPr lang="en-US" altLang="ko-KR" dirty="0"/>
              <a:t>)</a:t>
            </a:r>
            <a:r>
              <a:rPr lang="ko-KR" altLang="en-US" dirty="0"/>
              <a:t> 단일 </a:t>
            </a:r>
            <a:r>
              <a:rPr lang="en-US" altLang="ko-KR" dirty="0" smtClean="0"/>
              <a:t>test - simulation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76" y="4173223"/>
            <a:ext cx="8864425" cy="137376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317" y="2306971"/>
            <a:ext cx="8916584" cy="121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9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</a:t>
            </a:r>
            <a:r>
              <a:rPr lang="en-US" altLang="ko-KR" dirty="0"/>
              <a:t>mode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11138" y="4402300"/>
            <a:ext cx="59485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mode(up-count)</a:t>
            </a:r>
            <a:r>
              <a:rPr lang="ko-KR" altLang="en-US" dirty="0" smtClean="0"/>
              <a:t>을 진행하는 도중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mode(down-count)</a:t>
            </a:r>
            <a:r>
              <a:rPr lang="ko-KR" altLang="en-US" dirty="0" smtClean="0"/>
              <a:t>를 변경 시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의 출력 확인 </a:t>
            </a:r>
            <a:r>
              <a:rPr lang="en-US" altLang="ko-KR" dirty="0" smtClean="0"/>
              <a:t> </a:t>
            </a:r>
            <a:endParaRPr lang="en-US" altLang="ko-KR" dirty="0"/>
          </a:p>
        </p:txBody>
      </p:sp>
      <p:sp>
        <p:nvSpPr>
          <p:cNvPr id="13" name="TextBox 12"/>
          <p:cNvSpPr txBox="1"/>
          <p:nvPr/>
        </p:nvSpPr>
        <p:spPr>
          <a:xfrm>
            <a:off x="5511138" y="2270473"/>
            <a:ext cx="461356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 smtClean="0"/>
              <a:t>run_stop</a:t>
            </a:r>
            <a:r>
              <a:rPr lang="en-US" altLang="ko-KR" dirty="0" smtClean="0"/>
              <a:t> =</a:t>
            </a:r>
            <a:r>
              <a:rPr lang="ko-KR" altLang="en-US" dirty="0" smtClean="0"/>
              <a:t> </a:t>
            </a:r>
            <a:r>
              <a:rPr lang="en-US" altLang="ko-KR" dirty="0" smtClean="0"/>
              <a:t>1’b1 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clear = 1’b0</a:t>
            </a:r>
          </a:p>
          <a:p>
            <a:r>
              <a:rPr lang="en-US" altLang="ko-KR" dirty="0" smtClean="0"/>
              <a:t>3.  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10ns</a:t>
            </a:r>
          </a:p>
          <a:p>
            <a:r>
              <a:rPr lang="en-US" altLang="ko-KR" dirty="0" smtClean="0"/>
              <a:t>4.  tick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20ns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380823" y="187535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simulation </a:t>
            </a:r>
            <a:r>
              <a:rPr lang="ko-KR" altLang="en-US" dirty="0" smtClean="0"/>
              <a:t>조건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380823" y="4032968"/>
            <a:ext cx="167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확인 할 부분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702" y="1828800"/>
            <a:ext cx="2570602" cy="4642722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1092182" y="1321356"/>
            <a:ext cx="9174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 smtClean="0"/>
              <a:t>3</a:t>
            </a:r>
            <a:r>
              <a:rPr lang="en-US" altLang="ko-KR" dirty="0"/>
              <a:t>. (up or down) counting </a:t>
            </a:r>
            <a:r>
              <a:rPr lang="ko-KR" altLang="en-US" dirty="0"/>
              <a:t>중</a:t>
            </a:r>
            <a:r>
              <a:rPr lang="en-US" altLang="ko-KR" dirty="0"/>
              <a:t> mode </a:t>
            </a:r>
            <a:r>
              <a:rPr lang="ko-KR" altLang="en-US" dirty="0"/>
              <a:t>동작 변경 </a:t>
            </a:r>
            <a:r>
              <a:rPr lang="en-US" altLang="ko-KR" dirty="0" smtClean="0"/>
              <a:t>test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1472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22429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test(mode)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434313" y="4451189"/>
            <a:ext cx="10001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mode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0 -&gt; 1</a:t>
            </a:r>
            <a:r>
              <a:rPr lang="ko-KR" altLang="en-US" dirty="0" smtClean="0"/>
              <a:t>로 변하는 신호에 다음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mode(down-count)</a:t>
            </a:r>
            <a:r>
              <a:rPr lang="ko-KR" altLang="en-US" dirty="0" smtClean="0"/>
              <a:t>를 진행하는 것을 확인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1092182" y="1321356"/>
            <a:ext cx="9174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 smtClean="0"/>
              <a:t>3</a:t>
            </a:r>
            <a:r>
              <a:rPr lang="en-US" altLang="ko-KR" dirty="0"/>
              <a:t>. (up or down) counting </a:t>
            </a:r>
            <a:r>
              <a:rPr lang="ko-KR" altLang="en-US" dirty="0"/>
              <a:t>중</a:t>
            </a:r>
            <a:r>
              <a:rPr lang="en-US" altLang="ko-KR" dirty="0"/>
              <a:t> mode </a:t>
            </a:r>
            <a:r>
              <a:rPr lang="ko-KR" altLang="en-US" dirty="0"/>
              <a:t>동작 변경 </a:t>
            </a:r>
            <a:r>
              <a:rPr lang="en-US" altLang="ko-KR" dirty="0" smtClean="0"/>
              <a:t>test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94" y="2707294"/>
            <a:ext cx="10798702" cy="151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14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test(run-stop)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11138" y="4402300"/>
            <a:ext cx="651856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mode(up-count) </a:t>
            </a:r>
            <a:r>
              <a:rPr lang="ko-KR" altLang="en-US" dirty="0" smtClean="0"/>
              <a:t>하는 도중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run-stop</a:t>
            </a:r>
            <a:r>
              <a:rPr lang="ko-KR" altLang="en-US" dirty="0" smtClean="0"/>
              <a:t>의 신호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을 입력 시 동작을 안하는지 확인</a:t>
            </a:r>
            <a:endParaRPr lang="en-US" altLang="ko-KR" dirty="0" smtClean="0"/>
          </a:p>
          <a:p>
            <a:r>
              <a:rPr lang="en-US" altLang="ko-KR" dirty="0" smtClean="0"/>
              <a:t>2. run-stop</a:t>
            </a:r>
            <a:r>
              <a:rPr lang="ko-KR" altLang="en-US" dirty="0" smtClean="0"/>
              <a:t>의 신호를 </a:t>
            </a:r>
            <a:r>
              <a:rPr lang="en-US" altLang="ko-KR" dirty="0" smtClean="0"/>
              <a:t>1’b1</a:t>
            </a:r>
            <a:r>
              <a:rPr lang="ko-KR" altLang="en-US" dirty="0" smtClean="0"/>
              <a:t>을 입력 시 동작을 </a:t>
            </a:r>
            <a:r>
              <a:rPr lang="ko-KR" altLang="en-US" dirty="0" err="1" smtClean="0"/>
              <a:t>이여하는지</a:t>
            </a:r>
            <a:r>
              <a:rPr lang="ko-KR" altLang="en-US" dirty="0" smtClean="0"/>
              <a:t> 확인</a:t>
            </a:r>
            <a:endParaRPr lang="en-US" altLang="ko-KR" dirty="0"/>
          </a:p>
        </p:txBody>
      </p:sp>
      <p:sp>
        <p:nvSpPr>
          <p:cNvPr id="13" name="TextBox 12"/>
          <p:cNvSpPr txBox="1"/>
          <p:nvPr/>
        </p:nvSpPr>
        <p:spPr>
          <a:xfrm>
            <a:off x="5511138" y="2270473"/>
            <a:ext cx="461356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mode = 1’b1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clear = 1’b0</a:t>
            </a:r>
          </a:p>
          <a:p>
            <a:r>
              <a:rPr lang="en-US" altLang="ko-KR" dirty="0" smtClean="0"/>
              <a:t>3.  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10ns</a:t>
            </a:r>
          </a:p>
          <a:p>
            <a:r>
              <a:rPr lang="en-US" altLang="ko-KR" dirty="0" smtClean="0"/>
              <a:t>4.  tick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20ns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380823" y="187535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simulation </a:t>
            </a:r>
            <a:r>
              <a:rPr lang="ko-KR" altLang="en-US" dirty="0" smtClean="0"/>
              <a:t>조건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380823" y="4032968"/>
            <a:ext cx="167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확인 할 부분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092182" y="1321356"/>
            <a:ext cx="9174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 smtClean="0"/>
              <a:t>1. up-counter </a:t>
            </a:r>
            <a:r>
              <a:rPr lang="en-US" altLang="ko-KR" dirty="0"/>
              <a:t>simulation </a:t>
            </a:r>
            <a:r>
              <a:rPr lang="ko-KR" altLang="en-US" dirty="0"/>
              <a:t>중 </a:t>
            </a:r>
            <a:r>
              <a:rPr lang="en-US" altLang="ko-KR" dirty="0"/>
              <a:t>run-stop</a:t>
            </a:r>
            <a:r>
              <a:rPr lang="ko-KR" altLang="en-US" dirty="0"/>
              <a:t> 신호를 키고 끄는 </a:t>
            </a:r>
            <a:r>
              <a:rPr lang="en-US" altLang="ko-KR" dirty="0" smtClean="0"/>
              <a:t>test - </a:t>
            </a:r>
            <a:r>
              <a:rPr lang="en-US" altLang="ko-KR" dirty="0" err="1" smtClean="0"/>
              <a:t>testbench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05" y="1805531"/>
            <a:ext cx="2575181" cy="482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34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22429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test(run-stop)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434313" y="4451189"/>
            <a:ext cx="10001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up-count</a:t>
            </a:r>
            <a:r>
              <a:rPr lang="ko-KR" altLang="en-US" dirty="0" smtClean="0"/>
              <a:t>로 동작하다 </a:t>
            </a:r>
            <a:r>
              <a:rPr lang="en-US" altLang="ko-KR" dirty="0" err="1" smtClean="0"/>
              <a:t>run_stop</a:t>
            </a:r>
            <a:r>
              <a:rPr lang="ko-KR" altLang="en-US" dirty="0" smtClean="0"/>
              <a:t>의 신호가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로 변환 시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동작을 멈추는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run_stop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인 도중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은 같은 값을 유지하며 출력하는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/>
              <a:t>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run_stop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으로 변환 시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값을 이여서 </a:t>
            </a:r>
            <a:r>
              <a:rPr lang="en-US" altLang="ko-KR" dirty="0" smtClean="0"/>
              <a:t>up-count </a:t>
            </a:r>
            <a:r>
              <a:rPr lang="ko-KR" altLang="en-US" dirty="0" smtClean="0"/>
              <a:t>동작하는 것을 확인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1092182" y="1321356"/>
            <a:ext cx="9174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/>
              <a:t>1. up-counter simulation </a:t>
            </a:r>
            <a:r>
              <a:rPr lang="ko-KR" altLang="en-US" dirty="0"/>
              <a:t>중 </a:t>
            </a:r>
            <a:r>
              <a:rPr lang="en-US" altLang="ko-KR" dirty="0"/>
              <a:t>run-stop</a:t>
            </a:r>
            <a:r>
              <a:rPr lang="ko-KR" altLang="en-US" dirty="0"/>
              <a:t> 신호를 키고 끄는 </a:t>
            </a:r>
            <a:r>
              <a:rPr lang="en-US" altLang="ko-KR" dirty="0"/>
              <a:t>test </a:t>
            </a:r>
            <a:r>
              <a:rPr lang="en-US" altLang="ko-KR" dirty="0" smtClean="0"/>
              <a:t>– simulation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13" y="2900550"/>
            <a:ext cx="9799058" cy="136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04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test(clear)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511138" y="4402300"/>
            <a:ext cx="651856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mode(up-count) </a:t>
            </a:r>
            <a:r>
              <a:rPr lang="ko-KR" altLang="en-US" dirty="0" smtClean="0"/>
              <a:t>하는 도중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clear</a:t>
            </a:r>
            <a:r>
              <a:rPr lang="ko-KR" altLang="en-US" dirty="0" smtClean="0"/>
              <a:t>의 신호 </a:t>
            </a:r>
            <a:r>
              <a:rPr lang="en-US" altLang="ko-KR" dirty="0" smtClean="0"/>
              <a:t>1’b1</a:t>
            </a:r>
            <a:r>
              <a:rPr lang="ko-KR" altLang="en-US" dirty="0" smtClean="0"/>
              <a:t>을 입력 시 </a:t>
            </a:r>
            <a:r>
              <a:rPr lang="en-US" altLang="ko-KR" dirty="0" smtClean="0"/>
              <a:t>clear </a:t>
            </a:r>
            <a:r>
              <a:rPr lang="ko-KR" altLang="en-US" dirty="0" smtClean="0"/>
              <a:t>동작을 하는지 확인</a:t>
            </a:r>
            <a:endParaRPr lang="en-US" altLang="ko-KR" dirty="0" smtClean="0"/>
          </a:p>
          <a:p>
            <a:r>
              <a:rPr lang="en-US" altLang="ko-KR" dirty="0" smtClean="0"/>
              <a:t>2. clear</a:t>
            </a:r>
            <a:r>
              <a:rPr lang="ko-KR" altLang="en-US" dirty="0" smtClean="0"/>
              <a:t>의 신호를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을 입력 시 </a:t>
            </a:r>
            <a:r>
              <a:rPr lang="en-US" altLang="ko-KR" dirty="0" smtClean="0"/>
              <a:t>up-count </a:t>
            </a:r>
            <a:r>
              <a:rPr lang="ko-KR" altLang="en-US" dirty="0" smtClean="0"/>
              <a:t>동작을 하는지 확인</a:t>
            </a:r>
            <a:endParaRPr lang="en-US" altLang="ko-KR" dirty="0"/>
          </a:p>
        </p:txBody>
      </p:sp>
      <p:sp>
        <p:nvSpPr>
          <p:cNvPr id="13" name="TextBox 12"/>
          <p:cNvSpPr txBox="1"/>
          <p:nvPr/>
        </p:nvSpPr>
        <p:spPr>
          <a:xfrm>
            <a:off x="5511138" y="2270473"/>
            <a:ext cx="461356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mode = 1’b1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run-stop = 1’b1</a:t>
            </a:r>
          </a:p>
          <a:p>
            <a:r>
              <a:rPr lang="en-US" altLang="ko-KR" dirty="0" smtClean="0"/>
              <a:t>3.  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10ns</a:t>
            </a:r>
          </a:p>
          <a:p>
            <a:r>
              <a:rPr lang="en-US" altLang="ko-KR" dirty="0" smtClean="0"/>
              <a:t>4.  tick </a:t>
            </a:r>
            <a:r>
              <a:rPr lang="ko-KR" altLang="en-US" dirty="0" smtClean="0"/>
              <a:t>주기 </a:t>
            </a:r>
            <a:r>
              <a:rPr lang="en-US" altLang="ko-KR" dirty="0"/>
              <a:t>:</a:t>
            </a:r>
            <a:r>
              <a:rPr lang="en-US" altLang="ko-KR" dirty="0" smtClean="0"/>
              <a:t> 20ns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380823" y="187535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simulation </a:t>
            </a:r>
            <a:r>
              <a:rPr lang="ko-KR" altLang="en-US" dirty="0" smtClean="0"/>
              <a:t>조건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380823" y="4032968"/>
            <a:ext cx="167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확인 할 부분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092182" y="1321356"/>
            <a:ext cx="9174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 smtClean="0"/>
              <a:t>1. </a:t>
            </a:r>
            <a:r>
              <a:rPr lang="en-US" altLang="ko-KR" dirty="0"/>
              <a:t>up-counter simulation </a:t>
            </a:r>
            <a:r>
              <a:rPr lang="ko-KR" altLang="en-US" dirty="0"/>
              <a:t>중 </a:t>
            </a:r>
            <a:r>
              <a:rPr lang="en-US" altLang="ko-KR" dirty="0"/>
              <a:t>clear </a:t>
            </a:r>
            <a:r>
              <a:rPr lang="ko-KR" altLang="en-US" dirty="0"/>
              <a:t>신호를 키고 끄는 </a:t>
            </a:r>
            <a:r>
              <a:rPr lang="en-US" altLang="ko-KR" dirty="0" smtClean="0"/>
              <a:t>test - </a:t>
            </a:r>
            <a:r>
              <a:rPr lang="en-US" altLang="ko-KR" dirty="0" err="1" smtClean="0"/>
              <a:t>testbench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929" y="1875354"/>
            <a:ext cx="2477265" cy="458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27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22429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기능 </a:t>
            </a:r>
            <a:r>
              <a:rPr lang="en-US" altLang="ko-KR" dirty="0" smtClean="0"/>
              <a:t>test(</a:t>
            </a:r>
            <a:r>
              <a:rPr lang="en-US" altLang="ko-KR" dirty="0" err="1" smtClean="0"/>
              <a:t>claer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98601" y="4130556"/>
            <a:ext cx="10001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Output </a:t>
            </a:r>
            <a:r>
              <a:rPr lang="en-US" altLang="ko-KR" dirty="0" err="1" smtClean="0"/>
              <a:t>counter_out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up-count</a:t>
            </a:r>
            <a:r>
              <a:rPr lang="ko-KR" altLang="en-US" dirty="0" smtClean="0"/>
              <a:t>로 동작하다 </a:t>
            </a:r>
            <a:r>
              <a:rPr lang="en-US" altLang="ko-KR" dirty="0" smtClean="0"/>
              <a:t>clear</a:t>
            </a:r>
            <a:r>
              <a:rPr lang="ko-KR" altLang="en-US" dirty="0"/>
              <a:t> </a:t>
            </a:r>
            <a:r>
              <a:rPr lang="ko-KR" altLang="en-US" dirty="0" smtClean="0"/>
              <a:t>신호가 </a:t>
            </a:r>
            <a:r>
              <a:rPr lang="en-US" altLang="ko-KR" dirty="0" smtClean="0"/>
              <a:t>1’b1</a:t>
            </a:r>
            <a:r>
              <a:rPr lang="ko-KR" altLang="en-US" dirty="0" smtClean="0"/>
              <a:t>로 변환 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clear </a:t>
            </a:r>
            <a:r>
              <a:rPr lang="ko-KR" altLang="en-US" dirty="0" smtClean="0"/>
              <a:t>신호가 </a:t>
            </a:r>
            <a:r>
              <a:rPr lang="en-US" altLang="ko-KR" dirty="0" smtClean="0"/>
              <a:t>1‘b0</a:t>
            </a:r>
            <a:r>
              <a:rPr lang="ko-KR" altLang="en-US" dirty="0" smtClean="0"/>
              <a:t>로 변환 시 </a:t>
            </a:r>
            <a:r>
              <a:rPr lang="en-US" altLang="ko-KR" dirty="0" smtClean="0"/>
              <a:t>up-count </a:t>
            </a:r>
            <a:r>
              <a:rPr lang="ko-KR" altLang="en-US" dirty="0" smtClean="0"/>
              <a:t>동작을 수행하는 것을 확인</a:t>
            </a:r>
            <a:endParaRPr lang="en-US" altLang="ko-KR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1092182" y="1321356"/>
            <a:ext cx="9174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ko-KR" dirty="0" smtClean="0"/>
              <a:t>1. </a:t>
            </a:r>
            <a:r>
              <a:rPr lang="en-US" altLang="ko-KR" dirty="0"/>
              <a:t>up-counter simulation </a:t>
            </a:r>
            <a:r>
              <a:rPr lang="ko-KR" altLang="en-US" dirty="0"/>
              <a:t>중 </a:t>
            </a:r>
            <a:r>
              <a:rPr lang="en-US" altLang="ko-KR" dirty="0"/>
              <a:t>clear </a:t>
            </a:r>
            <a:r>
              <a:rPr lang="ko-KR" altLang="en-US" dirty="0"/>
              <a:t>신호를 키고 끄는 </a:t>
            </a:r>
            <a:r>
              <a:rPr lang="en-US" altLang="ko-KR" dirty="0" smtClean="0"/>
              <a:t>test – simulation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82" y="2511980"/>
            <a:ext cx="10393917" cy="128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5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804</Words>
  <Application>Microsoft Office PowerPoint</Application>
  <PresentationFormat>와이드스크린</PresentationFormat>
  <Paragraphs>151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10000 counter run_stop, mode, clear  시뮬레이션</vt:lpstr>
      <vt:lpstr>1. module 설계 목표</vt:lpstr>
      <vt:lpstr>2. code – 추가 설계(counter_10000)</vt:lpstr>
      <vt:lpstr>2. code – 추가 설계(counter_10000)</vt:lpstr>
      <vt:lpstr>2. code – 추가 설계(counter_10000)</vt:lpstr>
      <vt:lpstr>2. code – 추가 설계(counter_10000)</vt:lpstr>
      <vt:lpstr>3. 기능 test</vt:lpstr>
      <vt:lpstr>3. 기능 test(mode)</vt:lpstr>
      <vt:lpstr>3. 기능 test(mode)</vt:lpstr>
      <vt:lpstr>3. 기능 test(mode)</vt:lpstr>
      <vt:lpstr>3. 기능 test(mode)</vt:lpstr>
      <vt:lpstr>3. 기능 test(mode)</vt:lpstr>
      <vt:lpstr>3. 기능 test(mode)</vt:lpstr>
      <vt:lpstr>3. 기능 test(run-stop)</vt:lpstr>
      <vt:lpstr>3. 기능 test(run-stop)</vt:lpstr>
      <vt:lpstr>3. 기능 test(clear)</vt:lpstr>
      <vt:lpstr>3. 기능 test(claer)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31</cp:revision>
  <dcterms:created xsi:type="dcterms:W3CDTF">2026-01-26T09:32:19Z</dcterms:created>
  <dcterms:modified xsi:type="dcterms:W3CDTF">2026-01-27T09:28:56Z</dcterms:modified>
</cp:coreProperties>
</file>