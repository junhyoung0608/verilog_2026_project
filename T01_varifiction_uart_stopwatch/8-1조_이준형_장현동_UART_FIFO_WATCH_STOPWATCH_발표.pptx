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4" r:id="rId5"/>
    <p:sldId id="342" r:id="rId6"/>
    <p:sldId id="275" r:id="rId7"/>
    <p:sldId id="278" r:id="rId8"/>
    <p:sldId id="279" r:id="rId9"/>
    <p:sldId id="280" r:id="rId10"/>
    <p:sldId id="266" r:id="rId11"/>
    <p:sldId id="265" r:id="rId12"/>
    <p:sldId id="268" r:id="rId13"/>
    <p:sldId id="283" r:id="rId14"/>
    <p:sldId id="281" r:id="rId15"/>
    <p:sldId id="276" r:id="rId16"/>
    <p:sldId id="290" r:id="rId17"/>
    <p:sldId id="291" r:id="rId18"/>
    <p:sldId id="292" r:id="rId19"/>
    <p:sldId id="267" r:id="rId20"/>
    <p:sldId id="289" r:id="rId21"/>
    <p:sldId id="270" r:id="rId22"/>
    <p:sldId id="277" r:id="rId23"/>
    <p:sldId id="284" r:id="rId24"/>
    <p:sldId id="273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76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0" autoAdjust="0"/>
    <p:restoredTop sz="94622" autoAdjust="0"/>
  </p:normalViewPr>
  <p:slideViewPr>
    <p:cSldViewPr>
      <p:cViewPr varScale="1">
        <p:scale>
          <a:sx n="78" d="100"/>
          <a:sy n="78" d="100"/>
        </p:scale>
        <p:origin x="570" y="132"/>
      </p:cViewPr>
      <p:guideLst>
        <p:guide orient="horz" pos="4319"/>
        <p:guide pos="7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.png"/><Relationship Id="rId7" Type="http://schemas.openxmlformats.org/officeDocument/2006/relationships/image" Target="../media/image7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8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79.png"/><Relationship Id="rId4" Type="http://schemas.openxmlformats.org/officeDocument/2006/relationships/image" Target="../media/image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83.png"/><Relationship Id="rId4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089400" y="4648200"/>
            <a:ext cx="16192500" cy="3962400"/>
          </a:xfrm>
          <a:prstGeom prst="rect">
            <a:avLst/>
          </a:prstGeom>
        </p:spPr>
        <p:txBody>
          <a:bodyPr lIns="0" tIns="15240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120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System Verilog Verification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55100" y="9156700"/>
            <a:ext cx="6261100" cy="660400"/>
          </a:xfrm>
          <a:prstGeom prst="rect">
            <a:avLst/>
          </a:prstGeom>
        </p:spPr>
        <p:txBody>
          <a:bodyPr lIns="0" tIns="23706" rIns="0" bIns="0" anchor="t"/>
          <a:lstStyle/>
          <a:p>
            <a:pPr lvl="0" algn="ctr">
              <a:lnSpc>
                <a:spcPct val="107899"/>
              </a:lnSpc>
              <a:defRPr/>
            </a:pPr>
            <a:r>
              <a:rPr lang="en-US" sz="3733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8-1</a:t>
            </a:r>
            <a:r>
              <a:rPr lang="ko-KR" altLang="en-US" sz="3733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조</a:t>
            </a:r>
            <a:endParaRPr lang="en-US" sz="3733" b="0" i="0" u="none" strike="noStrike" dirty="0" smtClean="0">
              <a:solidFill>
                <a:srgbClr val="000000"/>
              </a:solidFill>
              <a:latin typeface="맑은 고딕"/>
              <a:cs typeface="Pretendard Bold"/>
            </a:endParaRPr>
          </a:p>
          <a:p>
            <a:pPr lvl="0" algn="ctr">
              <a:lnSpc>
                <a:spcPct val="107899"/>
              </a:lnSpc>
              <a:defRPr/>
            </a:pPr>
            <a:r>
              <a:rPr lang="en-US" sz="3733" b="0" i="0" u="none" strike="noStrike" dirty="0" err="1" smtClean="0">
                <a:solidFill>
                  <a:srgbClr val="000000"/>
                </a:solidFill>
                <a:latin typeface="맑은 고딕"/>
                <a:cs typeface="Pretendard Bold"/>
              </a:rPr>
              <a:t>발표자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  </a:t>
            </a:r>
            <a:r>
              <a:rPr lang="ko-KR" alt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이준형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 </a:t>
            </a:r>
            <a:r>
              <a:rPr lang="en-US" sz="3733" b="0" i="0" u="none" strike="noStrike" dirty="0">
                <a:solidFill>
                  <a:srgbClr val="C2C2C2"/>
                </a:solidFill>
                <a:latin typeface="맑은 고딕"/>
                <a:cs typeface="Pretendard ExtraLight"/>
              </a:rPr>
              <a:t>|</a:t>
            </a:r>
            <a:r>
              <a:rPr lang="ko-KR" altLang="en-US" sz="3733" b="0" i="0" u="none" strike="noStrike" dirty="0">
                <a:solidFill>
                  <a:srgbClr val="C2C2C2"/>
                </a:solidFill>
                <a:latin typeface="맑은 고딕"/>
                <a:cs typeface="Pretendard ExtraLight"/>
              </a:rPr>
              <a:t> 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</a:t>
            </a:r>
            <a:r>
              <a:rPr lang="ko-KR" altLang="en-US" sz="3733" b="0" i="0" u="none" strike="noStrike" dirty="0" err="1">
                <a:solidFill>
                  <a:srgbClr val="000000"/>
                </a:solidFill>
                <a:latin typeface="맑은 고딕"/>
                <a:cs typeface="Pretendard Regular"/>
              </a:rPr>
              <a:t>장현동</a:t>
            </a:r>
            <a:endParaRPr lang="ko-KR" altLang="en-US" sz="3733" b="0" i="0" u="none" strike="noStrike" dirty="0">
              <a:solidFill>
                <a:srgbClr val="000000"/>
              </a:solidFill>
              <a:latin typeface="맑은 고딕"/>
              <a:cs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6000" y="11938000"/>
            <a:ext cx="34417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20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26</a:t>
            </a: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.0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3</a:t>
            </a: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.0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686300" y="6032500"/>
            <a:ext cx="2413000" cy="166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9333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목차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1176000" y="4000500"/>
          <a:ext cx="4368800" cy="571500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01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개요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02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목표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03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블럭도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6941800" y="4000500"/>
          <a:ext cx="4368800" cy="571500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04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Stopwatch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05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Clock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06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Uart Fifo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69999" y="2743200"/>
            <a:ext cx="2844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개요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95400" y="4876800"/>
            <a:ext cx="12302490" cy="41414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Verification Objective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Stopwatch / Clock 기능 정확성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모듈 간 인터페이스 및 타이밍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SystemVerilog 기반 Self-checking Testbench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1943100"/>
            <a:ext cx="2616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목표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95400" y="3893820"/>
            <a:ext cx="15849600" cy="76123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Verification Goal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본 프로젝트의 목표는 SystemVerilog 기반 Testbench를 구축하여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UART RX → FIFO UART TX →</a:t>
            </a:r>
            <a:r>
              <a:rPr lang="en-US" altLang="ko-KR"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FIFO</a:t>
            </a: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데이터 흐름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FIFO Full/Empty 동작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Baud Rate 기반 UART 타이밍 정확성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Stopwatch 기능 검증 (Start/Stop/Reset)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Clock </a:t>
            </a:r>
            <a:r>
              <a:rPr lang="ko-KR" altLang="en-US"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시간설정</a:t>
            </a: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정확성 검증</a:t>
            </a:r>
            <a:r>
              <a:rPr lang="en-US" altLang="ko-KR"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을 수행</a:t>
            </a:r>
          </a:p>
        </p:txBody>
      </p:sp>
    </p:spTree>
    <p:extLst>
      <p:ext uri="{BB962C8B-B14F-4D97-AF65-F5344CB8AC3E}">
        <p14:creationId xmlns:p14="http://schemas.microsoft.com/office/powerpoint/2010/main" val="50149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00699"/>
            <a:ext cx="20170152" cy="9605497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1943100"/>
            <a:ext cx="2616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dirty="0" err="1" smtClean="0">
                <a:solidFill>
                  <a:srgbClr val="000000"/>
                </a:solidFill>
                <a:latin typeface="맑은 고딕"/>
                <a:cs typeface="Arial"/>
              </a:rPr>
              <a:t>블럭도</a:t>
            </a:r>
            <a:endParaRPr lang="ko-KR" altLang="en-US" sz="6666" b="0" i="0" u="none" strike="noStrike" dirty="0">
              <a:solidFill>
                <a:srgbClr val="000000"/>
              </a:solidFill>
              <a:latin typeface="맑은 고딕"/>
              <a:cs typeface="Arial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3335000" y="2667000"/>
            <a:ext cx="3048000" cy="4855839"/>
          </a:xfrm>
          <a:prstGeom prst="rect">
            <a:avLst/>
          </a:prstGeom>
          <a:noFill/>
          <a:ln w="762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403600" y="6697709"/>
            <a:ext cx="3733800" cy="19050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1685276" y="9954128"/>
            <a:ext cx="3962400" cy="162418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206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533400" y="1638299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11074401" y="1879599"/>
            <a:ext cx="114300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53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tick gen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696516" y="3745324"/>
            <a:ext cx="5953685" cy="824465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5087600" y="5257800"/>
            <a:ext cx="3581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7678400" y="403860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100">
                <a:latin typeface="맑은 고딕"/>
              </a:rPr>
              <a:t>100hz -&gt; clk</a:t>
            </a:r>
            <a:r>
              <a:rPr lang="ko-KR" altLang="en-US" sz="4100">
                <a:latin typeface="맑은 고딕"/>
              </a:rPr>
              <a:t>단위로 변경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54518" y="3083768"/>
            <a:ext cx="5575024" cy="9567747"/>
          </a:xfrm>
          <a:prstGeom prst="rect">
            <a:avLst/>
          </a:prstGeom>
        </p:spPr>
      </p:pic>
      <p:sp>
        <p:nvSpPr>
          <p:cNvPr id="15" name="가로 글상자 14"/>
          <p:cNvSpPr txBox="1"/>
          <p:nvPr/>
        </p:nvSpPr>
        <p:spPr>
          <a:xfrm>
            <a:off x="6629400" y="5612130"/>
            <a:ext cx="6934200" cy="1101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300">
                <a:latin typeface="맑은 고딕"/>
              </a:rPr>
              <a:t>run/stop </a:t>
            </a:r>
            <a:r>
              <a:rPr lang="ko-KR" altLang="en-US" sz="3300">
                <a:latin typeface="맑은 고딕"/>
              </a:rPr>
              <a:t>이 </a:t>
            </a:r>
            <a:r>
              <a:rPr lang="en-US" altLang="ko-KR" sz="3300">
                <a:latin typeface="맑은 고딕"/>
              </a:rPr>
              <a:t>1</a:t>
            </a:r>
            <a:r>
              <a:rPr lang="ko-KR" altLang="en-US" sz="3300">
                <a:latin typeface="맑은 고딕"/>
              </a:rPr>
              <a:t> 일 때 </a:t>
            </a:r>
            <a:r>
              <a:rPr lang="en-US" altLang="ko-KR" sz="3300">
                <a:latin typeface="맑은 고딕"/>
              </a:rPr>
              <a:t>mode </a:t>
            </a:r>
            <a:r>
              <a:rPr lang="ko-KR" altLang="en-US" sz="3300">
                <a:latin typeface="맑은 고딕"/>
              </a:rPr>
              <a:t>가 </a:t>
            </a:r>
            <a:r>
              <a:rPr lang="en-US" altLang="ko-KR" sz="3300">
                <a:latin typeface="맑은 고딕"/>
              </a:rPr>
              <a:t>1</a:t>
            </a:r>
            <a:r>
              <a:rPr lang="ko-KR" altLang="en-US" sz="3300">
                <a:latin typeface="맑은 고딕"/>
              </a:rPr>
              <a:t>이면 </a:t>
            </a:r>
            <a:r>
              <a:rPr lang="en-US" altLang="ko-KR" sz="3300">
                <a:latin typeface="맑은 고딕"/>
              </a:rPr>
              <a:t>up count, 0</a:t>
            </a:r>
            <a:r>
              <a:rPr lang="ko-KR" altLang="en-US" sz="3300">
                <a:latin typeface="맑은 고딕"/>
              </a:rPr>
              <a:t>이면 </a:t>
            </a:r>
            <a:r>
              <a:rPr lang="en-US" altLang="ko-KR" sz="3300">
                <a:latin typeface="맑은 고딕"/>
              </a:rPr>
              <a:t>down count </a:t>
            </a:r>
            <a:r>
              <a:rPr lang="ko-KR" altLang="en-US" sz="3300">
                <a:latin typeface="맑은 고딕"/>
              </a:rPr>
              <a:t>동작</a:t>
            </a:r>
          </a:p>
        </p:txBody>
      </p:sp>
    </p:spTree>
    <p:extLst>
      <p:ext uri="{BB962C8B-B14F-4D97-AF65-F5344CB8AC3E}">
        <p14:creationId xmlns:p14="http://schemas.microsoft.com/office/powerpoint/2010/main" val="1875721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60400" y="14097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run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95604" y="5029200"/>
            <a:ext cx="11186797" cy="466764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653509" y="5029183"/>
            <a:ext cx="12486812" cy="461051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7620000" y="6629400"/>
            <a:ext cx="3962399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8305800" y="5777230"/>
            <a:ext cx="1295400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7373600" y="6553200"/>
            <a:ext cx="67818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가로 글상자 15"/>
          <p:cNvSpPr txBox="1"/>
          <p:nvPr/>
        </p:nvSpPr>
        <p:spPr>
          <a:xfrm>
            <a:off x="18745200" y="5867400"/>
            <a:ext cx="1295400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4249174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09600" y="14478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stop / clear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505200" y="4114800"/>
            <a:ext cx="15925800" cy="6734596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3182600" y="5638800"/>
            <a:ext cx="533399" cy="3886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3944599" y="6324600"/>
            <a:ext cx="3048001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Stop / Clear</a:t>
            </a:r>
          </a:p>
        </p:txBody>
      </p:sp>
    </p:spTree>
    <p:extLst>
      <p:ext uri="{BB962C8B-B14F-4D97-AF65-F5344CB8AC3E}">
        <p14:creationId xmlns:p14="http://schemas.microsoft.com/office/powerpoint/2010/main" val="388852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09600" y="14478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sw[0] downcount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495800" y="3684143"/>
            <a:ext cx="14376410" cy="7441057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12877800" y="8382000"/>
            <a:ext cx="63246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14630400" y="7360285"/>
            <a:ext cx="1905000" cy="71500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mode </a:t>
            </a:r>
          </a:p>
        </p:txBody>
      </p:sp>
    </p:spTree>
    <p:extLst>
      <p:ext uri="{BB962C8B-B14F-4D97-AF65-F5344CB8AC3E}">
        <p14:creationId xmlns:p14="http://schemas.microsoft.com/office/powerpoint/2010/main" val="220906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run/stop = 0 or 1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359900" y="760095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mode 0 or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3670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run/stop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mode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clear 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4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888999" y="1638300"/>
            <a:ext cx="13131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verification Block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239000" y="2590800"/>
            <a:ext cx="8305221" cy="10455681"/>
          </a:xfrm>
          <a:prstGeom prst="rect">
            <a:avLst/>
          </a:prstGeom>
        </p:spPr>
      </p:pic>
      <p:sp>
        <p:nvSpPr>
          <p:cNvPr id="13" name="가로 글상자 12"/>
          <p:cNvSpPr txBox="1"/>
          <p:nvPr/>
        </p:nvSpPr>
        <p:spPr>
          <a:xfrm>
            <a:off x="2438400" y="8001000"/>
            <a:ext cx="4572000" cy="168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negedge #4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interface </a:t>
            </a:r>
            <a:r>
              <a:rPr lang="ko-KR" altLang="en-US" sz="3500">
                <a:latin typeface="맑은 고딕"/>
              </a:rPr>
              <a:t>로 기대값</a:t>
            </a:r>
            <a:r>
              <a:rPr lang="en-US" altLang="ko-KR" sz="3500">
                <a:latin typeface="맑은 고딕"/>
              </a:rPr>
              <a:t>,</a:t>
            </a:r>
            <a:r>
              <a:rPr lang="ko-KR" altLang="en-US" sz="3500">
                <a:latin typeface="맑은 고딕"/>
              </a:rPr>
              <a:t> 입력값 </a:t>
            </a:r>
            <a:r>
              <a:rPr lang="en-US" altLang="ko-KR" sz="3500">
                <a:latin typeface="맑은 고딕"/>
              </a:rPr>
              <a:t>drive</a:t>
            </a:r>
          </a:p>
        </p:txBody>
      </p:sp>
      <p:sp>
        <p:nvSpPr>
          <p:cNvPr id="14" name="가로 글상자 13"/>
          <p:cNvSpPr txBox="1"/>
          <p:nvPr/>
        </p:nvSpPr>
        <p:spPr>
          <a:xfrm>
            <a:off x="16078200" y="7723187"/>
            <a:ext cx="4572000" cy="2219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posedge #1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monitor </a:t>
            </a:r>
            <a:r>
              <a:rPr lang="ko-KR" altLang="en-US" sz="3500">
                <a:latin typeface="맑은 고딕"/>
              </a:rPr>
              <a:t>에서 출력값 샘플해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scorboard</a:t>
            </a:r>
            <a:r>
              <a:rPr lang="ko-KR" altLang="en-US" sz="3500">
                <a:latin typeface="맑은 고딕"/>
              </a:rPr>
              <a:t>로 전달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696200" y="71628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1658600" y="71628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696200" y="32766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1734800" y="32766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2667000" y="3124200"/>
            <a:ext cx="4572000" cy="2217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run/stop, mode, clear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randomize</a:t>
            </a:r>
            <a:r>
              <a:rPr lang="ko-KR" altLang="en-US" sz="3500">
                <a:latin typeface="맑은 고딕"/>
              </a:rPr>
              <a:t> 생성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기댓값 생성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hour, min, sec, msec</a:t>
            </a:r>
            <a:endParaRPr lang="ko-KR" altLang="en-US" sz="3500">
              <a:latin typeface="맑은 고딕"/>
            </a:endParaRPr>
          </a:p>
        </p:txBody>
      </p:sp>
      <p:sp>
        <p:nvSpPr>
          <p:cNvPr id="20" name="가로 글상자 19"/>
          <p:cNvSpPr txBox="1"/>
          <p:nvPr/>
        </p:nvSpPr>
        <p:spPr>
          <a:xfrm>
            <a:off x="16154400" y="3490595"/>
            <a:ext cx="5791200" cy="169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>
                <a:latin typeface="맑은 고딕"/>
              </a:rPr>
              <a:t>기대값과 </a:t>
            </a:r>
            <a:r>
              <a:rPr lang="en-US" altLang="ko-KR" sz="3500">
                <a:latin typeface="맑은 고딕"/>
              </a:rPr>
              <a:t>dut </a:t>
            </a:r>
            <a:r>
              <a:rPr lang="ko-KR" altLang="en-US" sz="3500">
                <a:latin typeface="맑은 고딕"/>
              </a:rPr>
              <a:t>출력값을 받아 비교 후 </a:t>
            </a:r>
            <a:r>
              <a:rPr lang="en-US" altLang="ko-KR" sz="3500">
                <a:latin typeface="맑은 고딕"/>
              </a:rPr>
              <a:t>Pass or Fail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이후 </a:t>
            </a:r>
            <a:r>
              <a:rPr lang="en-US" altLang="ko-KR" sz="3500">
                <a:latin typeface="맑은 고딕"/>
              </a:rPr>
              <a:t>gen_next_event</a:t>
            </a:r>
          </a:p>
        </p:txBody>
      </p:sp>
    </p:spTree>
    <p:extLst>
      <p:ext uri="{BB962C8B-B14F-4D97-AF65-F5344CB8AC3E}">
        <p14:creationId xmlns:p14="http://schemas.microsoft.com/office/powerpoint/2010/main" val="421443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 run / stop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3657600"/>
            <a:ext cx="8973214" cy="848866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351469" y="2971800"/>
            <a:ext cx="21422932" cy="6824163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12001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0858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선 17"/>
          <p:cNvCxnSpPr/>
          <p:nvPr/>
        </p:nvCxnSpPr>
        <p:spPr>
          <a:xfrm rot="16200000" flipH="1">
            <a:off x="12382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가로 글상자 19"/>
          <p:cNvSpPr txBox="1"/>
          <p:nvPr/>
        </p:nvSpPr>
        <p:spPr>
          <a:xfrm>
            <a:off x="12192000" y="9495155"/>
            <a:ext cx="5562600" cy="71564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 -&gt; stop -&gt; run </a:t>
            </a:r>
          </a:p>
        </p:txBody>
      </p:sp>
    </p:spTree>
    <p:extLst>
      <p:ext uri="{BB962C8B-B14F-4D97-AF65-F5344CB8AC3E}">
        <p14:creationId xmlns:p14="http://schemas.microsoft.com/office/powerpoint/2010/main" val="3488443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 mode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5800" y="4243275"/>
            <a:ext cx="9372602" cy="81011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86000" y="2705451"/>
            <a:ext cx="21077678" cy="7505349"/>
          </a:xfrm>
          <a:prstGeom prst="rect">
            <a:avLst/>
          </a:prstGeom>
        </p:spPr>
      </p:pic>
      <p:cxnSp>
        <p:nvCxnSpPr>
          <p:cNvPr id="12" name="선 11"/>
          <p:cNvCxnSpPr/>
          <p:nvPr/>
        </p:nvCxnSpPr>
        <p:spPr>
          <a:xfrm rot="16200000" flipH="1">
            <a:off x="11391900" y="61341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선 16"/>
          <p:cNvCxnSpPr/>
          <p:nvPr/>
        </p:nvCxnSpPr>
        <p:spPr>
          <a:xfrm rot="16200000" flipH="1">
            <a:off x="12458700" y="6210299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선 18"/>
          <p:cNvCxnSpPr/>
          <p:nvPr/>
        </p:nvCxnSpPr>
        <p:spPr>
          <a:xfrm rot="16200000" flipH="1">
            <a:off x="12077698" y="6134099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가로 글상자 20"/>
          <p:cNvSpPr txBox="1"/>
          <p:nvPr/>
        </p:nvSpPr>
        <p:spPr>
          <a:xfrm>
            <a:off x="11887200" y="9093200"/>
            <a:ext cx="5562600" cy="71564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Down -&gt; Up -&gt; down </a:t>
            </a:r>
          </a:p>
        </p:txBody>
      </p:sp>
    </p:spTree>
    <p:extLst>
      <p:ext uri="{BB962C8B-B14F-4D97-AF65-F5344CB8AC3E}">
        <p14:creationId xmlns:p14="http://schemas.microsoft.com/office/powerpoint/2010/main" val="1553372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 all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61342" y="3276600"/>
            <a:ext cx="9192258" cy="8980277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89482" y="2680179"/>
            <a:ext cx="18965518" cy="7315734"/>
          </a:xfrm>
          <a:prstGeom prst="rect">
            <a:avLst/>
          </a:prstGeom>
        </p:spPr>
      </p:pic>
      <p:cxnSp>
        <p:nvCxnSpPr>
          <p:cNvPr id="14" name="선 13"/>
          <p:cNvCxnSpPr/>
          <p:nvPr/>
        </p:nvCxnSpPr>
        <p:spPr>
          <a:xfrm rot="16200000" flipH="1">
            <a:off x="5181600" y="69723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선 23"/>
          <p:cNvCxnSpPr/>
          <p:nvPr/>
        </p:nvCxnSpPr>
        <p:spPr>
          <a:xfrm rot="16200000" flipH="1">
            <a:off x="7620000" y="69342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0"/>
          <p:cNvSpPr txBox="1"/>
          <p:nvPr/>
        </p:nvSpPr>
        <p:spPr>
          <a:xfrm>
            <a:off x="7543800" y="9563100"/>
            <a:ext cx="15240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Clear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9982200" y="9563100"/>
            <a:ext cx="19050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down </a:t>
            </a:r>
          </a:p>
        </p:txBody>
      </p:sp>
      <p:cxnSp>
        <p:nvCxnSpPr>
          <p:cNvPr id="26" name="선 25"/>
          <p:cNvCxnSpPr/>
          <p:nvPr/>
        </p:nvCxnSpPr>
        <p:spPr>
          <a:xfrm rot="16200000" flipH="1">
            <a:off x="11658600" y="68580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선 27"/>
          <p:cNvCxnSpPr/>
          <p:nvPr/>
        </p:nvCxnSpPr>
        <p:spPr>
          <a:xfrm rot="16200000" flipH="1">
            <a:off x="13258800" y="68580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0"/>
          <p:cNvSpPr txBox="1"/>
          <p:nvPr/>
        </p:nvSpPr>
        <p:spPr>
          <a:xfrm>
            <a:off x="14173200" y="9563100"/>
            <a:ext cx="32766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run / stop </a:t>
            </a:r>
          </a:p>
        </p:txBody>
      </p:sp>
    </p:spTree>
    <p:extLst>
      <p:ext uri="{BB962C8B-B14F-4D97-AF65-F5344CB8AC3E}">
        <p14:creationId xmlns:p14="http://schemas.microsoft.com/office/powerpoint/2010/main" val="1657663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datapath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696516" y="3745324"/>
            <a:ext cx="5953685" cy="82446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06200" y="2133600"/>
            <a:ext cx="114300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53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tick gen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087600" y="5257800"/>
            <a:ext cx="3581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7449800" y="385191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100">
                <a:latin typeface="맑은 고딕"/>
              </a:rPr>
              <a:t>100hz -&gt; clk</a:t>
            </a:r>
            <a:r>
              <a:rPr lang="ko-KR" altLang="en-US" sz="4100">
                <a:latin typeface="맑은 고딕"/>
              </a:rPr>
              <a:t>단위로 변경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66800" y="3695183"/>
            <a:ext cx="6497117" cy="574232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629218" y="3352799"/>
            <a:ext cx="3576414" cy="8004355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1143000" y="975360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100">
                <a:latin typeface="맑은 고딕"/>
              </a:rPr>
              <a:t>단위별 </a:t>
            </a:r>
            <a:r>
              <a:rPr lang="en-US" altLang="ko-KR" sz="4100">
                <a:latin typeface="맑은 고딕"/>
              </a:rPr>
              <a:t>up/down </a:t>
            </a:r>
            <a:r>
              <a:rPr lang="ko-KR" altLang="en-US" sz="4100">
                <a:latin typeface="맑은 고딕"/>
              </a:rPr>
              <a:t>동작</a:t>
            </a:r>
          </a:p>
        </p:txBody>
      </p:sp>
    </p:spTree>
    <p:extLst>
      <p:ext uri="{BB962C8B-B14F-4D97-AF65-F5344CB8AC3E}">
        <p14:creationId xmlns:p14="http://schemas.microsoft.com/office/powerpoint/2010/main" val="114520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datapath</a:t>
            </a:r>
            <a:r>
              <a:rPr lang="ko-KR" altLang="en-US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up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4536877"/>
            <a:ext cx="22938094" cy="6572646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13030200" y="6400800"/>
            <a:ext cx="3505200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459200" y="7315200"/>
            <a:ext cx="3505200" cy="312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812000" y="7924800"/>
            <a:ext cx="3581400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0276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datapath down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13284" y="4495800"/>
            <a:ext cx="23757432" cy="681077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13030200" y="6400800"/>
            <a:ext cx="3505200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459200" y="7315200"/>
            <a:ext cx="3505200" cy="312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812000" y="7924800"/>
            <a:ext cx="3581400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17612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datapath up/down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38200" y="3657599"/>
            <a:ext cx="22910976" cy="775385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9448802" y="6477000"/>
            <a:ext cx="2971799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2344400" y="6477000"/>
            <a:ext cx="3657600" cy="426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050000" y="6858000"/>
            <a:ext cx="2133600" cy="441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97494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Simulate Scenario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5276850" y="3936999"/>
            <a:ext cx="889000" cy="5270500"/>
          </a:xfrm>
          <a:prstGeom prst="rect">
            <a:avLst/>
          </a:prstGeom>
        </p:spPr>
      </p:pic>
      <p:pic>
        <p:nvPicPr>
          <p:cNvPr id="10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0801350" y="3936999"/>
            <a:ext cx="889000" cy="5270500"/>
          </a:xfrm>
          <a:prstGeom prst="rect">
            <a:avLst/>
          </a:prstGeom>
        </p:spPr>
      </p:pic>
      <p:pic>
        <p:nvPicPr>
          <p:cNvPr id="11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313150" y="3936999"/>
            <a:ext cx="889000" cy="5270500"/>
          </a:xfrm>
          <a:prstGeom prst="rect">
            <a:avLst/>
          </a:prstGeom>
        </p:spPr>
      </p:pic>
      <p:pic>
        <p:nvPicPr>
          <p:cNvPr id="13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377949" y="7835900"/>
            <a:ext cx="3429000" cy="12700"/>
          </a:xfrm>
          <a:prstGeom prst="rect">
            <a:avLst/>
          </a:prstGeom>
        </p:spPr>
      </p:pic>
      <p:pic>
        <p:nvPicPr>
          <p:cNvPr id="14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6902450" y="7835900"/>
            <a:ext cx="3429000" cy="12700"/>
          </a:xfrm>
          <a:prstGeom prst="rect">
            <a:avLst/>
          </a:prstGeom>
        </p:spPr>
      </p:pic>
      <p:pic>
        <p:nvPicPr>
          <p:cNvPr id="15" name="Picture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12426950" y="7835900"/>
            <a:ext cx="3429000" cy="12700"/>
          </a:xfrm>
          <a:prstGeom prst="rect">
            <a:avLst/>
          </a:prstGeom>
        </p:spPr>
      </p:pic>
      <p:sp>
        <p:nvSpPr>
          <p:cNvPr id="17" name="TextBox 19"/>
          <p:cNvSpPr txBox="1"/>
          <p:nvPr/>
        </p:nvSpPr>
        <p:spPr>
          <a:xfrm>
            <a:off x="3587749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01</a:t>
            </a:r>
          </a:p>
        </p:txBody>
      </p:sp>
      <p:sp>
        <p:nvSpPr>
          <p:cNvPr id="18" name="TextBox 20"/>
          <p:cNvSpPr txBox="1"/>
          <p:nvPr/>
        </p:nvSpPr>
        <p:spPr>
          <a:xfrm>
            <a:off x="9112250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02</a:t>
            </a:r>
          </a:p>
        </p:txBody>
      </p:sp>
      <p:sp>
        <p:nvSpPr>
          <p:cNvPr id="19" name="TextBox 21"/>
          <p:cNvSpPr txBox="1"/>
          <p:nvPr/>
        </p:nvSpPr>
        <p:spPr>
          <a:xfrm>
            <a:off x="14636750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03</a:t>
            </a:r>
          </a:p>
        </p:txBody>
      </p:sp>
      <p:sp>
        <p:nvSpPr>
          <p:cNvPr id="21" name="TextBox 23"/>
          <p:cNvSpPr txBox="1"/>
          <p:nvPr/>
        </p:nvSpPr>
        <p:spPr>
          <a:xfrm>
            <a:off x="3587747" y="739140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hour up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min up 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sec up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2666" b="0" i="0" u="none" strike="noStrike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22" name="TextBox 24"/>
          <p:cNvSpPr txBox="1"/>
          <p:nvPr/>
        </p:nvSpPr>
        <p:spPr>
          <a:xfrm>
            <a:off x="9112248" y="739140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randomioze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hour 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min 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sec down</a:t>
            </a:r>
          </a:p>
        </p:txBody>
      </p:sp>
      <p:sp>
        <p:nvSpPr>
          <p:cNvPr id="23" name="TextBox 25"/>
          <p:cNvSpPr txBox="1"/>
          <p:nvPr/>
        </p:nvSpPr>
        <p:spPr>
          <a:xfrm>
            <a:off x="14636748" y="7391400"/>
            <a:ext cx="3670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hour up/down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min up/down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sec up/down</a:t>
            </a:r>
          </a:p>
        </p:txBody>
      </p:sp>
      <p:pic>
        <p:nvPicPr>
          <p:cNvPr id="25" name="Picture 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40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888999" y="1638300"/>
            <a:ext cx="13131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verification Block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400800" y="2895838"/>
            <a:ext cx="9829800" cy="10522983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7315200" y="7475221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7" name="가로 글상자 16"/>
          <p:cNvSpPr txBox="1"/>
          <p:nvPr/>
        </p:nvSpPr>
        <p:spPr>
          <a:xfrm>
            <a:off x="2438400" y="8001000"/>
            <a:ext cx="4572000" cy="168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negedge #4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interface </a:t>
            </a:r>
            <a:r>
              <a:rPr lang="ko-KR" altLang="en-US" sz="3500">
                <a:latin typeface="맑은 고딕"/>
              </a:rPr>
              <a:t>로 기대값</a:t>
            </a:r>
            <a:r>
              <a:rPr lang="en-US" altLang="ko-KR" sz="3500">
                <a:latin typeface="맑은 고딕"/>
              </a:rPr>
              <a:t>,</a:t>
            </a:r>
            <a:r>
              <a:rPr lang="ko-KR" altLang="en-US" sz="3500">
                <a:latin typeface="맑은 고딕"/>
              </a:rPr>
              <a:t> 입력값 </a:t>
            </a:r>
            <a:r>
              <a:rPr lang="en-US" altLang="ko-KR" sz="3500">
                <a:latin typeface="맑은 고딕"/>
              </a:rPr>
              <a:t>drive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2039600" y="7391399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16078200" y="7723187"/>
            <a:ext cx="4572000" cy="2219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posedge #1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monitor </a:t>
            </a:r>
            <a:r>
              <a:rPr lang="ko-KR" altLang="en-US" sz="3500">
                <a:latin typeface="맑은 고딕"/>
              </a:rPr>
              <a:t>에서 출력값 샘플해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scorboard</a:t>
            </a:r>
            <a:r>
              <a:rPr lang="ko-KR" altLang="en-US" sz="3500">
                <a:latin typeface="맑은 고딕"/>
              </a:rPr>
              <a:t>로 전달</a:t>
            </a:r>
          </a:p>
        </p:txBody>
      </p:sp>
      <p:sp>
        <p:nvSpPr>
          <p:cNvPr id="20" name="가로 글상자 19"/>
          <p:cNvSpPr txBox="1"/>
          <p:nvPr/>
        </p:nvSpPr>
        <p:spPr>
          <a:xfrm>
            <a:off x="2057400" y="3429000"/>
            <a:ext cx="4572000" cy="3284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hour up/down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min up/down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sec up/down 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randomize</a:t>
            </a:r>
            <a:r>
              <a:rPr lang="ko-KR" altLang="en-US" sz="3500">
                <a:latin typeface="맑은 고딕"/>
              </a:rPr>
              <a:t> 생성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기댓값 생성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hour, min, sec, msec</a:t>
            </a:r>
          </a:p>
        </p:txBody>
      </p:sp>
      <p:sp>
        <p:nvSpPr>
          <p:cNvPr id="21" name="가로 글상자 20"/>
          <p:cNvSpPr txBox="1"/>
          <p:nvPr/>
        </p:nvSpPr>
        <p:spPr>
          <a:xfrm>
            <a:off x="16306800" y="3602990"/>
            <a:ext cx="5791200" cy="169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>
                <a:latin typeface="맑은 고딕"/>
              </a:rPr>
              <a:t>기대값과 </a:t>
            </a:r>
            <a:r>
              <a:rPr lang="en-US" altLang="ko-KR" sz="3500">
                <a:latin typeface="맑은 고딕"/>
              </a:rPr>
              <a:t>dut </a:t>
            </a:r>
            <a:r>
              <a:rPr lang="ko-KR" altLang="en-US" sz="3500">
                <a:latin typeface="맑은 고딕"/>
              </a:rPr>
              <a:t>출력값을 받아 비교 후 </a:t>
            </a:r>
            <a:r>
              <a:rPr lang="en-US" altLang="ko-KR" sz="3500">
                <a:latin typeface="맑은 고딕"/>
              </a:rPr>
              <a:t>Pass or Fail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이후 </a:t>
            </a:r>
            <a:r>
              <a:rPr lang="en-US" altLang="ko-KR" sz="3500">
                <a:latin typeface="맑은 고딕"/>
              </a:rPr>
              <a:t>gen_next_event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7239000" y="35052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2039600" y="35814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97210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724400"/>
            <a:ext cx="13540134" cy="7820944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371600" y="12573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Simulate  UP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46709" y="2438400"/>
            <a:ext cx="17260492" cy="8070333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8305800" y="68580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선 13"/>
          <p:cNvCxnSpPr/>
          <p:nvPr/>
        </p:nvCxnSpPr>
        <p:spPr>
          <a:xfrm rot="16200000" flipH="1">
            <a:off x="18249900" y="12611100"/>
            <a:ext cx="1143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0287000" y="68580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가로 글상자 17"/>
          <p:cNvSpPr txBox="1"/>
          <p:nvPr/>
        </p:nvSpPr>
        <p:spPr>
          <a:xfrm>
            <a:off x="10058400" y="10578465"/>
            <a:ext cx="3200400" cy="1156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min hour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상승</a:t>
            </a:r>
          </a:p>
        </p:txBody>
      </p:sp>
      <p:sp>
        <p:nvSpPr>
          <p:cNvPr id="19" name="가로 글상자 18"/>
          <p:cNvSpPr txBox="1"/>
          <p:nvPr/>
        </p:nvSpPr>
        <p:spPr>
          <a:xfrm>
            <a:off x="13258800" y="10584180"/>
            <a:ext cx="2514600" cy="1150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min 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상승</a:t>
            </a:r>
          </a:p>
        </p:txBody>
      </p:sp>
    </p:spTree>
    <p:extLst>
      <p:ext uri="{BB962C8B-B14F-4D97-AF65-F5344CB8AC3E}">
        <p14:creationId xmlns:p14="http://schemas.microsoft.com/office/powerpoint/2010/main" val="3325463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12954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Simulate  DOWN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2400" y="4572000"/>
            <a:ext cx="13258800" cy="741683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41886" y="2308106"/>
            <a:ext cx="18936914" cy="7521694"/>
          </a:xfrm>
          <a:prstGeom prst="rect">
            <a:avLst/>
          </a:prstGeom>
        </p:spPr>
      </p:pic>
      <p:cxnSp>
        <p:nvCxnSpPr>
          <p:cNvPr id="15" name="선 14"/>
          <p:cNvCxnSpPr/>
          <p:nvPr/>
        </p:nvCxnSpPr>
        <p:spPr>
          <a:xfrm rot="16200000" flipH="1">
            <a:off x="8763000" y="65532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2954000" y="65532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가로 글상자 16"/>
          <p:cNvSpPr txBox="1"/>
          <p:nvPr/>
        </p:nvSpPr>
        <p:spPr>
          <a:xfrm>
            <a:off x="10972800" y="10210800"/>
            <a:ext cx="3352799" cy="1153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min hour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하강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5468600" y="10354309"/>
            <a:ext cx="3352800" cy="618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min</a:t>
            </a:r>
            <a:r>
              <a:rPr lang="ko-KR" altLang="en-US" sz="3500">
                <a:latin typeface="맑은 고딕"/>
              </a:rPr>
              <a:t> 하강</a:t>
            </a:r>
          </a:p>
        </p:txBody>
      </p:sp>
    </p:spTree>
    <p:extLst>
      <p:ext uri="{BB962C8B-B14F-4D97-AF65-F5344CB8AC3E}">
        <p14:creationId xmlns:p14="http://schemas.microsoft.com/office/powerpoint/2010/main" val="1751014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95400" y="1219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Clock Simulate  ALL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05544" y="4807181"/>
            <a:ext cx="13029456" cy="753721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03680" y="2542564"/>
            <a:ext cx="18822720" cy="7592036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8915400" y="67056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가로 글상자 13"/>
          <p:cNvSpPr txBox="1"/>
          <p:nvPr/>
        </p:nvSpPr>
        <p:spPr>
          <a:xfrm>
            <a:off x="10896600" y="10276864"/>
            <a:ext cx="3352800" cy="2218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up / down </a:t>
            </a:r>
            <a:r>
              <a:rPr lang="ko-KR" altLang="en-US" sz="3500">
                <a:latin typeface="맑은 고딕"/>
              </a:rPr>
              <a:t>동시 </a:t>
            </a:r>
            <a:r>
              <a:rPr lang="en-US" altLang="ko-KR" sz="3500">
                <a:latin typeface="맑은 고딕"/>
              </a:rPr>
              <a:t>=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up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min 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 up</a:t>
            </a:r>
          </a:p>
        </p:txBody>
      </p:sp>
      <p:cxnSp>
        <p:nvCxnSpPr>
          <p:cNvPr id="15" name="선 14"/>
          <p:cNvCxnSpPr/>
          <p:nvPr/>
        </p:nvCxnSpPr>
        <p:spPr>
          <a:xfrm rot="16200000" flipH="1">
            <a:off x="13106400" y="67056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가로 글상자 15"/>
          <p:cNvSpPr txBox="1"/>
          <p:nvPr/>
        </p:nvSpPr>
        <p:spPr>
          <a:xfrm>
            <a:off x="15087599" y="10409885"/>
            <a:ext cx="3352796" cy="2218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 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min up / down 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</a:t>
            </a:r>
            <a:r>
              <a:rPr lang="en-US" altLang="ko-KR" sz="3500">
                <a:latin typeface="맑은 고딕"/>
              </a:rPr>
              <a:t>=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up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 up</a:t>
            </a:r>
          </a:p>
        </p:txBody>
      </p:sp>
    </p:spTree>
    <p:extLst>
      <p:ext uri="{BB962C8B-B14F-4D97-AF65-F5344CB8AC3E}">
        <p14:creationId xmlns:p14="http://schemas.microsoft.com/office/powerpoint/2010/main" val="775206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799" y="1333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Trouble shooting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09600" y="2742596"/>
            <a:ext cx="12722624" cy="708720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487400" y="2714459"/>
            <a:ext cx="5487414" cy="361014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3448976" y="6858000"/>
            <a:ext cx="4153224" cy="347236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9887868" y="6858000"/>
            <a:ext cx="3734132" cy="4167292"/>
          </a:xfrm>
          <a:prstGeom prst="rect">
            <a:avLst/>
          </a:prstGeom>
        </p:spPr>
      </p:pic>
      <p:sp>
        <p:nvSpPr>
          <p:cNvPr id="21" name="오른쪽 화살표 20"/>
          <p:cNvSpPr/>
          <p:nvPr/>
        </p:nvSpPr>
        <p:spPr>
          <a:xfrm>
            <a:off x="17297400" y="7848600"/>
            <a:ext cx="2209800" cy="91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3897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Only Push/Only Pop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50162" y="7600950"/>
            <a:ext cx="52578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Push + Pop at the same time</a:t>
            </a:r>
            <a:endParaRPr lang="en-US" altLang="ko-KR" sz="3500" b="0" i="0" u="none" strike="noStrik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43815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Push/pop 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1000 cycle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01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77491" y="2159246"/>
            <a:ext cx="8170218" cy="10201145"/>
          </a:xfrm>
          <a:prstGeom prst="rect">
            <a:avLst/>
          </a:prstGeom>
        </p:spPr>
      </p:pic>
      <p:graphicFrame>
        <p:nvGraphicFramePr>
          <p:cNvPr id="16" name="Table 12"/>
          <p:cNvGraphicFramePr>
            <a:graphicFrameLocks noGrp="1"/>
          </p:cNvGraphicFramePr>
          <p:nvPr/>
        </p:nvGraphicFramePr>
        <p:xfrm>
          <a:off x="13030200" y="4100031"/>
          <a:ext cx="7941858" cy="5515937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Logic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bit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full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bit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6929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empty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6929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1828800" y="2590800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258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70627" y="3887439"/>
            <a:ext cx="13007220" cy="6907561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77491" y="2159246"/>
            <a:ext cx="8170218" cy="10201145"/>
          </a:xfrm>
          <a:prstGeom prst="rect">
            <a:avLst/>
          </a:prstGeom>
        </p:spPr>
      </p:pic>
      <p:sp>
        <p:nvSpPr>
          <p:cNvPr id="22" name="화살표: 아래쪽 21"/>
          <p:cNvSpPr/>
          <p:nvPr/>
        </p:nvSpPr>
        <p:spPr>
          <a:xfrm>
            <a:off x="13812348" y="3266293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0" name="화살표: 아래쪽 29"/>
          <p:cNvSpPr/>
          <p:nvPr/>
        </p:nvSpPr>
        <p:spPr>
          <a:xfrm>
            <a:off x="15116275" y="326629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화살표: 아래쪽 34"/>
          <p:cNvSpPr/>
          <p:nvPr/>
        </p:nvSpPr>
        <p:spPr>
          <a:xfrm>
            <a:off x="16525122" y="3290176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화살표: 아래쪽 42"/>
          <p:cNvSpPr/>
          <p:nvPr/>
        </p:nvSpPr>
        <p:spPr>
          <a:xfrm>
            <a:off x="17838720" y="3304135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화살표: 아래쪽 43"/>
          <p:cNvSpPr/>
          <p:nvPr/>
        </p:nvSpPr>
        <p:spPr>
          <a:xfrm>
            <a:off x="19232644" y="3285627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5" name="화살표: 아래쪽 44"/>
          <p:cNvSpPr/>
          <p:nvPr/>
        </p:nvSpPr>
        <p:spPr>
          <a:xfrm>
            <a:off x="20570072" y="3275391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화살표: 아래쪽 45"/>
          <p:cNvSpPr/>
          <p:nvPr/>
        </p:nvSpPr>
        <p:spPr>
          <a:xfrm>
            <a:off x="21907500" y="325378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화살표: 아래쪽 48"/>
          <p:cNvSpPr/>
          <p:nvPr/>
        </p:nvSpPr>
        <p:spPr>
          <a:xfrm>
            <a:off x="14325600" y="7362828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0" name="화살표: 아래쪽 49"/>
          <p:cNvSpPr/>
          <p:nvPr/>
        </p:nvSpPr>
        <p:spPr>
          <a:xfrm>
            <a:off x="15663304" y="7362828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1" name="화살표: 아래쪽 50"/>
          <p:cNvSpPr/>
          <p:nvPr/>
        </p:nvSpPr>
        <p:spPr>
          <a:xfrm>
            <a:off x="17001008" y="7341219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화살표: 아래쪽 51"/>
          <p:cNvSpPr/>
          <p:nvPr/>
        </p:nvSpPr>
        <p:spPr>
          <a:xfrm>
            <a:off x="19682326" y="10414000"/>
            <a:ext cx="228600" cy="10021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3" name="화살표: 아래쪽 52"/>
          <p:cNvSpPr/>
          <p:nvPr/>
        </p:nvSpPr>
        <p:spPr>
          <a:xfrm>
            <a:off x="21123032" y="10427854"/>
            <a:ext cx="228600" cy="10021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4" name="화살표: 아래쪽 53"/>
          <p:cNvSpPr/>
          <p:nvPr/>
        </p:nvSpPr>
        <p:spPr>
          <a:xfrm>
            <a:off x="18224412" y="7362828"/>
            <a:ext cx="245807" cy="406717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14554200" y="2286000"/>
            <a:ext cx="5562600" cy="589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5400">
                <a:solidFill>
                  <a:srgbClr val="FF0000"/>
                </a:solidFill>
              </a:rPr>
              <a:t>driver</a:t>
            </a:r>
            <a:endParaRPr lang="ko-KR" altLang="en-US" sz="5400">
              <a:solidFill>
                <a:srgbClr val="FF000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4554200" y="11687517"/>
            <a:ext cx="5562600" cy="589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5400">
                <a:solidFill>
                  <a:srgbClr val="0070C0"/>
                </a:solidFill>
              </a:rPr>
              <a:t>monitor</a:t>
            </a:r>
            <a:endParaRPr lang="ko-KR" altLang="en-US" sz="5400">
              <a:solidFill>
                <a:srgbClr val="0070C0"/>
              </a:solidFill>
            </a:endParaRPr>
          </a:p>
        </p:txBody>
      </p:sp>
      <p:sp>
        <p:nvSpPr>
          <p:cNvPr id="58" name="화살표: 아래쪽 57"/>
          <p:cNvSpPr/>
          <p:nvPr/>
        </p:nvSpPr>
        <p:spPr>
          <a:xfrm>
            <a:off x="13812348" y="3284490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화살표: 아래쪽 58"/>
          <p:cNvSpPr/>
          <p:nvPr/>
        </p:nvSpPr>
        <p:spPr>
          <a:xfrm>
            <a:off x="14325600" y="7381025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828800" y="5282128"/>
            <a:ext cx="7315200" cy="17282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072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77491" y="2247900"/>
            <a:ext cx="8170218" cy="1020114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14226146" y="4089310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Q list</a:t>
            </a:r>
            <a:endParaRPr lang="ko-KR" altLang="en-US" sz="60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935199" y="2133600"/>
            <a:ext cx="213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wdata</a:t>
            </a:r>
            <a:endParaRPr lang="ko-KR" altLang="en-US" sz="5400"/>
          </a:p>
        </p:txBody>
      </p:sp>
      <p:cxnSp>
        <p:nvCxnSpPr>
          <p:cNvPr id="18" name="직선 화살표 연결선 17"/>
          <p:cNvCxnSpPr>
            <a:endCxn id="14" idx="0"/>
          </p:cNvCxnSpPr>
          <p:nvPr/>
        </p:nvCxnSpPr>
        <p:spPr>
          <a:xfrm>
            <a:off x="16001999" y="3022510"/>
            <a:ext cx="1" cy="10668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16078200" y="5206915"/>
            <a:ext cx="0" cy="1851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868400" y="7083214"/>
            <a:ext cx="46481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First input data</a:t>
            </a:r>
            <a:endParaRPr lang="ko-KR" altLang="en-US" sz="5400"/>
          </a:p>
        </p:txBody>
      </p:sp>
      <p:sp>
        <p:nvSpPr>
          <p:cNvPr id="21" name="TextBox 20"/>
          <p:cNvSpPr txBox="1"/>
          <p:nvPr/>
        </p:nvSpPr>
        <p:spPr>
          <a:xfrm>
            <a:off x="19888200" y="2348570"/>
            <a:ext cx="213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rdata</a:t>
            </a:r>
            <a:endParaRPr lang="ko-KR" altLang="en-US" sz="5400"/>
          </a:p>
        </p:txBody>
      </p:sp>
      <p:sp>
        <p:nvSpPr>
          <p:cNvPr id="22" name="직사각형 21"/>
          <p:cNvSpPr/>
          <p:nvPr/>
        </p:nvSpPr>
        <p:spPr>
          <a:xfrm>
            <a:off x="16971492" y="8975125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T/F</a:t>
            </a:r>
            <a:endParaRPr lang="ko-KR" altLang="en-US" sz="6000">
              <a:solidFill>
                <a:schemeClr val="tx1"/>
              </a:solidFill>
            </a:endParaRPr>
          </a:p>
        </p:txBody>
      </p:sp>
      <p:cxnSp>
        <p:nvCxnSpPr>
          <p:cNvPr id="26" name="연결선: 꺾임 25"/>
          <p:cNvCxnSpPr/>
          <p:nvPr/>
        </p:nvCxnSpPr>
        <p:spPr>
          <a:xfrm rot="16200000" flipH="1">
            <a:off x="15697067" y="8336312"/>
            <a:ext cx="1553957" cy="944094"/>
          </a:xfrm>
          <a:prstGeom prst="bentConnector3">
            <a:avLst>
              <a:gd name="adj1" fmla="val 100061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/>
          <p:cNvCxnSpPr>
            <a:endCxn id="22" idx="3"/>
          </p:cNvCxnSpPr>
          <p:nvPr/>
        </p:nvCxnSpPr>
        <p:spPr>
          <a:xfrm rot="5400000">
            <a:off x="17534192" y="6240119"/>
            <a:ext cx="6282818" cy="304800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129658" y="3233622"/>
            <a:ext cx="3611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We &amp;&amp; !full</a:t>
            </a:r>
            <a:endParaRPr lang="ko-KR" altLang="en-US" sz="2800"/>
          </a:p>
        </p:txBody>
      </p:sp>
      <p:sp>
        <p:nvSpPr>
          <p:cNvPr id="38" name="TextBox 37"/>
          <p:cNvSpPr txBox="1"/>
          <p:nvPr/>
        </p:nvSpPr>
        <p:spPr>
          <a:xfrm>
            <a:off x="18211800" y="10631061"/>
            <a:ext cx="3611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Re &amp;&amp; !empty</a:t>
            </a:r>
            <a:endParaRPr lang="ko-KR" altLang="en-US" sz="2800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18747346" y="10092730"/>
            <a:ext cx="0" cy="1851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6167531" y="2628808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830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068129"/>
            <a:ext cx="24384000" cy="6030153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</a:t>
            </a:r>
            <a:endParaRPr lang="ko-KR" altLang="en-US" sz="5400" b="1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6"/>
          <a:srcRect b="54140"/>
          <a:stretch>
            <a:fillRect/>
          </a:stretch>
        </p:blipFill>
        <p:spPr>
          <a:xfrm>
            <a:off x="6248400" y="9118601"/>
            <a:ext cx="10739269" cy="3555999"/>
          </a:xfrm>
          <a:prstGeom prst="rect">
            <a:avLst/>
          </a:prstGeom>
        </p:spPr>
      </p:pic>
      <p:sp>
        <p:nvSpPr>
          <p:cNvPr id="15" name="화살표: 아래쪽 14"/>
          <p:cNvSpPr/>
          <p:nvPr/>
        </p:nvSpPr>
        <p:spPr>
          <a:xfrm>
            <a:off x="12420600" y="219677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화살표: 아래쪽 15"/>
          <p:cNvSpPr/>
          <p:nvPr/>
        </p:nvSpPr>
        <p:spPr>
          <a:xfrm rot="10800000">
            <a:off x="13487400" y="2242488"/>
            <a:ext cx="190500" cy="144278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7620000" y="9702800"/>
            <a:ext cx="9525000" cy="6404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7620000" y="10388550"/>
            <a:ext cx="9525000" cy="64041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408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068128"/>
            <a:ext cx="24384000" cy="6030153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</a:t>
            </a:r>
            <a:endParaRPr lang="ko-KR" altLang="en-US" sz="5400" b="1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583150" y="9220200"/>
            <a:ext cx="10739269" cy="398779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620680" y="10287001"/>
            <a:ext cx="1913719" cy="30827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4859000" y="3068127"/>
            <a:ext cx="2895600" cy="599034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298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Verification(16</a:t>
            </a:r>
            <a:r>
              <a:rPr lang="ko-KR" altLang="en-US" sz="5400" b="1" dirty="0"/>
              <a:t>번 </a:t>
            </a:r>
            <a:r>
              <a:rPr lang="en-US" altLang="ko-KR" sz="5400" b="1" dirty="0"/>
              <a:t>we)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9739743"/>
            <a:ext cx="157407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we -&gt;    empty = 0</a:t>
            </a:r>
          </a:p>
          <a:p>
            <a:pPr lvl="0">
              <a:defRPr/>
            </a:pPr>
            <a:r>
              <a:rPr lang="en-US" altLang="ko-KR" sz="5400" b="1"/>
              <a:t>We -&gt;   (wptr_next == rptr_reg)    -&gt;    full = 1</a:t>
            </a:r>
          </a:p>
          <a:p>
            <a:pPr lvl="0">
              <a:defRPr/>
            </a:pPr>
            <a:r>
              <a:rPr lang="en-US" altLang="ko-KR" sz="5400" b="1"/>
              <a:t>Re  -&gt;    full = 0</a:t>
            </a:r>
            <a:endParaRPr lang="ko-KR" altLang="en-US" sz="5400" b="1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5404"/>
            <a:ext cx="24384000" cy="624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42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66907" y="3318827"/>
            <a:ext cx="22850186" cy="744974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Verification(16</a:t>
            </a:r>
            <a:r>
              <a:rPr lang="ko-KR" altLang="en-US" sz="5400" b="1"/>
              <a:t>번 </a:t>
            </a:r>
            <a:r>
              <a:rPr lang="en-US" altLang="ko-KR" sz="5400" b="1"/>
              <a:t>we)</a:t>
            </a:r>
          </a:p>
        </p:txBody>
      </p:sp>
    </p:spTree>
    <p:extLst>
      <p:ext uri="{BB962C8B-B14F-4D97-AF65-F5344CB8AC3E}">
        <p14:creationId xmlns:p14="http://schemas.microsoft.com/office/powerpoint/2010/main" val="848732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5497" y="10892923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Re -&gt;   (wptr_reg == rptr_next)    -&gt;    empty = 1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1137" y="3554606"/>
            <a:ext cx="24385136" cy="68518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Verification(16</a:t>
            </a:r>
            <a:r>
              <a:rPr lang="ko-KR" altLang="en-US" sz="5400" b="1"/>
              <a:t>번 </a:t>
            </a:r>
            <a:r>
              <a:rPr lang="en-US" altLang="ko-KR" sz="5400" b="1"/>
              <a:t>re)</a:t>
            </a:r>
          </a:p>
        </p:txBody>
      </p:sp>
    </p:spTree>
    <p:extLst>
      <p:ext uri="{BB962C8B-B14F-4D97-AF65-F5344CB8AC3E}">
        <p14:creationId xmlns:p14="http://schemas.microsoft.com/office/powerpoint/2010/main" val="992178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5497" y="11195145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wptr_reg++, rptr_reg++;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26158" y="3372928"/>
            <a:ext cx="24410158" cy="74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044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7897" y="10601447"/>
            <a:ext cx="14597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full == 1 </a:t>
            </a:r>
            <a:r>
              <a:rPr lang="ko-KR" altLang="en-US" sz="5400" b="1"/>
              <a:t>상황</a:t>
            </a:r>
            <a:r>
              <a:rPr lang="en-US" altLang="ko-KR" sz="5400" b="1"/>
              <a:t>:</a:t>
            </a:r>
          </a:p>
          <a:p>
            <a:pPr lvl="1">
              <a:defRPr/>
            </a:pPr>
            <a:r>
              <a:rPr lang="en-US" altLang="ko-KR" sz="5400" b="1"/>
              <a:t>	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full = 0, rptr_reg++;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2982" y="3585901"/>
            <a:ext cx="24377176" cy="66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1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7897" y="10779647"/>
            <a:ext cx="14597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empty == 1 </a:t>
            </a:r>
            <a:r>
              <a:rPr lang="ko-KR" altLang="en-US" sz="5400" b="1"/>
              <a:t>상황</a:t>
            </a:r>
            <a:r>
              <a:rPr lang="en-US" altLang="ko-KR" sz="5400" b="1"/>
              <a:t>:</a:t>
            </a:r>
          </a:p>
          <a:p>
            <a:pPr lvl="1">
              <a:defRPr/>
            </a:pPr>
            <a:r>
              <a:rPr lang="en-US" altLang="ko-KR" sz="5400" b="1"/>
              <a:t>	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empty = 0, wptr_reg++;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11373" y="3772109"/>
            <a:ext cx="24395372" cy="690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11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9372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1000 cycle)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848600" y="3426986"/>
            <a:ext cx="9258296" cy="79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12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47688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 cycle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Check Rx + FIFO data 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59900" y="760095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1000 cycle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5829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Baud delay rate Allowable range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40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363200" y="2144799"/>
            <a:ext cx="11839211" cy="500728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441710" y="7322622"/>
            <a:ext cx="9739340" cy="50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548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graphicFrame>
        <p:nvGraphicFramePr>
          <p:cNvPr id="5" name="Table 12"/>
          <p:cNvGraphicFramePr>
            <a:graphicFrameLocks noGrp="1"/>
          </p:cNvGraphicFramePr>
          <p:nvPr/>
        </p:nvGraphicFramePr>
        <p:xfrm>
          <a:off x="13030200" y="4100031"/>
          <a:ext cx="7941858" cy="5015609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Randc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ascii_data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logic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Fifo_data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full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empty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1600200" y="2667000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875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600200" y="4992321"/>
            <a:ext cx="4848367" cy="19308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7728820" y="2455412"/>
            <a:ext cx="5893558" cy="86300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097000" y="11435938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/>
              <a:t>BAUD_REPIOD = (100MHz / 9600bpm)*10</a:t>
            </a:r>
            <a:endParaRPr lang="ko-KR" altLang="en-US" sz="360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385021" y="2392439"/>
            <a:ext cx="6253018" cy="86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35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3921346" y="5651310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mailbox</a:t>
            </a:r>
            <a:endParaRPr lang="ko-KR" altLang="en-US" sz="6000" b="1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10800" y="2373399"/>
            <a:ext cx="12041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Ascii data + Interface I/O</a:t>
            </a:r>
            <a:endParaRPr kumimoji="0" lang="ko-KR" altLang="en-US" sz="6000" b="1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15697200" y="3389062"/>
            <a:ext cx="0" cy="22497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15697199" y="6768915"/>
            <a:ext cx="0" cy="22497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42404" y="9223991"/>
            <a:ext cx="830958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Scoreboard</a:t>
            </a: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ASCII DATA == tr.rx_data</a:t>
            </a:r>
            <a:endParaRPr kumimoji="0" lang="ko-KR" altLang="en-US" sz="600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90857" y="3968789"/>
            <a:ext cx="4764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@(pop_fifo_ev)</a:t>
            </a:r>
            <a:endParaRPr lang="ko-KR" altLang="en-US" sz="2800"/>
          </a:p>
        </p:txBody>
      </p:sp>
      <p:sp>
        <p:nvSpPr>
          <p:cNvPr id="19" name="직사각형 18"/>
          <p:cNvSpPr/>
          <p:nvPr/>
        </p:nvSpPr>
        <p:spPr>
          <a:xfrm>
            <a:off x="5994739" y="2257309"/>
            <a:ext cx="2969527" cy="46006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705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Verification(check gen RX)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970392" y="5767736"/>
            <a:ext cx="12727808" cy="48636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931176" y="3809807"/>
            <a:ext cx="830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/>
              <a:t>BAUD_REPIOD = (100MHz / 9600bpm)*10 = 104160</a:t>
            </a:r>
            <a:endParaRPr lang="ko-KR" altLang="en-US" sz="360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5800" y="3809807"/>
            <a:ext cx="9709986" cy="7102526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10972800" y="5791200"/>
            <a:ext cx="5257800" cy="48651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546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Verification(check gen RX)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9464" y="11294070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  = 10bit * 104160 = 1041600ns = 1041.6us 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17118"/>
            <a:ext cx="24384000" cy="640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19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372929"/>
            <a:ext cx="24384000" cy="71172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0" y="10972883"/>
            <a:ext cx="173705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  = 100Mhz / (9600bps * 16</a:t>
            </a:r>
            <a:r>
              <a:rPr lang="ko-KR" altLang="en-US" sz="5400" b="1"/>
              <a:t>배</a:t>
            </a:r>
            <a:r>
              <a:rPr lang="en-US" altLang="ko-KR" sz="5400" b="1"/>
              <a:t>)= 6.51us</a:t>
            </a:r>
          </a:p>
        </p:txBody>
      </p:sp>
    </p:spTree>
    <p:extLst>
      <p:ext uri="{BB962C8B-B14F-4D97-AF65-F5344CB8AC3E}">
        <p14:creationId xmlns:p14="http://schemas.microsoft.com/office/powerpoint/2010/main" val="37527722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rcRect t="9050"/>
          <a:stretch>
            <a:fillRect/>
          </a:stretch>
        </p:blipFill>
        <p:spPr>
          <a:xfrm>
            <a:off x="20472" y="3835399"/>
            <a:ext cx="24363528" cy="7137484"/>
          </a:xfrm>
          <a:prstGeom prst="rect">
            <a:avLst/>
          </a:prstGeom>
        </p:spPr>
      </p:pic>
      <p:sp>
        <p:nvSpPr>
          <p:cNvPr id="18" name="타원 17"/>
          <p:cNvSpPr/>
          <p:nvPr/>
        </p:nvSpPr>
        <p:spPr>
          <a:xfrm>
            <a:off x="9906000" y="55626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10591800" y="6633570"/>
            <a:ext cx="1981200" cy="144363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801600" y="7048981"/>
            <a:ext cx="198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135600" y="7048981"/>
            <a:ext cx="198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4782800" y="7490174"/>
            <a:ext cx="3200400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329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351320"/>
            <a:ext cx="24384000" cy="8008315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02108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181356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9220200" y="5836889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17145000" y="57404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67200" y="1144647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B_tick_cnt </a:t>
            </a:r>
            <a:r>
              <a:rPr lang="ko-KR" altLang="en-US" sz="5400" b="1"/>
              <a:t> </a:t>
            </a:r>
            <a:r>
              <a:rPr lang="en-US" altLang="ko-KR" sz="5400" b="1"/>
              <a:t>15</a:t>
            </a:r>
            <a:r>
              <a:rPr lang="ko-KR" altLang="en-US" sz="5400" b="1"/>
              <a:t>마다 </a:t>
            </a:r>
            <a:r>
              <a:rPr lang="en-US" altLang="ko-KR" sz="5400" b="1"/>
              <a:t>buf_reg</a:t>
            </a:r>
            <a:r>
              <a:rPr lang="ko-KR" altLang="en-US" sz="5400" b="1"/>
              <a:t>의 </a:t>
            </a:r>
            <a:r>
              <a:rPr lang="en-US" altLang="ko-KR" sz="5400" b="1"/>
              <a:t>MSB</a:t>
            </a:r>
            <a:r>
              <a:rPr lang="ko-KR" altLang="en-US" sz="5400" b="1"/>
              <a:t>에 반영 및 </a:t>
            </a:r>
            <a:r>
              <a:rPr lang="en-US" altLang="ko-KR" sz="5400" b="1"/>
              <a:t>shift </a:t>
            </a:r>
            <a:r>
              <a:rPr lang="ko-KR" altLang="en-US" sz="5400" b="1"/>
              <a:t>발생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41973418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351320"/>
            <a:ext cx="24384000" cy="8008315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02108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181356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9220200" y="5836889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17145000" y="57404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67200" y="1144647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B_tick_cnt </a:t>
            </a:r>
            <a:r>
              <a:rPr lang="ko-KR" altLang="en-US" sz="5400" b="1"/>
              <a:t> </a:t>
            </a:r>
            <a:r>
              <a:rPr lang="en-US" altLang="ko-KR" sz="5400" b="1"/>
              <a:t>15</a:t>
            </a:r>
            <a:r>
              <a:rPr lang="ko-KR" altLang="en-US" sz="5400" b="1"/>
              <a:t>마다 </a:t>
            </a:r>
            <a:r>
              <a:rPr lang="en-US" altLang="ko-KR" sz="5400" b="1"/>
              <a:t>buf_reg</a:t>
            </a:r>
            <a:r>
              <a:rPr lang="ko-KR" altLang="en-US" sz="5400" b="1"/>
              <a:t>의 </a:t>
            </a:r>
            <a:r>
              <a:rPr lang="en-US" altLang="ko-KR" sz="5400" b="1"/>
              <a:t>MSB</a:t>
            </a:r>
            <a:r>
              <a:rPr lang="ko-KR" altLang="en-US" sz="5400" b="1"/>
              <a:t>에 반영 및 </a:t>
            </a:r>
            <a:r>
              <a:rPr lang="en-US" altLang="ko-KR" sz="5400" b="1"/>
              <a:t>shift </a:t>
            </a:r>
            <a:r>
              <a:rPr lang="ko-KR" altLang="en-US" sz="5400" b="1"/>
              <a:t>발생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1615882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Verification(module RX) input(8’hB6)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1109536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(Rx_done == 1) </a:t>
            </a:r>
            <a:r>
              <a:rPr lang="en-US" altLang="ko-KR" sz="5400" b="1">
                <a:sym typeface="Wingdings"/>
              </a:rPr>
              <a:t></a:t>
            </a:r>
            <a:r>
              <a:rPr lang="en-US" altLang="ko-KR" sz="5400" b="1"/>
              <a:t> Rx_data = 8’b6 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211928"/>
            <a:ext cx="24384000" cy="7379872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22872700" y="73152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4958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Verification(RX </a:t>
            </a:r>
            <a:r>
              <a:rPr lang="en-US" altLang="ko-KR" sz="5400" b="1">
                <a:sym typeface="Wingdings"/>
              </a:rPr>
              <a:t> FIFO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4118" y="3505200"/>
            <a:ext cx="24349880" cy="7289800"/>
          </a:xfrm>
          <a:prstGeom prst="rect">
            <a:avLst/>
          </a:prstGeom>
        </p:spPr>
      </p:pic>
      <p:cxnSp>
        <p:nvCxnSpPr>
          <p:cNvPr id="18" name="직선 화살표 연결선 17"/>
          <p:cNvCxnSpPr/>
          <p:nvPr/>
        </p:nvCxnSpPr>
        <p:spPr>
          <a:xfrm>
            <a:off x="11882651" y="6781337"/>
            <a:ext cx="9072349" cy="320086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/>
          <p:cNvSpPr/>
          <p:nvPr/>
        </p:nvSpPr>
        <p:spPr>
          <a:xfrm>
            <a:off x="10896600" y="5984733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4782800" y="4975283"/>
            <a:ext cx="179581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6360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713044"/>
            <a:ext cx="17983200" cy="7539156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Verification(RX </a:t>
            </a:r>
            <a:r>
              <a:rPr lang="en-US" altLang="ko-KR" sz="5400" b="1">
                <a:sym typeface="Wingdings"/>
              </a:rPr>
              <a:t> FIFO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9" name="타원 18"/>
          <p:cNvSpPr/>
          <p:nvPr/>
        </p:nvSpPr>
        <p:spPr>
          <a:xfrm>
            <a:off x="7696200" y="10045875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0439400" y="7315200"/>
            <a:ext cx="103381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446215" y="11471227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Rx_done</a:t>
            </a:r>
            <a:r>
              <a:rPr lang="ko-KR" altLang="en-US" sz="5400" b="1"/>
              <a:t>은</a:t>
            </a:r>
            <a:r>
              <a:rPr lang="en-US" altLang="ko-KR" sz="5400" b="1"/>
              <a:t> uart_rx</a:t>
            </a:r>
            <a:r>
              <a:rPr lang="ko-KR" altLang="en-US" sz="5400" b="1"/>
              <a:t>신호를 다 보내기 전에 발생</a:t>
            </a:r>
            <a:endParaRPr lang="en-US" altLang="ko-KR" sz="5400" b="1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080182" y="2585682"/>
            <a:ext cx="6253018" cy="86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718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1000 clcye)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564562" y="5681450"/>
            <a:ext cx="9936557" cy="552527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23999" y="4922134"/>
            <a:ext cx="10295441" cy="679379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42084" y="3497249"/>
            <a:ext cx="197083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14,22,55,59,85,123,185,209</a:t>
            </a:r>
            <a:r>
              <a:rPr lang="ko-KR" altLang="en-US" sz="5400" b="1"/>
              <a:t>제외된 </a:t>
            </a:r>
            <a:r>
              <a:rPr lang="en-US" altLang="ko-KR" sz="5400" b="1"/>
              <a:t>0~255 data</a:t>
            </a:r>
          </a:p>
        </p:txBody>
      </p:sp>
    </p:spTree>
    <p:extLst>
      <p:ext uri="{BB962C8B-B14F-4D97-AF65-F5344CB8AC3E}">
        <p14:creationId xmlns:p14="http://schemas.microsoft.com/office/powerpoint/2010/main" val="33634169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4782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Verification(missing cases 50 clcye)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8000" y="3377478"/>
            <a:ext cx="1882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추가 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14,22,55,59,85,123,185,209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00200" y="4909174"/>
            <a:ext cx="8435783" cy="656116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220200" y="6457876"/>
            <a:ext cx="13836450" cy="20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059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10580" y="5202056"/>
            <a:ext cx="9816197" cy="73869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10580" y="2960260"/>
            <a:ext cx="9816197" cy="226568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5621000" y="3670385"/>
            <a:ext cx="4575372" cy="800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0538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10580" y="5202056"/>
            <a:ext cx="9816197" cy="73869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10580" y="2960260"/>
            <a:ext cx="9816197" cy="226568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8792628" y="4055126"/>
            <a:ext cx="4575372" cy="7492296"/>
          </a:xfrm>
          <a:prstGeom prst="rect">
            <a:avLst/>
          </a:prstGeom>
          <a:ln w="127000" cap="sq">
            <a:solidFill>
              <a:srgbClr val="000000"/>
            </a:solidFill>
            <a:miter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192000" y="4055126"/>
            <a:ext cx="4911026" cy="7461503"/>
          </a:xfrm>
          <a:prstGeom prst="rect">
            <a:avLst/>
          </a:prstGeom>
          <a:ln w="127000" cap="sq">
            <a:solidFill>
              <a:srgbClr val="000000"/>
            </a:solidFill>
            <a:miter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11626777" y="3061305"/>
            <a:ext cx="4916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Add_rate =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17108" y="3028568"/>
            <a:ext cx="4916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Add_rate = 1.1</a:t>
            </a:r>
          </a:p>
        </p:txBody>
      </p:sp>
    </p:spTree>
    <p:extLst>
      <p:ext uri="{BB962C8B-B14F-4D97-AF65-F5344CB8AC3E}">
        <p14:creationId xmlns:p14="http://schemas.microsoft.com/office/powerpoint/2010/main" val="7607719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graphicFrame>
        <p:nvGraphicFramePr>
          <p:cNvPr id="4" name="Table 12"/>
          <p:cNvGraphicFramePr>
            <a:graphicFrameLocks noGrp="1"/>
          </p:cNvGraphicFramePr>
          <p:nvPr/>
        </p:nvGraphicFramePr>
        <p:xfrm>
          <a:off x="4572000" y="4114800"/>
          <a:ext cx="14859001" cy="3602652"/>
        </p:xfrm>
        <a:graphic>
          <a:graphicData uri="http://schemas.openxmlformats.org/drawingml/2006/table">
            <a:tbl>
              <a:tblPr/>
              <a:tblGrid>
                <a:gridCol w="806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7668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rate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1.1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1.07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1.06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1.05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1.04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1.02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0.98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0.95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0.94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0.93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4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Total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Pass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9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fail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0" y="9042812"/>
            <a:ext cx="990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Use Rx_delay rate = 95%  ~105%</a:t>
            </a:r>
          </a:p>
        </p:txBody>
      </p:sp>
    </p:spTree>
    <p:extLst>
      <p:ext uri="{BB962C8B-B14F-4D97-AF65-F5344CB8AC3E}">
        <p14:creationId xmlns:p14="http://schemas.microsoft.com/office/powerpoint/2010/main" val="4205898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</a:t>
            </a: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X + 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7753350" y="407670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3277850" y="407670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3854450" y="797560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9378950" y="797560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0642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887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64248" y="7454900"/>
            <a:ext cx="47688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 cycle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Check Tx + FIFO data 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88748" y="745490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1000 cycle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04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rcRect l="650" r="1230" b="3250"/>
          <a:stretch>
            <a:fillRect/>
          </a:stretch>
        </p:blipFill>
        <p:spPr>
          <a:xfrm>
            <a:off x="10210800" y="2667000"/>
            <a:ext cx="12573000" cy="49022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049000" y="7239000"/>
            <a:ext cx="11403623" cy="4836019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752600" y="2247900"/>
            <a:ext cx="8008628" cy="1041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747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52600" y="2247900"/>
            <a:ext cx="8008628" cy="10415759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983473" y="2667000"/>
            <a:ext cx="4874527" cy="2286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graphicFrame>
        <p:nvGraphicFramePr>
          <p:cNvPr id="11" name="Table 12"/>
          <p:cNvGraphicFramePr>
            <a:graphicFrameLocks noGrp="1"/>
          </p:cNvGraphicFramePr>
          <p:nvPr/>
        </p:nvGraphicFramePr>
        <p:xfrm>
          <a:off x="13030200" y="4100031"/>
          <a:ext cx="7941858" cy="5861035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Fifo_we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Randc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Fifo_wdata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Tx_busy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Tx_done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Uart_Tx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PC_data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6612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52600" y="2247900"/>
            <a:ext cx="8008628" cy="10415759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981200" y="4980044"/>
            <a:ext cx="2969527" cy="20303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30200" y="3187162"/>
            <a:ext cx="7098997" cy="743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847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52600" y="2247900"/>
            <a:ext cx="8008628" cy="10415759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172200" y="4892790"/>
            <a:ext cx="2969527" cy="20303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/>
          <a:srcRect l="3220" b="54040"/>
          <a:stretch>
            <a:fillRect/>
          </a:stretch>
        </p:blipFill>
        <p:spPr>
          <a:xfrm>
            <a:off x="9829800" y="6212573"/>
            <a:ext cx="13778408" cy="2767189"/>
          </a:xfrm>
          <a:prstGeom prst="rect">
            <a:avLst/>
          </a:prstGeom>
        </p:spPr>
      </p:pic>
      <p:sp>
        <p:nvSpPr>
          <p:cNvPr id="18" name="화살표: 위쪽 17"/>
          <p:cNvSpPr/>
          <p:nvPr/>
        </p:nvSpPr>
        <p:spPr>
          <a:xfrm>
            <a:off x="11288073" y="907956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화살표: 위쪽 18"/>
          <p:cNvSpPr/>
          <p:nvPr/>
        </p:nvSpPr>
        <p:spPr>
          <a:xfrm>
            <a:off x="156326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화살표: 위쪽 19"/>
          <p:cNvSpPr/>
          <p:nvPr/>
        </p:nvSpPr>
        <p:spPr>
          <a:xfrm>
            <a:off x="13118010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화살표: 위쪽 20"/>
          <p:cNvSpPr/>
          <p:nvPr/>
        </p:nvSpPr>
        <p:spPr>
          <a:xfrm>
            <a:off x="142991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화살표: 위쪽 21"/>
          <p:cNvSpPr/>
          <p:nvPr/>
        </p:nvSpPr>
        <p:spPr>
          <a:xfrm>
            <a:off x="168518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화살표: 위쪽 22"/>
          <p:cNvSpPr/>
          <p:nvPr/>
        </p:nvSpPr>
        <p:spPr>
          <a:xfrm>
            <a:off x="18072144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화살표: 위쪽 23"/>
          <p:cNvSpPr/>
          <p:nvPr/>
        </p:nvSpPr>
        <p:spPr>
          <a:xfrm>
            <a:off x="19274330" y="9154950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화살표: 위쪽 24"/>
          <p:cNvSpPr/>
          <p:nvPr/>
        </p:nvSpPr>
        <p:spPr>
          <a:xfrm>
            <a:off x="20467326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화살표: 위쪽 25"/>
          <p:cNvSpPr/>
          <p:nvPr/>
        </p:nvSpPr>
        <p:spPr>
          <a:xfrm>
            <a:off x="21627196" y="9088944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7303" y="2558205"/>
            <a:ext cx="9906481" cy="3942356"/>
          </a:xfrm>
          <a:prstGeom prst="rect">
            <a:avLst/>
          </a:prstGeom>
        </p:spPr>
      </p:pic>
      <p:cxnSp>
        <p:nvCxnSpPr>
          <p:cNvPr id="30" name="직선 화살표 연결선 29"/>
          <p:cNvCxnSpPr/>
          <p:nvPr/>
        </p:nvCxnSpPr>
        <p:spPr>
          <a:xfrm>
            <a:off x="11516673" y="10473683"/>
            <a:ext cx="1715637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13232310" y="1050712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14463118" y="10519415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15682318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16902656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18186444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19412136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20675600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13243918" y="11772036"/>
            <a:ext cx="861187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10436" y="10738741"/>
            <a:ext cx="63189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BAUD/2 + BAUD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83308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003645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73135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393472" y="10728559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07440" y="10703626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927778" y="10703626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77124" y="10733243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173135" y="12035135"/>
            <a:ext cx="3192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 * 8cycle</a:t>
            </a:r>
          </a:p>
        </p:txBody>
      </p:sp>
    </p:spTree>
    <p:extLst>
      <p:ext uri="{BB962C8B-B14F-4D97-AF65-F5344CB8AC3E}">
        <p14:creationId xmlns:p14="http://schemas.microsoft.com/office/powerpoint/2010/main" val="10386182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752600" y="2247900"/>
            <a:ext cx="8008628" cy="10415759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400800" y="2667000"/>
            <a:ext cx="2969527" cy="12080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335000" y="3733800"/>
            <a:ext cx="5565831" cy="66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49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05457" y="4654277"/>
            <a:ext cx="15643839" cy="440744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62000" y="3433450"/>
            <a:ext cx="6858000" cy="891929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21488400" y="6597694"/>
            <a:ext cx="2133600" cy="24640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3639800" y="4526276"/>
            <a:ext cx="2362200" cy="13586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2287250" y="2603719"/>
            <a:ext cx="5067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Generate wdata</a:t>
            </a:r>
            <a:endParaRPr lang="ko-KR" altLang="en-US" sz="5400" b="1"/>
          </a:p>
        </p:txBody>
      </p:sp>
      <p:sp>
        <p:nvSpPr>
          <p:cNvPr id="19" name="TextBox 18"/>
          <p:cNvSpPr txBox="1"/>
          <p:nvPr/>
        </p:nvSpPr>
        <p:spPr>
          <a:xfrm>
            <a:off x="16405746" y="10420144"/>
            <a:ext cx="5584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 b="1"/>
              <a:t>Tx_read data</a:t>
            </a:r>
            <a:endParaRPr lang="ko-KR" altLang="en-US" sz="5400" b="1"/>
          </a:p>
        </p:txBody>
      </p:sp>
      <p:cxnSp>
        <p:nvCxnSpPr>
          <p:cNvPr id="21" name="직선 화살표 연결선 20"/>
          <p:cNvCxnSpPr>
            <a:stCxn id="18" idx="2"/>
            <a:endCxn id="16" idx="0"/>
          </p:cNvCxnSpPr>
          <p:nvPr/>
        </p:nvCxnSpPr>
        <p:spPr>
          <a:xfrm>
            <a:off x="14820900" y="3527049"/>
            <a:ext cx="0" cy="99922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0"/>
          </p:cNvCxnSpPr>
          <p:nvPr/>
        </p:nvCxnSpPr>
        <p:spPr>
          <a:xfrm flipV="1">
            <a:off x="19197852" y="9017255"/>
            <a:ext cx="3096904" cy="14028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7776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04800" y="3401508"/>
            <a:ext cx="23545800" cy="7730110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Verification(FIFO </a:t>
            </a:r>
            <a:r>
              <a:rPr lang="en-US" altLang="ko-KR" sz="5400" b="1">
                <a:sym typeface="Wingdings"/>
              </a:rPr>
              <a:t> 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8153400" y="3401508"/>
            <a:ext cx="2286000" cy="773011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5446215" y="11471227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We==1 Re==1 </a:t>
            </a:r>
            <a:r>
              <a:rPr lang="en-US" altLang="ko-KR" sz="5400" b="1">
                <a:sym typeface="Wingdings"/>
              </a:rPr>
              <a:t> rdata = b6,empty = 0  tx_start = 1 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37570488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57616" y="3253682"/>
            <a:ext cx="23668768" cy="8165098"/>
          </a:xfrm>
          <a:prstGeom prst="rect">
            <a:avLst/>
          </a:prstGeom>
        </p:spPr>
      </p:pic>
      <p:sp>
        <p:nvSpPr>
          <p:cNvPr id="21" name="타원 20"/>
          <p:cNvSpPr/>
          <p:nvPr/>
        </p:nvSpPr>
        <p:spPr>
          <a:xfrm>
            <a:off x="11450472" y="5257800"/>
            <a:ext cx="26465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14935200" y="7336231"/>
            <a:ext cx="16559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22370456" y="10065490"/>
            <a:ext cx="16559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6002000" y="6350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Uart_tx = 0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534796" y="9808520"/>
            <a:ext cx="434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Save tx_data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61227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065854"/>
            <a:ext cx="24384000" cy="7353379"/>
          </a:xfrm>
          <a:prstGeom prst="rect">
            <a:avLst/>
          </a:prstGeom>
        </p:spPr>
      </p:pic>
      <p:sp>
        <p:nvSpPr>
          <p:cNvPr id="12" name="타원 11"/>
          <p:cNvSpPr/>
          <p:nvPr/>
        </p:nvSpPr>
        <p:spPr>
          <a:xfrm>
            <a:off x="10917072" y="5370059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9144000" y="7696200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22730536" y="7772400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10418928" y="8229600"/>
            <a:ext cx="12311608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29000" y="1110686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B_tick </a:t>
            </a:r>
            <a:r>
              <a:rPr lang="ko-KR" altLang="en-US" sz="5400" b="1"/>
              <a:t>발생 </a:t>
            </a:r>
            <a:r>
              <a:rPr lang="en-US" altLang="ko-KR" sz="5400" b="1">
                <a:sym typeface="Wingdings"/>
              </a:rPr>
              <a:t> bt_cnt16_reg ++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33073429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4413"/>
            <a:ext cx="24384000" cy="79624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20400" y="6858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523200" y="683980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201304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4413"/>
            <a:ext cx="24384000" cy="79624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20400" y="6858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523200" y="683980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6" name="타원 5"/>
          <p:cNvSpPr/>
          <p:nvPr/>
        </p:nvSpPr>
        <p:spPr>
          <a:xfrm>
            <a:off x="17145000" y="8077200"/>
            <a:ext cx="990600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175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0961596"/>
            <a:ext cx="166517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DATA bit</a:t>
            </a:r>
            <a:r>
              <a:rPr lang="ko-KR" altLang="en-US" sz="5400" b="1"/>
              <a:t>별 </a:t>
            </a:r>
            <a:r>
              <a:rPr lang="en-US" altLang="ko-KR" sz="5400" b="1"/>
              <a:t>send time = 104.16us</a:t>
            </a:r>
          </a:p>
          <a:p>
            <a:pPr lvl="1" algn="ctr">
              <a:defRPr/>
            </a:pPr>
            <a:r>
              <a:rPr lang="en-US" altLang="ko-KR" sz="5400" b="1"/>
              <a:t>STOP bt send time = 104.16us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11197"/>
            <a:ext cx="24384000" cy="76814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54892" y="381791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202400" y="3817913"/>
            <a:ext cx="353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STOP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24400" y="372487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17678400" y="9258622"/>
            <a:ext cx="6019800" cy="15240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9079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275" y="3212989"/>
            <a:ext cx="24386276" cy="7649488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0961596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(STOP -&gt; IDLE) </a:t>
            </a:r>
            <a:r>
              <a:rPr lang="en-US" altLang="ko-KR" sz="5400" b="1">
                <a:sym typeface="Wingdings"/>
              </a:rPr>
              <a:t> done 1 tick </a:t>
            </a:r>
            <a:r>
              <a:rPr lang="ko-KR" altLang="en-US" sz="5400" b="1">
                <a:sym typeface="Wingdings"/>
              </a:rPr>
              <a:t>발생 및 </a:t>
            </a:r>
            <a:r>
              <a:rPr lang="en-US" altLang="ko-KR" sz="5400" b="1">
                <a:sym typeface="Wingdings"/>
              </a:rPr>
              <a:t>busy = 0</a:t>
            </a:r>
            <a:endParaRPr lang="en-US" altLang="ko-KR" sz="5400" b="1"/>
          </a:p>
        </p:txBody>
      </p:sp>
      <p:sp>
        <p:nvSpPr>
          <p:cNvPr id="22" name="TextBox 21"/>
          <p:cNvSpPr txBox="1"/>
          <p:nvPr/>
        </p:nvSpPr>
        <p:spPr>
          <a:xfrm>
            <a:off x="8273576" y="4176209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STOP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59400" y="4105605"/>
            <a:ext cx="353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IDLE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868382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</a:t>
            </a:r>
            <a:r>
              <a:rPr lang="en-US" altLang="ko-KR" sz="5400" b="1">
                <a:sym typeface="Wingdings"/>
              </a:rPr>
              <a:t>1000 cycle</a:t>
            </a:r>
            <a:r>
              <a:rPr lang="en-US" altLang="ko-KR" sz="5400" b="1"/>
              <a:t>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28800" y="3733800"/>
            <a:ext cx="11049939" cy="721887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277600" y="3821151"/>
            <a:ext cx="12651178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246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</a:t>
            </a:r>
            <a:r>
              <a:rPr lang="en-US" altLang="ko-KR" sz="5400" b="1">
                <a:sym typeface="Wingdings"/>
              </a:rPr>
              <a:t>1000 cycle</a:t>
            </a:r>
            <a:r>
              <a:rPr lang="en-US" altLang="ko-KR" sz="5400" b="1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85" y="3497249"/>
            <a:ext cx="1882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18,246,223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086600" y="4460469"/>
            <a:ext cx="9829800" cy="77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721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i="0">
                <a:solidFill>
                  <a:srgbClr val="000000"/>
                </a:solidFill>
                <a:effectLst/>
                <a:latin typeface="noto"/>
              </a:rPr>
              <a:t>Troubleshooting</a:t>
            </a:r>
            <a:endParaRPr lang="ko-KR" altLang="en-US" sz="9600" b="1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47800" y="4732548"/>
            <a:ext cx="12656528" cy="838408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083251" y="4695120"/>
            <a:ext cx="7338553" cy="845894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400" y="2144799"/>
            <a:ext cx="21412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 b="1"/>
              <a:t>RX + FIFO (uart_push </a:t>
            </a:r>
            <a:r>
              <a:rPr lang="ko-KR" altLang="en-US" sz="3600" b="1"/>
              <a:t>후 </a:t>
            </a:r>
            <a:r>
              <a:rPr lang="en-US" altLang="ko-KR" sz="3600" b="1"/>
              <a:t>FIFO rdata</a:t>
            </a:r>
            <a:r>
              <a:rPr lang="ko-KR" altLang="en-US" sz="3600" b="1"/>
              <a:t>를 </a:t>
            </a:r>
            <a:r>
              <a:rPr lang="en-US" altLang="ko-KR" sz="3600" b="1"/>
              <a:t>read </a:t>
            </a:r>
            <a:r>
              <a:rPr lang="ko-KR" altLang="en-US" sz="3600" b="1"/>
              <a:t>해야할 상황</a:t>
            </a:r>
            <a:r>
              <a:rPr lang="en-US" altLang="ko-KR" sz="3600" b="1"/>
              <a:t>)</a:t>
            </a:r>
          </a:p>
          <a:p>
            <a:pPr lvl="0">
              <a:defRPr/>
            </a:pPr>
            <a:r>
              <a:rPr lang="ko-KR" altLang="en-US" sz="3600" b="1"/>
              <a:t>문제</a:t>
            </a:r>
            <a:r>
              <a:rPr lang="en-US" altLang="ko-KR" sz="3600" b="1"/>
              <a:t>: Empty == 0 </a:t>
            </a:r>
            <a:r>
              <a:rPr lang="ko-KR" altLang="en-US" sz="3600" b="1"/>
              <a:t>일때</a:t>
            </a:r>
            <a:r>
              <a:rPr lang="en-US" altLang="ko-KR" sz="3600" b="1"/>
              <a:t>, pop </a:t>
            </a:r>
            <a:r>
              <a:rPr lang="ko-KR" altLang="en-US" sz="3600" b="1"/>
              <a:t>수행하려 시도</a:t>
            </a:r>
            <a:r>
              <a:rPr lang="en-US" altLang="ko-KR" sz="3600" b="1"/>
              <a:t> </a:t>
            </a:r>
            <a:r>
              <a:rPr lang="ko-KR" altLang="en-US" sz="3600" b="1"/>
              <a:t>하였지만 </a:t>
            </a:r>
            <a:r>
              <a:rPr lang="en-US" altLang="ko-KR" sz="3600" b="1"/>
              <a:t>re </a:t>
            </a:r>
            <a:r>
              <a:rPr lang="ko-KR" altLang="en-US" sz="3600" b="1"/>
              <a:t>발생 하지 않음</a:t>
            </a:r>
          </a:p>
          <a:p>
            <a:pPr lvl="0">
              <a:defRPr/>
            </a:pPr>
            <a:r>
              <a:rPr lang="ko-KR" altLang="en-US" sz="3600" b="1"/>
              <a:t>원인</a:t>
            </a:r>
            <a:r>
              <a:rPr lang="en-US" altLang="ko-KR" sz="3600" b="1"/>
              <a:t>: uart_push</a:t>
            </a:r>
            <a:r>
              <a:rPr lang="ko-KR" altLang="en-US" sz="3600" b="1"/>
              <a:t>와 </a:t>
            </a:r>
            <a:r>
              <a:rPr lang="en-US" altLang="ko-KR" sz="3600" b="1"/>
              <a:t>wait </a:t>
            </a:r>
            <a:r>
              <a:rPr lang="ko-KR" altLang="en-US" sz="3600" b="1"/>
              <a:t>타이밍의 문제</a:t>
            </a:r>
          </a:p>
          <a:p>
            <a:pPr lvl="0">
              <a:defRPr/>
            </a:pPr>
            <a:r>
              <a:rPr lang="ko-KR" altLang="en-US" sz="3600" b="1"/>
              <a:t>해결</a:t>
            </a:r>
            <a:r>
              <a:rPr lang="en-US" altLang="ko-KR" sz="3600" b="1"/>
              <a:t>: wait </a:t>
            </a:r>
            <a:r>
              <a:rPr lang="ko-KR" altLang="en-US" sz="3600" b="1"/>
              <a:t>동작을 거치지 않고 </a:t>
            </a:r>
            <a:r>
              <a:rPr lang="en-US" altLang="ko-KR" sz="3600" b="1"/>
              <a:t>uart_push task</a:t>
            </a:r>
            <a:r>
              <a:rPr lang="ko-KR" altLang="en-US" sz="3600" b="1"/>
              <a:t>가 끝나면 </a:t>
            </a:r>
            <a:r>
              <a:rPr lang="en-US" altLang="ko-KR" sz="3600" b="1"/>
              <a:t>read</a:t>
            </a:r>
            <a:r>
              <a:rPr lang="ko-KR" altLang="en-US" sz="3600" b="1"/>
              <a:t> 진행</a:t>
            </a:r>
            <a:endParaRPr lang="en-US" altLang="ko-KR" sz="3600" b="1"/>
          </a:p>
        </p:txBody>
      </p:sp>
      <p:sp>
        <p:nvSpPr>
          <p:cNvPr id="18" name="타원 17"/>
          <p:cNvSpPr/>
          <p:nvPr/>
        </p:nvSpPr>
        <p:spPr>
          <a:xfrm>
            <a:off x="6096000" y="9601200"/>
            <a:ext cx="1104900" cy="601544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438900" y="7278361"/>
            <a:ext cx="838200" cy="76592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570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1175</Words>
  <Application>Microsoft Office PowerPoint</Application>
  <PresentationFormat>사용자 지정</PresentationFormat>
  <Paragraphs>412</Paragraphs>
  <Slides>73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73</vt:i4>
      </vt:variant>
    </vt:vector>
  </HeadingPairs>
  <TitlesOfParts>
    <vt:vector size="83" baseType="lpstr">
      <vt:lpstr>noto</vt:lpstr>
      <vt:lpstr>Pretendard Bold</vt:lpstr>
      <vt:lpstr>Pretendard ExtraLight</vt:lpstr>
      <vt:lpstr>Pretendard Regular</vt:lpstr>
      <vt:lpstr>Pretendard SemiBold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kccistc</cp:lastModifiedBy>
  <cp:revision>154</cp:revision>
  <dcterms:created xsi:type="dcterms:W3CDTF">2006-08-16T00:00:00Z</dcterms:created>
  <dcterms:modified xsi:type="dcterms:W3CDTF">2026-03-02T23:56:03Z</dcterms:modified>
  <cp:version/>
</cp:coreProperties>
</file>