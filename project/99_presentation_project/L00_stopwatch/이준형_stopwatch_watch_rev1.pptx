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47"/>
  </p:notesMasterIdLst>
  <p:sldIdLst>
    <p:sldId id="256" r:id="rId5"/>
    <p:sldId id="290" r:id="rId6"/>
    <p:sldId id="259" r:id="rId7"/>
    <p:sldId id="291" r:id="rId8"/>
    <p:sldId id="265" r:id="rId9"/>
    <p:sldId id="271" r:id="rId10"/>
    <p:sldId id="275" r:id="rId11"/>
    <p:sldId id="276" r:id="rId12"/>
    <p:sldId id="277" r:id="rId13"/>
    <p:sldId id="278" r:id="rId14"/>
    <p:sldId id="294" r:id="rId15"/>
    <p:sldId id="293" r:id="rId16"/>
    <p:sldId id="292" r:id="rId17"/>
    <p:sldId id="297" r:id="rId18"/>
    <p:sldId id="296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12" r:id="rId30"/>
    <p:sldId id="314" r:id="rId31"/>
    <p:sldId id="313" r:id="rId32"/>
    <p:sldId id="315" r:id="rId33"/>
    <p:sldId id="316" r:id="rId34"/>
    <p:sldId id="282" r:id="rId35"/>
    <p:sldId id="269" r:id="rId36"/>
    <p:sldId id="281" r:id="rId37"/>
    <p:sldId id="279" r:id="rId38"/>
    <p:sldId id="310" r:id="rId39"/>
    <p:sldId id="283" r:id="rId40"/>
    <p:sldId id="284" r:id="rId41"/>
    <p:sldId id="309" r:id="rId42"/>
    <p:sldId id="286" r:id="rId43"/>
    <p:sldId id="287" r:id="rId44"/>
    <p:sldId id="270" r:id="rId45"/>
    <p:sldId id="318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Stopwatch</a:t>
            </a:r>
            <a:br>
              <a:rPr lang="en-US" altLang="ko-KR" dirty="0"/>
            </a:br>
            <a:r>
              <a:rPr lang="en-US" altLang="ko-KR" dirty="0"/>
              <a:t>&amp;</a:t>
            </a:r>
            <a:br>
              <a:rPr lang="en-US" altLang="ko-KR" dirty="0"/>
            </a:br>
            <a:r>
              <a:rPr lang="en-US" altLang="ko-KR" dirty="0"/>
              <a:t>watch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 smtClean="0"/>
              <a:t> </a:t>
            </a:r>
            <a:r>
              <a:rPr lang="ko-KR" altLang="en-US" dirty="0" err="1" smtClean="0"/>
              <a:t>온디바이스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 </a:t>
            </a:r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5968C-06B2-387E-6E4B-165DF20C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Introduction </a:t>
            </a:r>
            <a:r>
              <a:rPr lang="en-US" altLang="ko-KR"/>
              <a:t>– </a:t>
            </a:r>
            <a:r>
              <a:rPr lang="en-US" altLang="ko-KR" smtClean="0"/>
              <a:t>stopwatch &amp; watch</a:t>
            </a:r>
            <a:endParaRPr lang="en-US" altLang="ko-KR" dirty="0"/>
          </a:p>
          <a:p>
            <a:r>
              <a:rPr lang="en-US" altLang="ko-KR" dirty="0"/>
              <a:t>2. Block Diagram</a:t>
            </a:r>
          </a:p>
          <a:p>
            <a:r>
              <a:rPr lang="en-US" altLang="ko-KR" dirty="0"/>
              <a:t>3. </a:t>
            </a:r>
            <a:r>
              <a:rPr lang="en-US" altLang="ko-KR" dirty="0" smtClean="0"/>
              <a:t>FSM</a:t>
            </a:r>
          </a:p>
          <a:p>
            <a:r>
              <a:rPr lang="en-US" altLang="ko-KR" dirty="0" smtClean="0"/>
              <a:t>4. </a:t>
            </a:r>
            <a:r>
              <a:rPr lang="en-US" altLang="ko-KR" dirty="0"/>
              <a:t>M</a:t>
            </a:r>
            <a:r>
              <a:rPr lang="en-US" altLang="ko-KR" dirty="0" smtClean="0"/>
              <a:t>odule</a:t>
            </a:r>
          </a:p>
          <a:p>
            <a:r>
              <a:rPr lang="en-US" altLang="ko-KR" dirty="0" smtClean="0"/>
              <a:t>5</a:t>
            </a:r>
            <a:r>
              <a:rPr lang="en-US" altLang="ko-KR" dirty="0"/>
              <a:t>. Simulation</a:t>
            </a:r>
          </a:p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 smtClean="0"/>
              <a:t>고찰</a:t>
            </a:r>
            <a:endParaRPr lang="en-US" altLang="ko-KR" dirty="0" smtClean="0"/>
          </a:p>
          <a:p>
            <a:r>
              <a:rPr lang="en-US" altLang="ko-KR" dirty="0"/>
              <a:t>7</a:t>
            </a:r>
            <a:r>
              <a:rPr lang="en-US" altLang="ko-KR" dirty="0" smtClean="0"/>
              <a:t>. </a:t>
            </a:r>
            <a:r>
              <a:rPr lang="ko-KR" altLang="en-US" dirty="0" smtClean="0"/>
              <a:t>출처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00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 – </a:t>
            </a:r>
            <a:r>
              <a:rPr lang="en-US" altLang="ko-KR" dirty="0" err="1"/>
              <a:t>stopwatch&amp;watch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27860" y="2113808"/>
            <a:ext cx="410778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Setting Time(hour, min, sec, </a:t>
            </a:r>
            <a:r>
              <a:rPr lang="en-US" altLang="ko-KR" dirty="0" err="1" smtClean="0"/>
              <a:t>msec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Run for </a:t>
            </a:r>
            <a:r>
              <a:rPr lang="ko-KR" altLang="en-US" dirty="0"/>
              <a:t>설정 시각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7B347-A507-FC4A-1EC1-92619C34446C}"/>
              </a:ext>
            </a:extLst>
          </p:cNvPr>
          <p:cNvSpPr txBox="1"/>
          <p:nvPr/>
        </p:nvSpPr>
        <p:spPr>
          <a:xfrm>
            <a:off x="1727860" y="3522675"/>
            <a:ext cx="41077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Time counter(up/down)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RUN </a:t>
            </a:r>
            <a:r>
              <a:rPr lang="ko-KR" altLang="en-US" dirty="0"/>
              <a:t>상태 시</a:t>
            </a:r>
            <a:r>
              <a:rPr lang="en-US" altLang="ko-KR" dirty="0"/>
              <a:t>, </a:t>
            </a:r>
            <a:r>
              <a:rPr lang="ko-KR" altLang="en-US" dirty="0"/>
              <a:t>시간 기록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STOP </a:t>
            </a:r>
            <a:r>
              <a:rPr lang="ko-KR" altLang="en-US" dirty="0"/>
              <a:t>상태 시</a:t>
            </a:r>
            <a:r>
              <a:rPr lang="en-US" altLang="ko-KR" dirty="0"/>
              <a:t>, </a:t>
            </a:r>
            <a:r>
              <a:rPr lang="ko-KR" altLang="en-US" dirty="0"/>
              <a:t>시간 불러오기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A27D9D-CA74-127E-4B06-E729E6FAC66E}"/>
              </a:ext>
            </a:extLst>
          </p:cNvPr>
          <p:cNvSpPr txBox="1"/>
          <p:nvPr/>
        </p:nvSpPr>
        <p:spPr>
          <a:xfrm>
            <a:off x="1435760" y="1744476"/>
            <a:ext cx="145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Watch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94332-EE2C-FC38-D9AD-E2E22E147E98}"/>
              </a:ext>
            </a:extLst>
          </p:cNvPr>
          <p:cNvSpPr txBox="1"/>
          <p:nvPr/>
        </p:nvSpPr>
        <p:spPr>
          <a:xfrm>
            <a:off x="1435760" y="3153343"/>
            <a:ext cx="145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Stopwatch</a:t>
            </a:r>
            <a:endParaRPr lang="ko-KR" altLang="en-US" b="1" dirty="0"/>
          </a:p>
        </p:txBody>
      </p:sp>
      <p:pic>
        <p:nvPicPr>
          <p:cNvPr id="17" name="그림 16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105BFC-82D6-EC8C-B878-12A677831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64" b="6509"/>
          <a:stretch>
            <a:fillRect/>
          </a:stretch>
        </p:blipFill>
        <p:spPr>
          <a:xfrm>
            <a:off x="8191501" y="1819719"/>
            <a:ext cx="2190090" cy="429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4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57C4-F15E-8C8F-0B91-D23197E3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회로, 전자제품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95C342-FD7F-73F8-78A1-3551D10A5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337" y="2819646"/>
            <a:ext cx="2386658" cy="2027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68562AF-58C0-19EB-FE78-75AB8BE4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1. Introduction - </a:t>
            </a:r>
            <a:r>
              <a:rPr lang="en-US" altLang="ko-KR" dirty="0" err="1"/>
              <a:t>stopwatch&amp;watch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 descr="전자제품, 전자 부품, 전자 공학, 회로 구성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C5C8CE-9BC5-3DA7-E2DE-FE3D3034B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273489" y="1882022"/>
            <a:ext cx="2935311" cy="4757889"/>
          </a:xfrm>
          <a:prstGeom prst="rect">
            <a:avLst/>
          </a:prstGeom>
        </p:spPr>
      </p:pic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FC9DC274-FA79-C834-C9DA-AFBD1BC79BB9}"/>
              </a:ext>
            </a:extLst>
          </p:cNvPr>
          <p:cNvSpPr/>
          <p:nvPr/>
        </p:nvSpPr>
        <p:spPr>
          <a:xfrm rot="5400000">
            <a:off x="4498975" y="4000500"/>
            <a:ext cx="412750" cy="3860800"/>
          </a:xfrm>
          <a:prstGeom prst="rightBrace">
            <a:avLst>
              <a:gd name="adj1" fmla="val 8333"/>
              <a:gd name="adj2" fmla="val 4950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49E3400E-623C-CE94-BB86-773E256DF9B4}"/>
              </a:ext>
            </a:extLst>
          </p:cNvPr>
          <p:cNvSpPr/>
          <p:nvPr/>
        </p:nvSpPr>
        <p:spPr>
          <a:xfrm rot="16200000">
            <a:off x="6235380" y="4503338"/>
            <a:ext cx="180178" cy="774700"/>
          </a:xfrm>
          <a:prstGeom prst="rightBrace">
            <a:avLst>
              <a:gd name="adj1" fmla="val 8333"/>
              <a:gd name="adj2" fmla="val 483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F245F-1B3A-F86C-2671-4FD63785C00D}"/>
              </a:ext>
            </a:extLst>
          </p:cNvPr>
          <p:cNvSpPr txBox="1"/>
          <p:nvPr/>
        </p:nvSpPr>
        <p:spPr>
          <a:xfrm>
            <a:off x="3518769" y="6143808"/>
            <a:ext cx="244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data = SW[15:0]  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827542A-610B-C67E-A8E2-0B3A2C509F7E}"/>
              </a:ext>
            </a:extLst>
          </p:cNvPr>
          <p:cNvCxnSpPr>
            <a:cxnSpLocks/>
          </p:cNvCxnSpPr>
          <p:nvPr/>
        </p:nvCxnSpPr>
        <p:spPr>
          <a:xfrm flipV="1">
            <a:off x="8910537" y="4204887"/>
            <a:ext cx="0" cy="10402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A32A87-8125-D012-AE5A-4905C81E0163}"/>
              </a:ext>
            </a:extLst>
          </p:cNvPr>
          <p:cNvSpPr txBox="1"/>
          <p:nvPr/>
        </p:nvSpPr>
        <p:spPr>
          <a:xfrm>
            <a:off x="9135052" y="5273342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MODE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96EC4-3860-7A12-20AD-085ECE3CE4FE}"/>
              </a:ext>
            </a:extLst>
          </p:cNvPr>
          <p:cNvSpPr txBox="1"/>
          <p:nvPr/>
        </p:nvSpPr>
        <p:spPr>
          <a:xfrm>
            <a:off x="8255617" y="5266809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CLEAR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4F7520D-527A-71C6-806E-02BA50070A90}"/>
              </a:ext>
            </a:extLst>
          </p:cNvPr>
          <p:cNvCxnSpPr>
            <a:cxnSpLocks/>
          </p:cNvCxnSpPr>
          <p:nvPr/>
        </p:nvCxnSpPr>
        <p:spPr>
          <a:xfrm flipV="1">
            <a:off x="9754145" y="4736068"/>
            <a:ext cx="0" cy="5090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84316D3-C774-0CED-1C90-34535E343C67}"/>
              </a:ext>
            </a:extLst>
          </p:cNvPr>
          <p:cNvCxnSpPr>
            <a:cxnSpLocks/>
          </p:cNvCxnSpPr>
          <p:nvPr/>
        </p:nvCxnSpPr>
        <p:spPr>
          <a:xfrm>
            <a:off x="9729290" y="2406650"/>
            <a:ext cx="0" cy="673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0BF97A8-C72A-44A3-0061-9A35AF042E11}"/>
              </a:ext>
            </a:extLst>
          </p:cNvPr>
          <p:cNvCxnSpPr>
            <a:cxnSpLocks/>
          </p:cNvCxnSpPr>
          <p:nvPr/>
        </p:nvCxnSpPr>
        <p:spPr>
          <a:xfrm flipV="1">
            <a:off x="10509795" y="4204887"/>
            <a:ext cx="0" cy="10619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0D89BAE-412A-C2CA-091B-EDC9D5B2C073}"/>
              </a:ext>
            </a:extLst>
          </p:cNvPr>
          <p:cNvSpPr txBox="1"/>
          <p:nvPr/>
        </p:nvSpPr>
        <p:spPr>
          <a:xfrm>
            <a:off x="9202240" y="2059150"/>
            <a:ext cx="10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5FBD0C-BDE7-7278-EB54-38C8F382A8FC}"/>
              </a:ext>
            </a:extLst>
          </p:cNvPr>
          <p:cNvSpPr txBox="1"/>
          <p:nvPr/>
        </p:nvSpPr>
        <p:spPr>
          <a:xfrm>
            <a:off x="9980262" y="5245100"/>
            <a:ext cx="144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RUN_STOP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5D4397F-0426-5656-61DD-E1EA727A16DE}"/>
              </a:ext>
            </a:extLst>
          </p:cNvPr>
          <p:cNvCxnSpPr>
            <a:cxnSpLocks/>
          </p:cNvCxnSpPr>
          <p:nvPr/>
        </p:nvCxnSpPr>
        <p:spPr>
          <a:xfrm flipH="1">
            <a:off x="9973042" y="2435015"/>
            <a:ext cx="1177558" cy="12697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3809FB8-B52D-B439-3E0B-9B7AA0A96831}"/>
              </a:ext>
            </a:extLst>
          </p:cNvPr>
          <p:cNvSpPr txBox="1"/>
          <p:nvPr/>
        </p:nvSpPr>
        <p:spPr>
          <a:xfrm>
            <a:off x="10189152" y="2065683"/>
            <a:ext cx="2101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FND_DIGIT_CHAGE</a:t>
            </a:r>
            <a:endParaRPr lang="ko-KR" altLang="en-US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AE42F2-C643-34CF-8768-9E82786BF10C}"/>
              </a:ext>
            </a:extLst>
          </p:cNvPr>
          <p:cNvCxnSpPr>
            <a:cxnSpLocks/>
          </p:cNvCxnSpPr>
          <p:nvPr/>
        </p:nvCxnSpPr>
        <p:spPr>
          <a:xfrm>
            <a:off x="6338169" y="2522139"/>
            <a:ext cx="0" cy="23621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CF90024-E8E1-D09A-7927-A1FBEF6DE067}"/>
              </a:ext>
            </a:extLst>
          </p:cNvPr>
          <p:cNvSpPr txBox="1"/>
          <p:nvPr/>
        </p:nvSpPr>
        <p:spPr>
          <a:xfrm>
            <a:off x="5249579" y="1875808"/>
            <a:ext cx="2151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RUN = LED[2]</a:t>
            </a:r>
          </a:p>
          <a:p>
            <a:pPr algn="ctr"/>
            <a:r>
              <a:rPr lang="en-US" altLang="ko-KR" dirty="0"/>
              <a:t>Mode = LED[1:0] </a:t>
            </a:r>
            <a:endParaRPr lang="ko-KR" altLang="en-US" dirty="0"/>
          </a:p>
        </p:txBody>
      </p:sp>
      <p:sp>
        <p:nvSpPr>
          <p:cNvPr id="47" name="오른쪽 중괄호 46">
            <a:extLst>
              <a:ext uri="{FF2B5EF4-FFF2-40B4-BE49-F238E27FC236}">
                <a16:creationId xmlns:a16="http://schemas.microsoft.com/office/drawing/2014/main" id="{AE0AC40D-B057-689A-DBB9-28EA04470984}"/>
              </a:ext>
            </a:extLst>
          </p:cNvPr>
          <p:cNvSpPr/>
          <p:nvPr/>
        </p:nvSpPr>
        <p:spPr>
          <a:xfrm rot="16200000">
            <a:off x="3663195" y="3754473"/>
            <a:ext cx="180178" cy="1180230"/>
          </a:xfrm>
          <a:prstGeom prst="rightBrace">
            <a:avLst>
              <a:gd name="adj1" fmla="val 8333"/>
              <a:gd name="adj2" fmla="val 483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5BEF4EE-A8A4-A610-480D-ECED7D62D755}"/>
              </a:ext>
            </a:extLst>
          </p:cNvPr>
          <p:cNvCxnSpPr>
            <a:cxnSpLocks/>
          </p:cNvCxnSpPr>
          <p:nvPr/>
        </p:nvCxnSpPr>
        <p:spPr>
          <a:xfrm>
            <a:off x="3757543" y="2522139"/>
            <a:ext cx="0" cy="18010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6ED366B-7EE6-E3A8-C1AE-728FD528C816}"/>
              </a:ext>
            </a:extLst>
          </p:cNvPr>
          <p:cNvSpPr txBox="1"/>
          <p:nvPr/>
        </p:nvSpPr>
        <p:spPr>
          <a:xfrm>
            <a:off x="2454490" y="1747650"/>
            <a:ext cx="259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FND_DISPLY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hour,min</a:t>
            </a:r>
            <a:r>
              <a:rPr lang="en-US" altLang="ko-KR" dirty="0"/>
              <a:t>) or (</a:t>
            </a:r>
            <a:r>
              <a:rPr lang="en-US" altLang="ko-KR" dirty="0" err="1"/>
              <a:t>sec,msec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71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pic>
        <p:nvPicPr>
          <p:cNvPr id="6" name="그림 5" descr="도표, 평면도, 기술 도면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73150-79BF-F7A5-FFDF-498B0FA82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806" y="1663700"/>
            <a:ext cx="9494044" cy="42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3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356707-2B09-906F-768B-AA317516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65686" y="2153766"/>
            <a:ext cx="45627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BTN_DEBOUNCE:</a:t>
            </a:r>
          </a:p>
          <a:p>
            <a:r>
              <a:rPr lang="ko-KR" altLang="en-US" dirty="0"/>
              <a:t>버튼 누를 때</a:t>
            </a:r>
            <a:r>
              <a:rPr lang="en-US" altLang="ko-KR" dirty="0"/>
              <a:t>, Bouncing</a:t>
            </a:r>
            <a:r>
              <a:rPr lang="ko-KR" altLang="en-US" dirty="0"/>
              <a:t> 현상 차단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669391" y="2743200"/>
            <a:ext cx="915060" cy="30861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3F028E1-B5D9-4DDC-CB0C-C520D775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0" y="4381068"/>
            <a:ext cx="4784436" cy="174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7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D199AD-7C44-1D50-5802-D05E0264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496128" y="4916384"/>
            <a:ext cx="991590" cy="9381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308B0-EA17-2442-30BD-D45BB48B3D33}"/>
              </a:ext>
            </a:extLst>
          </p:cNvPr>
          <p:cNvSpPr txBox="1"/>
          <p:nvPr/>
        </p:nvSpPr>
        <p:spPr>
          <a:xfrm>
            <a:off x="7165686" y="2153766"/>
            <a:ext cx="462626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PUSH_CHAGE: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버튼을 누를 시</a:t>
            </a:r>
            <a:r>
              <a:rPr lang="en-US" altLang="ko-KR" dirty="0"/>
              <a:t>, </a:t>
            </a:r>
            <a:r>
              <a:rPr lang="en-US" altLang="ko-KR" dirty="0" err="1"/>
              <a:t>signel</a:t>
            </a:r>
            <a:r>
              <a:rPr lang="ko-KR" altLang="en-US" dirty="0"/>
              <a:t>을 반전 수행</a:t>
            </a:r>
            <a:endParaRPr lang="en-US" altLang="ko-KR" dirty="0"/>
          </a:p>
          <a:p>
            <a:r>
              <a:rPr lang="en-US" altLang="ko-KR" dirty="0"/>
              <a:t>2. FND</a:t>
            </a:r>
            <a:r>
              <a:rPr lang="ko-KR" altLang="en-US" dirty="0"/>
              <a:t>의 </a:t>
            </a:r>
            <a:r>
              <a:rPr lang="en-US" altLang="ko-KR" dirty="0"/>
              <a:t>digit(hour/min or sec/msec)</a:t>
            </a:r>
            <a:r>
              <a:rPr lang="ko-KR" altLang="en-US" dirty="0"/>
              <a:t>을 변경</a:t>
            </a:r>
          </a:p>
        </p:txBody>
      </p:sp>
      <p:pic>
        <p:nvPicPr>
          <p:cNvPr id="9" name="그림 8" descr="라인, 스크린샷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B915BA-6B43-E3D4-DEB0-C338EC53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186" y="4527550"/>
            <a:ext cx="4562764" cy="159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E91CB5-92F3-5CD4-CB7E-0C47023E9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016249" y="1597232"/>
            <a:ext cx="991590" cy="46491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50059-E029-F9DE-A2DE-E4486F739AA9}"/>
              </a:ext>
            </a:extLst>
          </p:cNvPr>
          <p:cNvSpPr txBox="1"/>
          <p:nvPr/>
        </p:nvSpPr>
        <p:spPr>
          <a:xfrm>
            <a:off x="7165686" y="2153766"/>
            <a:ext cx="45627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CTRL_UNIT:</a:t>
            </a:r>
          </a:p>
          <a:p>
            <a:r>
              <a:rPr lang="ko-KR" altLang="en-US" dirty="0"/>
              <a:t>현재 상태에 따라 </a:t>
            </a:r>
            <a:r>
              <a:rPr lang="en-US" altLang="ko-KR" dirty="0"/>
              <a:t>DATA_PATH</a:t>
            </a:r>
            <a:r>
              <a:rPr lang="ko-KR" altLang="en-US" dirty="0"/>
              <a:t>를 제어함</a:t>
            </a:r>
          </a:p>
        </p:txBody>
      </p:sp>
    </p:spTree>
    <p:extLst>
      <p:ext uri="{BB962C8B-B14F-4D97-AF65-F5344CB8AC3E}">
        <p14:creationId xmlns:p14="http://schemas.microsoft.com/office/powerpoint/2010/main" val="356245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858910-7188-3A49-6171-0D000015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446895" y="1585142"/>
            <a:ext cx="991590" cy="46491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629AD-8FE8-55E3-F57C-9C638B87A2F9}"/>
              </a:ext>
            </a:extLst>
          </p:cNvPr>
          <p:cNvSpPr txBox="1"/>
          <p:nvPr/>
        </p:nvSpPr>
        <p:spPr>
          <a:xfrm>
            <a:off x="7165686" y="2153766"/>
            <a:ext cx="45627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BTN_DEBOUNCE:</a:t>
            </a:r>
          </a:p>
          <a:p>
            <a:r>
              <a:rPr lang="en-US" altLang="ko-KR" dirty="0"/>
              <a:t>1. CTRL_UNIT</a:t>
            </a:r>
            <a:r>
              <a:rPr lang="ko-KR" altLang="en-US" dirty="0"/>
              <a:t>의 신호</a:t>
            </a:r>
            <a:r>
              <a:rPr lang="en-US" altLang="ko-KR" dirty="0"/>
              <a:t>(</a:t>
            </a:r>
            <a:r>
              <a:rPr lang="ko-KR" altLang="en-US" dirty="0"/>
              <a:t>상태</a:t>
            </a:r>
            <a:r>
              <a:rPr lang="en-US" altLang="ko-KR" dirty="0"/>
              <a:t>)</a:t>
            </a:r>
            <a:r>
              <a:rPr lang="ko-KR" altLang="en-US" dirty="0"/>
              <a:t>에 의해 동작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Time data</a:t>
            </a:r>
            <a:r>
              <a:rPr lang="ko-KR" altLang="en-US" dirty="0"/>
              <a:t>는 </a:t>
            </a:r>
            <a:r>
              <a:rPr lang="en-US" altLang="ko-KR" dirty="0"/>
              <a:t>Input </a:t>
            </a:r>
            <a:r>
              <a:rPr lang="ko-KR" altLang="en-US" dirty="0"/>
              <a:t>신호에 의해 </a:t>
            </a:r>
            <a:endParaRPr lang="en-US" altLang="ko-KR" dirty="0"/>
          </a:p>
          <a:p>
            <a:r>
              <a:rPr lang="en-US" altLang="ko-KR" dirty="0"/>
              <a:t>FND_CTRL</a:t>
            </a:r>
            <a:r>
              <a:rPr lang="ko-KR" altLang="en-US" dirty="0"/>
              <a:t>에 보내는 </a:t>
            </a:r>
            <a:r>
              <a:rPr lang="en-US" altLang="ko-KR" dirty="0"/>
              <a:t>Output data</a:t>
            </a:r>
            <a:r>
              <a:rPr lang="ko-KR" altLang="en-US" dirty="0"/>
              <a:t>를 제어 </a:t>
            </a:r>
          </a:p>
        </p:txBody>
      </p:sp>
      <p:pic>
        <p:nvPicPr>
          <p:cNvPr id="6" name="그림 5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2C3BD3-FB53-730C-DE21-442C033A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588" y="3890211"/>
            <a:ext cx="3005925" cy="2427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6E01B-CB05-CD20-45F8-26C453738C7F}"/>
              </a:ext>
            </a:extLst>
          </p:cNvPr>
          <p:cNvSpPr txBox="1"/>
          <p:nvPr/>
        </p:nvSpPr>
        <p:spPr>
          <a:xfrm>
            <a:off x="8186288" y="3818483"/>
            <a:ext cx="147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DATA_PATH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459737" y="5981700"/>
            <a:ext cx="811441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400" dirty="0" err="1"/>
              <a:t>mux_sel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33741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도표, 텍스트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719A1F-7DD8-2158-88D8-C095A789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07" y="1585142"/>
            <a:ext cx="6105766" cy="464918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2. Block Diagram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676405" y="1585142"/>
            <a:ext cx="991590" cy="46491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7EFF0A-61F0-BA9E-D124-D1A4C490A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50" y="4010451"/>
            <a:ext cx="3799502" cy="2223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B1302-D81C-1426-E3BD-D5AEF366CBE5}"/>
              </a:ext>
            </a:extLst>
          </p:cNvPr>
          <p:cNvSpPr txBox="1"/>
          <p:nvPr/>
        </p:nvSpPr>
        <p:spPr>
          <a:xfrm>
            <a:off x="7165686" y="2153766"/>
            <a:ext cx="456276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FND_CTRL:</a:t>
            </a:r>
          </a:p>
          <a:p>
            <a:r>
              <a:rPr lang="en-US" altLang="ko-KR" dirty="0"/>
              <a:t>Input data(</a:t>
            </a:r>
            <a:r>
              <a:rPr lang="en-US" altLang="ko-KR" dirty="0" err="1"/>
              <a:t>time_data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en-US" altLang="ko-KR" dirty="0"/>
              <a:t>FND</a:t>
            </a:r>
            <a:r>
              <a:rPr lang="ko-KR" altLang="en-US" dirty="0"/>
              <a:t>에 출력할 수 있게 변환 및 제어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327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FBFD-A004-F638-24A6-4866AA41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BBB20-B2A7-193D-C0A7-C17BDB36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3. FSM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270508E-CFBA-EADB-69CB-C27161489B44}"/>
              </a:ext>
            </a:extLst>
          </p:cNvPr>
          <p:cNvSpPr/>
          <p:nvPr/>
        </p:nvSpPr>
        <p:spPr>
          <a:xfrm>
            <a:off x="4749800" y="3790951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5041A56-074A-6480-F700-585C00F33DE5}"/>
              </a:ext>
            </a:extLst>
          </p:cNvPr>
          <p:cNvSpPr/>
          <p:nvPr/>
        </p:nvSpPr>
        <p:spPr>
          <a:xfrm>
            <a:off x="3908425" y="2332264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CLAER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54123F7-C27E-D372-3C0B-7E1FD6D9C228}"/>
              </a:ext>
            </a:extLst>
          </p:cNvPr>
          <p:cNvSpPr/>
          <p:nvPr/>
        </p:nvSpPr>
        <p:spPr>
          <a:xfrm>
            <a:off x="2682875" y="4572907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RUN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815971D-B301-A6B2-8A9A-C332CE47BF27}"/>
              </a:ext>
            </a:extLst>
          </p:cNvPr>
          <p:cNvSpPr/>
          <p:nvPr/>
        </p:nvSpPr>
        <p:spPr>
          <a:xfrm>
            <a:off x="4760912" y="5319032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8ED93DA-EBAE-B157-0020-50E8F859BC62}"/>
              </a:ext>
            </a:extLst>
          </p:cNvPr>
          <p:cNvCxnSpPr>
            <a:cxnSpLocks/>
          </p:cNvCxnSpPr>
          <p:nvPr/>
        </p:nvCxnSpPr>
        <p:spPr>
          <a:xfrm>
            <a:off x="4914900" y="3270704"/>
            <a:ext cx="234950" cy="478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0E974FB-838F-E71F-916F-7A516F3AE7EF}"/>
              </a:ext>
            </a:extLst>
          </p:cNvPr>
          <p:cNvCxnSpPr>
            <a:cxnSpLocks/>
          </p:cNvCxnSpPr>
          <p:nvPr/>
        </p:nvCxnSpPr>
        <p:spPr>
          <a:xfrm>
            <a:off x="5384800" y="4825094"/>
            <a:ext cx="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36C9EBF-6FDA-1FE3-AA9A-43ACE2792AD6}"/>
              </a:ext>
            </a:extLst>
          </p:cNvPr>
          <p:cNvCxnSpPr>
            <a:cxnSpLocks/>
          </p:cNvCxnSpPr>
          <p:nvPr/>
        </p:nvCxnSpPr>
        <p:spPr>
          <a:xfrm flipH="1" flipV="1">
            <a:off x="3854450" y="5365750"/>
            <a:ext cx="906462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D0014E8-175C-4993-BD90-4C4A3E4E7B2A}"/>
              </a:ext>
            </a:extLst>
          </p:cNvPr>
          <p:cNvCxnSpPr>
            <a:cxnSpLocks/>
          </p:cNvCxnSpPr>
          <p:nvPr/>
        </p:nvCxnSpPr>
        <p:spPr>
          <a:xfrm flipV="1">
            <a:off x="3548063" y="3324678"/>
            <a:ext cx="572888" cy="1224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2307036" y="3770538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 smtClean="0"/>
              <a:t>Btn_CLEAR</a:t>
            </a:r>
            <a:r>
              <a:rPr lang="en-US" altLang="ko-KR" sz="900" b="1" dirty="0" smtClean="0"/>
              <a:t> </a:t>
            </a:r>
            <a:r>
              <a:rPr lang="en-US" altLang="ko-KR" sz="900" b="1" dirty="0"/>
              <a:t>= 1’b1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D1BE61-381C-E2FD-C399-3EA304DF1FA7}"/>
              </a:ext>
            </a:extLst>
          </p:cNvPr>
          <p:cNvSpPr txBox="1"/>
          <p:nvPr/>
        </p:nvSpPr>
        <p:spPr>
          <a:xfrm>
            <a:off x="3908425" y="4859113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9B0442-D34D-6EDF-4C6B-057AB922887C}"/>
              </a:ext>
            </a:extLst>
          </p:cNvPr>
          <p:cNvSpPr txBox="1"/>
          <p:nvPr/>
        </p:nvSpPr>
        <p:spPr>
          <a:xfrm>
            <a:off x="3217468" y="5764892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F92833-727E-3657-3C62-E15A746937F6}"/>
              </a:ext>
            </a:extLst>
          </p:cNvPr>
          <p:cNvSpPr txBox="1"/>
          <p:nvPr/>
        </p:nvSpPr>
        <p:spPr>
          <a:xfrm>
            <a:off x="1492250" y="1527622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 WATCH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11695C-71A1-14F0-E074-C00DB2FB2C1F}"/>
              </a:ext>
            </a:extLst>
          </p:cNvPr>
          <p:cNvSpPr txBox="1"/>
          <p:nvPr/>
        </p:nvSpPr>
        <p:spPr>
          <a:xfrm>
            <a:off x="6792116" y="1602029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 STOPWATCH</a:t>
            </a:r>
            <a:endParaRPr lang="ko-KR" altLang="en-US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D48D06B-FDB1-1003-797A-41C7CD90680F}"/>
              </a:ext>
            </a:extLst>
          </p:cNvPr>
          <p:cNvSpPr/>
          <p:nvPr/>
        </p:nvSpPr>
        <p:spPr>
          <a:xfrm>
            <a:off x="9839223" y="2764093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C008778-834E-BFF3-7D66-289443C852CC}"/>
              </a:ext>
            </a:extLst>
          </p:cNvPr>
          <p:cNvSpPr/>
          <p:nvPr/>
        </p:nvSpPr>
        <p:spPr>
          <a:xfrm>
            <a:off x="9828905" y="504233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RUN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51511FE-4BFB-0D92-9A91-937D4D8C1B0D}"/>
              </a:ext>
            </a:extLst>
          </p:cNvPr>
          <p:cNvCxnSpPr>
            <a:cxnSpLocks/>
          </p:cNvCxnSpPr>
          <p:nvPr/>
        </p:nvCxnSpPr>
        <p:spPr>
          <a:xfrm>
            <a:off x="10549329" y="3862508"/>
            <a:ext cx="0" cy="1098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7BB5796-8124-34D0-3BBC-E3FBF263011E}"/>
              </a:ext>
            </a:extLst>
          </p:cNvPr>
          <p:cNvCxnSpPr>
            <a:cxnSpLocks/>
          </p:cNvCxnSpPr>
          <p:nvPr/>
        </p:nvCxnSpPr>
        <p:spPr>
          <a:xfrm flipV="1">
            <a:off x="10299899" y="3792769"/>
            <a:ext cx="0" cy="1168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73EF592B-F763-C353-6723-263563268F34}"/>
              </a:ext>
            </a:extLst>
          </p:cNvPr>
          <p:cNvSpPr/>
          <p:nvPr/>
        </p:nvSpPr>
        <p:spPr>
          <a:xfrm>
            <a:off x="9802018" y="1275258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CLEAR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4346B07-3E6A-76DB-3D90-4321EC7363D7}"/>
              </a:ext>
            </a:extLst>
          </p:cNvPr>
          <p:cNvCxnSpPr>
            <a:cxnSpLocks/>
          </p:cNvCxnSpPr>
          <p:nvPr/>
        </p:nvCxnSpPr>
        <p:spPr>
          <a:xfrm>
            <a:off x="10435330" y="2308311"/>
            <a:ext cx="0" cy="399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4E7D4E1-3C09-B48E-6863-6D0FABAF46BF}"/>
              </a:ext>
            </a:extLst>
          </p:cNvPr>
          <p:cNvSpPr txBox="1"/>
          <p:nvPr/>
        </p:nvSpPr>
        <p:spPr>
          <a:xfrm>
            <a:off x="10545455" y="4227977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9FE38E-E81B-5B56-8127-06DBC57318DA}"/>
              </a:ext>
            </a:extLst>
          </p:cNvPr>
          <p:cNvSpPr txBox="1"/>
          <p:nvPr/>
        </p:nvSpPr>
        <p:spPr>
          <a:xfrm>
            <a:off x="8668047" y="4264180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sp>
        <p:nvSpPr>
          <p:cNvPr id="3" name="오른쪽으로 구부러진 화살표 2"/>
          <p:cNvSpPr/>
          <p:nvPr/>
        </p:nvSpPr>
        <p:spPr>
          <a:xfrm rot="10800000">
            <a:off x="11083030" y="1884858"/>
            <a:ext cx="1038009" cy="372872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10700321" y="3238815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 smtClean="0"/>
              <a:t>Btn_CLEAR</a:t>
            </a:r>
            <a:r>
              <a:rPr lang="en-US" altLang="ko-KR" sz="900" b="1" dirty="0" smtClean="0"/>
              <a:t> </a:t>
            </a:r>
            <a:r>
              <a:rPr lang="en-US" altLang="ko-KR" sz="900" b="1" dirty="0"/>
              <a:t>= 1’b1</a:t>
            </a:r>
          </a:p>
        </p:txBody>
      </p:sp>
    </p:spTree>
    <p:extLst>
      <p:ext uri="{BB962C8B-B14F-4D97-AF65-F5344CB8AC3E}">
        <p14:creationId xmlns:p14="http://schemas.microsoft.com/office/powerpoint/2010/main" val="420391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9509-94C3-02E0-ABC4-F609822C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96F42-7316-B423-023D-CEED420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3. FSM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E8A04-2771-6E45-B61A-9D8A43C42147}"/>
              </a:ext>
            </a:extLst>
          </p:cNvPr>
          <p:cNvSpPr txBox="1"/>
          <p:nvPr/>
        </p:nvSpPr>
        <p:spPr>
          <a:xfrm>
            <a:off x="1492250" y="1527622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en-US" altLang="ko-KR" b="1" dirty="0" smtClean="0"/>
              <a:t>Add BTN_MODE</a:t>
            </a:r>
            <a:endParaRPr lang="ko-KR" altLang="en-US" b="1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0E8E54F-1532-4423-3A13-C324685D2208}"/>
              </a:ext>
            </a:extLst>
          </p:cNvPr>
          <p:cNvSpPr/>
          <p:nvPr/>
        </p:nvSpPr>
        <p:spPr>
          <a:xfrm>
            <a:off x="5962650" y="113347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IDLE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5741F40-FE1C-7CC6-9444-373FAC313CB1}"/>
              </a:ext>
            </a:extLst>
          </p:cNvPr>
          <p:cNvSpPr/>
          <p:nvPr/>
        </p:nvSpPr>
        <p:spPr>
          <a:xfrm>
            <a:off x="9839223" y="2764093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E228D8-ACB6-3CDD-CAD8-55478F0B7808}"/>
              </a:ext>
            </a:extLst>
          </p:cNvPr>
          <p:cNvSpPr/>
          <p:nvPr/>
        </p:nvSpPr>
        <p:spPr>
          <a:xfrm>
            <a:off x="9828905" y="504233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723B9F6-98C6-6426-8A18-A51B7B6504ED}"/>
              </a:ext>
            </a:extLst>
          </p:cNvPr>
          <p:cNvSpPr/>
          <p:nvPr/>
        </p:nvSpPr>
        <p:spPr>
          <a:xfrm>
            <a:off x="4749800" y="3790951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F92E5D3-8643-18E2-216A-5D67CBABF54D}"/>
              </a:ext>
            </a:extLst>
          </p:cNvPr>
          <p:cNvSpPr/>
          <p:nvPr/>
        </p:nvSpPr>
        <p:spPr>
          <a:xfrm>
            <a:off x="3908425" y="2332264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CLAER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1037BEE-FFEF-326A-38FC-AF8D6ACB8F1B}"/>
              </a:ext>
            </a:extLst>
          </p:cNvPr>
          <p:cNvSpPr/>
          <p:nvPr/>
        </p:nvSpPr>
        <p:spPr>
          <a:xfrm>
            <a:off x="2682875" y="4572907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RUN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55E0DBC-C8AE-CCED-242F-751D60BA289E}"/>
              </a:ext>
            </a:extLst>
          </p:cNvPr>
          <p:cNvSpPr/>
          <p:nvPr/>
        </p:nvSpPr>
        <p:spPr>
          <a:xfrm>
            <a:off x="4760912" y="5319032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D2E6D33-2279-CA8C-C44F-7CB022201521}"/>
              </a:ext>
            </a:extLst>
          </p:cNvPr>
          <p:cNvCxnSpPr>
            <a:cxnSpLocks/>
          </p:cNvCxnSpPr>
          <p:nvPr/>
        </p:nvCxnSpPr>
        <p:spPr>
          <a:xfrm>
            <a:off x="10549329" y="3862508"/>
            <a:ext cx="0" cy="1098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813DE1E-AF94-6F35-26EB-FF1388769BFA}"/>
              </a:ext>
            </a:extLst>
          </p:cNvPr>
          <p:cNvCxnSpPr>
            <a:cxnSpLocks/>
          </p:cNvCxnSpPr>
          <p:nvPr/>
        </p:nvCxnSpPr>
        <p:spPr>
          <a:xfrm flipV="1">
            <a:off x="10299899" y="3792769"/>
            <a:ext cx="0" cy="1168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710FDF8-DA6A-1BF1-8BAA-042E85E5C188}"/>
              </a:ext>
            </a:extLst>
          </p:cNvPr>
          <p:cNvCxnSpPr>
            <a:cxnSpLocks/>
          </p:cNvCxnSpPr>
          <p:nvPr/>
        </p:nvCxnSpPr>
        <p:spPr>
          <a:xfrm flipH="1">
            <a:off x="5121275" y="1865991"/>
            <a:ext cx="796925" cy="642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76498C2-4FA3-141C-80DC-5A51D588575F}"/>
              </a:ext>
            </a:extLst>
          </p:cNvPr>
          <p:cNvCxnSpPr>
            <a:cxnSpLocks/>
          </p:cNvCxnSpPr>
          <p:nvPr/>
        </p:nvCxnSpPr>
        <p:spPr>
          <a:xfrm flipV="1">
            <a:off x="6076950" y="2061711"/>
            <a:ext cx="3450234" cy="2054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C2A6812-AE5F-D495-7043-F256954359AA}"/>
              </a:ext>
            </a:extLst>
          </p:cNvPr>
          <p:cNvCxnSpPr>
            <a:cxnSpLocks/>
          </p:cNvCxnSpPr>
          <p:nvPr/>
        </p:nvCxnSpPr>
        <p:spPr>
          <a:xfrm flipV="1">
            <a:off x="6032104" y="2274877"/>
            <a:ext cx="3616619" cy="33006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77DC515-BE76-0F29-239F-03F0F9244FCF}"/>
              </a:ext>
            </a:extLst>
          </p:cNvPr>
          <p:cNvCxnSpPr>
            <a:cxnSpLocks/>
          </p:cNvCxnSpPr>
          <p:nvPr/>
        </p:nvCxnSpPr>
        <p:spPr>
          <a:xfrm>
            <a:off x="4914900" y="3270704"/>
            <a:ext cx="234950" cy="478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62884CD-1050-641C-106F-0856F7AB015F}"/>
              </a:ext>
            </a:extLst>
          </p:cNvPr>
          <p:cNvCxnSpPr>
            <a:cxnSpLocks/>
          </p:cNvCxnSpPr>
          <p:nvPr/>
        </p:nvCxnSpPr>
        <p:spPr>
          <a:xfrm>
            <a:off x="5384800" y="4825094"/>
            <a:ext cx="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74B0E08-936B-AB04-F27F-67C0A14A53BD}"/>
              </a:ext>
            </a:extLst>
          </p:cNvPr>
          <p:cNvCxnSpPr>
            <a:cxnSpLocks/>
          </p:cNvCxnSpPr>
          <p:nvPr/>
        </p:nvCxnSpPr>
        <p:spPr>
          <a:xfrm flipH="1" flipV="1">
            <a:off x="3854450" y="5365750"/>
            <a:ext cx="906462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FA07FC7-10C4-F450-94A6-B5CD6A43E7C6}"/>
              </a:ext>
            </a:extLst>
          </p:cNvPr>
          <p:cNvCxnSpPr>
            <a:cxnSpLocks/>
          </p:cNvCxnSpPr>
          <p:nvPr/>
        </p:nvCxnSpPr>
        <p:spPr>
          <a:xfrm flipV="1">
            <a:off x="3548063" y="3324678"/>
            <a:ext cx="572888" cy="1224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1DACDFF-951D-C862-F3CE-AEE7420FBCAE}"/>
              </a:ext>
            </a:extLst>
          </p:cNvPr>
          <p:cNvCxnSpPr>
            <a:cxnSpLocks/>
          </p:cNvCxnSpPr>
          <p:nvPr/>
        </p:nvCxnSpPr>
        <p:spPr>
          <a:xfrm flipH="1" flipV="1">
            <a:off x="5235179" y="2836414"/>
            <a:ext cx="4414439" cy="461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D0B37FC-072C-9AB6-1F74-B3CCD4DF387B}"/>
              </a:ext>
            </a:extLst>
          </p:cNvPr>
          <p:cNvCxnSpPr>
            <a:cxnSpLocks/>
          </p:cNvCxnSpPr>
          <p:nvPr/>
        </p:nvCxnSpPr>
        <p:spPr>
          <a:xfrm flipH="1">
            <a:off x="7138987" y="796921"/>
            <a:ext cx="519113" cy="464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DDAC188-185E-F6FD-15EB-7AE90D5818D8}"/>
              </a:ext>
            </a:extLst>
          </p:cNvPr>
          <p:cNvSpPr txBox="1"/>
          <p:nvPr/>
        </p:nvSpPr>
        <p:spPr>
          <a:xfrm>
            <a:off x="7268369" y="559980"/>
            <a:ext cx="1434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RESET</a:t>
            </a:r>
            <a:endParaRPr lang="ko-KR" altLang="en-US" sz="11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974F2D0C-3F78-C0F2-22A0-5459A05C48D5}"/>
              </a:ext>
            </a:extLst>
          </p:cNvPr>
          <p:cNvSpPr/>
          <p:nvPr/>
        </p:nvSpPr>
        <p:spPr>
          <a:xfrm>
            <a:off x="9802018" y="1275258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CLEAR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F6B2F23-AC34-3A4B-2352-F660C4ABD0A3}"/>
              </a:ext>
            </a:extLst>
          </p:cNvPr>
          <p:cNvCxnSpPr>
            <a:cxnSpLocks/>
          </p:cNvCxnSpPr>
          <p:nvPr/>
        </p:nvCxnSpPr>
        <p:spPr>
          <a:xfrm>
            <a:off x="10435330" y="2308311"/>
            <a:ext cx="0" cy="399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0534822-085E-69D8-B71C-26CE09DB33BC}"/>
              </a:ext>
            </a:extLst>
          </p:cNvPr>
          <p:cNvSpPr txBox="1"/>
          <p:nvPr/>
        </p:nvSpPr>
        <p:spPr>
          <a:xfrm>
            <a:off x="8668047" y="4264180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C487CC-4CCE-AB4A-8366-06314E068A3D}"/>
              </a:ext>
            </a:extLst>
          </p:cNvPr>
          <p:cNvSpPr txBox="1"/>
          <p:nvPr/>
        </p:nvSpPr>
        <p:spPr>
          <a:xfrm>
            <a:off x="2307036" y="3770538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F4E0DA-0231-913B-11A1-CFE7107F9227}"/>
              </a:ext>
            </a:extLst>
          </p:cNvPr>
          <p:cNvSpPr txBox="1"/>
          <p:nvPr/>
        </p:nvSpPr>
        <p:spPr>
          <a:xfrm>
            <a:off x="3908425" y="4859113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B19B16-2947-407E-F4A0-6456ECF36BB3}"/>
              </a:ext>
            </a:extLst>
          </p:cNvPr>
          <p:cNvSpPr txBox="1"/>
          <p:nvPr/>
        </p:nvSpPr>
        <p:spPr>
          <a:xfrm>
            <a:off x="3217468" y="5764892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Btn_RUN_STOP</a:t>
            </a:r>
            <a:r>
              <a:rPr lang="en-US" altLang="ko-KR" sz="800" b="1" dirty="0"/>
              <a:t> = 1’b1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3DDDD1-5889-37C4-9995-6695E5F39453}"/>
              </a:ext>
            </a:extLst>
          </p:cNvPr>
          <p:cNvSpPr txBox="1"/>
          <p:nvPr/>
        </p:nvSpPr>
        <p:spPr>
          <a:xfrm>
            <a:off x="10545455" y="4227977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err="1"/>
              <a:t>Btn_RUN_STOP</a:t>
            </a:r>
            <a:r>
              <a:rPr lang="en-US" altLang="ko-KR" sz="1100" b="1" dirty="0"/>
              <a:t> = 1’b1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043A570-2B56-3336-4C74-8737EE2DC838}"/>
              </a:ext>
            </a:extLst>
          </p:cNvPr>
          <p:cNvCxnSpPr>
            <a:cxnSpLocks/>
          </p:cNvCxnSpPr>
          <p:nvPr/>
        </p:nvCxnSpPr>
        <p:spPr>
          <a:xfrm>
            <a:off x="7370065" y="1532338"/>
            <a:ext cx="2111971" cy="1799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오른쪽으로 구부러진 화살표 32"/>
          <p:cNvSpPr/>
          <p:nvPr/>
        </p:nvSpPr>
        <p:spPr>
          <a:xfrm rot="10800000">
            <a:off x="11083030" y="1884858"/>
            <a:ext cx="1038009" cy="372872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10700321" y="3238815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 smtClean="0"/>
              <a:t>Btn_CLEAR</a:t>
            </a:r>
            <a:r>
              <a:rPr lang="en-US" altLang="ko-KR" sz="900" b="1" dirty="0" smtClean="0"/>
              <a:t> </a:t>
            </a:r>
            <a:r>
              <a:rPr lang="en-US" altLang="ko-KR" sz="900" b="1" dirty="0"/>
              <a:t>= 1’b1</a:t>
            </a:r>
          </a:p>
        </p:txBody>
      </p:sp>
    </p:spTree>
    <p:extLst>
      <p:ext uri="{BB962C8B-B14F-4D97-AF65-F5344CB8AC3E}">
        <p14:creationId xmlns:p14="http://schemas.microsoft.com/office/powerpoint/2010/main" val="23946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B00F-05CA-7FF2-99C6-8E8A4199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E5A66-0D64-4DF3-FBDF-7C8DBE08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3. FSM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BAC12A9-5A5A-8A9A-7F6F-C4A0E9760169}"/>
              </a:ext>
            </a:extLst>
          </p:cNvPr>
          <p:cNvSpPr/>
          <p:nvPr/>
        </p:nvSpPr>
        <p:spPr>
          <a:xfrm>
            <a:off x="5962650" y="113347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IDLE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2264ED-A5A3-C123-66B1-017AB203E82B}"/>
              </a:ext>
            </a:extLst>
          </p:cNvPr>
          <p:cNvSpPr/>
          <p:nvPr/>
        </p:nvSpPr>
        <p:spPr>
          <a:xfrm>
            <a:off x="9839223" y="2764093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788291E-B5DC-64A8-51CE-508BC91B7C42}"/>
              </a:ext>
            </a:extLst>
          </p:cNvPr>
          <p:cNvSpPr/>
          <p:nvPr/>
        </p:nvSpPr>
        <p:spPr>
          <a:xfrm>
            <a:off x="9828905" y="5042336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30CC736-2183-B748-B0C0-8AF0FB54486D}"/>
              </a:ext>
            </a:extLst>
          </p:cNvPr>
          <p:cNvSpPr/>
          <p:nvPr/>
        </p:nvSpPr>
        <p:spPr>
          <a:xfrm>
            <a:off x="4749800" y="3790951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0A4B85-0C2F-D9F3-3EF1-8201C2D0D8D3}"/>
              </a:ext>
            </a:extLst>
          </p:cNvPr>
          <p:cNvSpPr/>
          <p:nvPr/>
        </p:nvSpPr>
        <p:spPr>
          <a:xfrm>
            <a:off x="3908425" y="2332264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CLAER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B56F45C-172C-BF0B-D6D0-7F163484C8E6}"/>
              </a:ext>
            </a:extLst>
          </p:cNvPr>
          <p:cNvSpPr/>
          <p:nvPr/>
        </p:nvSpPr>
        <p:spPr>
          <a:xfrm>
            <a:off x="2682875" y="4572907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RUN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DD83029-7B29-2DE5-73B3-4FB57B549F46}"/>
              </a:ext>
            </a:extLst>
          </p:cNvPr>
          <p:cNvSpPr/>
          <p:nvPr/>
        </p:nvSpPr>
        <p:spPr>
          <a:xfrm>
            <a:off x="4760912" y="5319032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WATCH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SET1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DABD155-47C9-4B6C-7B68-5E1686344A2F}"/>
              </a:ext>
            </a:extLst>
          </p:cNvPr>
          <p:cNvCxnSpPr>
            <a:cxnSpLocks/>
          </p:cNvCxnSpPr>
          <p:nvPr/>
        </p:nvCxnSpPr>
        <p:spPr>
          <a:xfrm>
            <a:off x="7370065" y="1532338"/>
            <a:ext cx="2111971" cy="1799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65C4C0C-DA52-9822-D13C-81068486E71C}"/>
              </a:ext>
            </a:extLst>
          </p:cNvPr>
          <p:cNvCxnSpPr>
            <a:cxnSpLocks/>
          </p:cNvCxnSpPr>
          <p:nvPr/>
        </p:nvCxnSpPr>
        <p:spPr>
          <a:xfrm>
            <a:off x="10549329" y="3862508"/>
            <a:ext cx="0" cy="1098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CABD5F-93A8-66DD-10DF-1A43F05015D1}"/>
              </a:ext>
            </a:extLst>
          </p:cNvPr>
          <p:cNvCxnSpPr>
            <a:cxnSpLocks/>
          </p:cNvCxnSpPr>
          <p:nvPr/>
        </p:nvCxnSpPr>
        <p:spPr>
          <a:xfrm flipV="1">
            <a:off x="10299899" y="3792769"/>
            <a:ext cx="0" cy="1168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897D18D-A238-584B-3B11-5E87E847C8B8}"/>
              </a:ext>
            </a:extLst>
          </p:cNvPr>
          <p:cNvCxnSpPr>
            <a:cxnSpLocks/>
          </p:cNvCxnSpPr>
          <p:nvPr/>
        </p:nvCxnSpPr>
        <p:spPr>
          <a:xfrm flipH="1">
            <a:off x="5121275" y="1865991"/>
            <a:ext cx="796925" cy="642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A398FA1-4D0F-94DA-519D-FCE2AD519AE8}"/>
              </a:ext>
            </a:extLst>
          </p:cNvPr>
          <p:cNvCxnSpPr>
            <a:cxnSpLocks/>
          </p:cNvCxnSpPr>
          <p:nvPr/>
        </p:nvCxnSpPr>
        <p:spPr>
          <a:xfrm flipV="1">
            <a:off x="6076950" y="2061711"/>
            <a:ext cx="3450234" cy="2054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98415C4-5CC2-379D-8ABE-C6988A764B5C}"/>
              </a:ext>
            </a:extLst>
          </p:cNvPr>
          <p:cNvCxnSpPr>
            <a:cxnSpLocks/>
          </p:cNvCxnSpPr>
          <p:nvPr/>
        </p:nvCxnSpPr>
        <p:spPr>
          <a:xfrm flipV="1">
            <a:off x="6032104" y="2274877"/>
            <a:ext cx="3616619" cy="33006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1AE2E59-0794-E36C-33A3-EFE61CDE0E28}"/>
              </a:ext>
            </a:extLst>
          </p:cNvPr>
          <p:cNvCxnSpPr>
            <a:cxnSpLocks/>
          </p:cNvCxnSpPr>
          <p:nvPr/>
        </p:nvCxnSpPr>
        <p:spPr>
          <a:xfrm>
            <a:off x="4914900" y="3270704"/>
            <a:ext cx="234950" cy="478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05AFA58-0366-442C-DBEF-1DAEFE0B79D7}"/>
              </a:ext>
            </a:extLst>
          </p:cNvPr>
          <p:cNvCxnSpPr>
            <a:cxnSpLocks/>
          </p:cNvCxnSpPr>
          <p:nvPr/>
        </p:nvCxnSpPr>
        <p:spPr>
          <a:xfrm>
            <a:off x="5384800" y="4825094"/>
            <a:ext cx="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2CED575-2532-6FFC-AA97-A71D50C23648}"/>
              </a:ext>
            </a:extLst>
          </p:cNvPr>
          <p:cNvCxnSpPr>
            <a:cxnSpLocks/>
          </p:cNvCxnSpPr>
          <p:nvPr/>
        </p:nvCxnSpPr>
        <p:spPr>
          <a:xfrm flipH="1" flipV="1">
            <a:off x="3854450" y="5365750"/>
            <a:ext cx="906462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8344D6C-B4D4-6645-B59B-C1B7695AC1E1}"/>
              </a:ext>
            </a:extLst>
          </p:cNvPr>
          <p:cNvCxnSpPr>
            <a:cxnSpLocks/>
          </p:cNvCxnSpPr>
          <p:nvPr/>
        </p:nvCxnSpPr>
        <p:spPr>
          <a:xfrm flipV="1">
            <a:off x="3548063" y="3324678"/>
            <a:ext cx="572888" cy="1224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097B4B8-0E07-F1C9-8BD5-5EBE9D2A7324}"/>
              </a:ext>
            </a:extLst>
          </p:cNvPr>
          <p:cNvCxnSpPr>
            <a:cxnSpLocks/>
          </p:cNvCxnSpPr>
          <p:nvPr/>
        </p:nvCxnSpPr>
        <p:spPr>
          <a:xfrm flipH="1" flipV="1">
            <a:off x="5235179" y="2836414"/>
            <a:ext cx="4414439" cy="461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A0150D1-F63F-2E1A-A566-5C3FD3565BEB}"/>
              </a:ext>
            </a:extLst>
          </p:cNvPr>
          <p:cNvSpPr txBox="1"/>
          <p:nvPr/>
        </p:nvSpPr>
        <p:spPr>
          <a:xfrm>
            <a:off x="7544594" y="1693192"/>
            <a:ext cx="1434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Btn_mode = 1’b1</a:t>
            </a:r>
          </a:p>
          <a:p>
            <a:pPr algn="ctr"/>
            <a:r>
              <a:rPr lang="en-US" altLang="ko-KR" sz="1100" b="1" dirty="0"/>
              <a:t>sw[1:0] = 2’b10</a:t>
            </a:r>
            <a:endParaRPr lang="ko-KR" altLang="en-US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A81D94-845D-309B-21A1-C9789DF3195C}"/>
              </a:ext>
            </a:extLst>
          </p:cNvPr>
          <p:cNvSpPr txBox="1"/>
          <p:nvPr/>
        </p:nvSpPr>
        <p:spPr>
          <a:xfrm>
            <a:off x="4307681" y="1620162"/>
            <a:ext cx="16303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Btn_mode = 1’b1</a:t>
            </a:r>
          </a:p>
          <a:p>
            <a:pPr algn="ctr"/>
            <a:r>
              <a:rPr lang="en-US" altLang="ko-KR" sz="1100" b="1" dirty="0"/>
              <a:t>sw[1:0] = 2’b01</a:t>
            </a:r>
            <a:endParaRPr lang="ko-KR" altLang="en-US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6E6D2D-6A04-6AC8-30EF-F491267A590B}"/>
              </a:ext>
            </a:extLst>
          </p:cNvPr>
          <p:cNvSpPr txBox="1"/>
          <p:nvPr/>
        </p:nvSpPr>
        <p:spPr>
          <a:xfrm>
            <a:off x="6034882" y="2441124"/>
            <a:ext cx="1434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Btn_mode = 1’b1</a:t>
            </a:r>
          </a:p>
          <a:p>
            <a:pPr algn="ctr"/>
            <a:r>
              <a:rPr lang="en-US" altLang="ko-KR" sz="1100" b="1" dirty="0"/>
              <a:t>sw[1:0] = 2’b01</a:t>
            </a:r>
            <a:endParaRPr lang="ko-KR" altLang="en-US" sz="1100" b="1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1600651-7A4C-7B40-B159-DE2C991B3081}"/>
              </a:ext>
            </a:extLst>
          </p:cNvPr>
          <p:cNvCxnSpPr>
            <a:cxnSpLocks/>
          </p:cNvCxnSpPr>
          <p:nvPr/>
        </p:nvCxnSpPr>
        <p:spPr>
          <a:xfrm flipH="1">
            <a:off x="7138987" y="796921"/>
            <a:ext cx="519113" cy="464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D4D20C8-74B5-9CA1-4E22-E7919C46855D}"/>
              </a:ext>
            </a:extLst>
          </p:cNvPr>
          <p:cNvSpPr txBox="1"/>
          <p:nvPr/>
        </p:nvSpPr>
        <p:spPr>
          <a:xfrm>
            <a:off x="7268369" y="559980"/>
            <a:ext cx="1434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RESET</a:t>
            </a:r>
            <a:endParaRPr lang="ko-KR" altLang="en-US" sz="11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D0E3FA-9A2C-F644-1789-F07BCDBF747D}"/>
              </a:ext>
            </a:extLst>
          </p:cNvPr>
          <p:cNvSpPr txBox="1"/>
          <p:nvPr/>
        </p:nvSpPr>
        <p:spPr>
          <a:xfrm>
            <a:off x="5851922" y="3255163"/>
            <a:ext cx="143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/>
              <a:t>Btn_mode = 1’b1</a:t>
            </a:r>
          </a:p>
          <a:p>
            <a:pPr algn="ctr"/>
            <a:r>
              <a:rPr lang="en-US" altLang="ko-KR" sz="900" b="1" dirty="0"/>
              <a:t>sw[1:0] = 2’b10</a:t>
            </a:r>
            <a:endParaRPr lang="ko-KR" altLang="en-US" sz="9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70859-B238-5FAF-3CD3-6745C3CAE196}"/>
              </a:ext>
            </a:extLst>
          </p:cNvPr>
          <p:cNvSpPr txBox="1"/>
          <p:nvPr/>
        </p:nvSpPr>
        <p:spPr>
          <a:xfrm>
            <a:off x="6223794" y="4126942"/>
            <a:ext cx="1434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Btn_mode = 1’b1</a:t>
            </a:r>
          </a:p>
          <a:p>
            <a:pPr algn="ctr"/>
            <a:r>
              <a:rPr lang="en-US" altLang="ko-KR" sz="800" b="1" dirty="0"/>
              <a:t>sw[1:0] = 2’b10</a:t>
            </a:r>
            <a:endParaRPr lang="ko-KR" altLang="en-US" sz="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5B844-B455-E10C-15E7-BF1EDAE4C927}"/>
              </a:ext>
            </a:extLst>
          </p:cNvPr>
          <p:cNvSpPr txBox="1"/>
          <p:nvPr/>
        </p:nvSpPr>
        <p:spPr>
          <a:xfrm>
            <a:off x="1492250" y="1527622"/>
            <a:ext cx="19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 FULL_MODE</a:t>
            </a:r>
            <a:endParaRPr lang="ko-KR" altLang="en-US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B42E4C3-4B7C-E78C-4B7B-5AC9372EE617}"/>
              </a:ext>
            </a:extLst>
          </p:cNvPr>
          <p:cNvSpPr/>
          <p:nvPr/>
        </p:nvSpPr>
        <p:spPr>
          <a:xfrm>
            <a:off x="9802018" y="1275258"/>
            <a:ext cx="1212850" cy="9924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STOPWATCH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CLEAR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4B2ED7E-36F1-73C0-3538-A8157E7EBF6A}"/>
              </a:ext>
            </a:extLst>
          </p:cNvPr>
          <p:cNvCxnSpPr>
            <a:cxnSpLocks/>
          </p:cNvCxnSpPr>
          <p:nvPr/>
        </p:nvCxnSpPr>
        <p:spPr>
          <a:xfrm>
            <a:off x="10435330" y="2308311"/>
            <a:ext cx="0" cy="399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2C9321E-CD3B-ECBF-8610-EB294DD5F9E5}"/>
              </a:ext>
            </a:extLst>
          </p:cNvPr>
          <p:cNvSpPr txBox="1"/>
          <p:nvPr/>
        </p:nvSpPr>
        <p:spPr>
          <a:xfrm>
            <a:off x="10545455" y="4227977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Btn_RUN_STOP = 1’b1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1E4F65-471E-422D-5772-9E1F278EF8E6}"/>
              </a:ext>
            </a:extLst>
          </p:cNvPr>
          <p:cNvSpPr txBox="1"/>
          <p:nvPr/>
        </p:nvSpPr>
        <p:spPr>
          <a:xfrm>
            <a:off x="8668047" y="4264180"/>
            <a:ext cx="16279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Btn_RUN_STOP = 1’b1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8A430A-2B24-F072-07AB-BCE101D0011D}"/>
              </a:ext>
            </a:extLst>
          </p:cNvPr>
          <p:cNvSpPr txBox="1"/>
          <p:nvPr/>
        </p:nvSpPr>
        <p:spPr>
          <a:xfrm>
            <a:off x="2307036" y="3770538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/>
              <a:t>Btn_CLEAR</a:t>
            </a:r>
            <a:r>
              <a:rPr lang="en-US" altLang="ko-KR" sz="900" b="1" dirty="0"/>
              <a:t> = 1’b1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C5B71A-967D-928A-F5E5-C3147A210950}"/>
              </a:ext>
            </a:extLst>
          </p:cNvPr>
          <p:cNvSpPr txBox="1"/>
          <p:nvPr/>
        </p:nvSpPr>
        <p:spPr>
          <a:xfrm>
            <a:off x="3908425" y="4859113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Btn_RUN_STOP = 1’b1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E6D2EA-05DF-C16A-1C26-4E478BAF9336}"/>
              </a:ext>
            </a:extLst>
          </p:cNvPr>
          <p:cNvSpPr txBox="1"/>
          <p:nvPr/>
        </p:nvSpPr>
        <p:spPr>
          <a:xfrm>
            <a:off x="3217468" y="5764892"/>
            <a:ext cx="16279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Btn_RUN_STOP = 1’b1</a:t>
            </a:r>
          </a:p>
        </p:txBody>
      </p:sp>
      <p:sp>
        <p:nvSpPr>
          <p:cNvPr id="36" name="오른쪽으로 구부러진 화살표 35"/>
          <p:cNvSpPr/>
          <p:nvPr/>
        </p:nvSpPr>
        <p:spPr>
          <a:xfrm rot="10800000">
            <a:off x="11083030" y="1884858"/>
            <a:ext cx="1038009" cy="3728727"/>
          </a:xfrm>
          <a:prstGeom prst="curvedRightArrow">
            <a:avLst>
              <a:gd name="adj1" fmla="val 0"/>
              <a:gd name="adj2" fmla="val 50000"/>
              <a:gd name="adj3" fmla="val 2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C1932C-E278-DB34-20F0-6AF9FC139EDB}"/>
              </a:ext>
            </a:extLst>
          </p:cNvPr>
          <p:cNvSpPr txBox="1"/>
          <p:nvPr/>
        </p:nvSpPr>
        <p:spPr>
          <a:xfrm>
            <a:off x="10700321" y="3238815"/>
            <a:ext cx="1627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err="1" smtClean="0"/>
              <a:t>Btn_CLEAR</a:t>
            </a:r>
            <a:r>
              <a:rPr lang="en-US" altLang="ko-KR" sz="900" b="1" dirty="0" smtClean="0"/>
              <a:t> </a:t>
            </a:r>
            <a:r>
              <a:rPr lang="en-US" altLang="ko-KR" sz="900" b="1" dirty="0"/>
              <a:t>= 1’b1</a:t>
            </a:r>
          </a:p>
        </p:txBody>
      </p:sp>
    </p:spTree>
    <p:extLst>
      <p:ext uri="{BB962C8B-B14F-4D97-AF65-F5344CB8AC3E}">
        <p14:creationId xmlns:p14="http://schemas.microsoft.com/office/powerpoint/2010/main" val="415481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9B29-9B60-673D-18A9-8EC9AFA8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39D3B-6CAF-20F8-A29E-C12559C7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</a:t>
            </a:r>
            <a:r>
              <a:rPr lang="en-US" altLang="ko-KR" dirty="0" smtClean="0"/>
              <a:t>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CCAC8-07C2-7758-2A44-80985CC479D7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CTRL_UNIT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C6802-A071-4903-0307-E49034859955}"/>
              </a:ext>
            </a:extLst>
          </p:cNvPr>
          <p:cNvSpPr txBox="1"/>
          <p:nvPr/>
        </p:nvSpPr>
        <p:spPr>
          <a:xfrm>
            <a:off x="6959600" y="2197100"/>
            <a:ext cx="273685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INPUT:</a:t>
            </a:r>
          </a:p>
          <a:p>
            <a:pPr lvl="1"/>
            <a:r>
              <a:rPr lang="en-US" altLang="ko-KR" dirty="0" err="1"/>
              <a:t>i_sw</a:t>
            </a:r>
            <a:r>
              <a:rPr lang="en-US" altLang="ko-KR" dirty="0"/>
              <a:t>[1:0]</a:t>
            </a:r>
          </a:p>
          <a:p>
            <a:pPr lvl="1"/>
            <a:r>
              <a:rPr lang="en-US" altLang="ko-KR" dirty="0" err="1"/>
              <a:t>i_mode_select</a:t>
            </a:r>
            <a:endParaRPr lang="en-US" altLang="ko-KR" dirty="0"/>
          </a:p>
          <a:p>
            <a:pPr lvl="1"/>
            <a:r>
              <a:rPr lang="en-US" altLang="ko-KR" dirty="0" err="1"/>
              <a:t>i_clear</a:t>
            </a:r>
            <a:endParaRPr lang="en-US" altLang="ko-KR" dirty="0"/>
          </a:p>
          <a:p>
            <a:pPr lvl="1"/>
            <a:r>
              <a:rPr lang="en-US" altLang="ko-KR" dirty="0" err="1"/>
              <a:t>i_run_stop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OUTPUT:</a:t>
            </a:r>
          </a:p>
          <a:p>
            <a:pPr lvl="1"/>
            <a:r>
              <a:rPr lang="en-US" altLang="ko-KR" dirty="0" err="1"/>
              <a:t>o_down_up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  <a:p>
            <a:pPr lvl="1"/>
            <a:r>
              <a:rPr lang="en-US" altLang="ko-KR" dirty="0" err="1"/>
              <a:t>o_read</a:t>
            </a:r>
            <a:endParaRPr lang="en-US" altLang="ko-KR" dirty="0"/>
          </a:p>
          <a:p>
            <a:pPr lvl="1"/>
            <a:r>
              <a:rPr lang="en-US" altLang="ko-KR" dirty="0" err="1"/>
              <a:t>o_run_stop</a:t>
            </a:r>
            <a:endParaRPr lang="en-US" altLang="ko-KR" dirty="0"/>
          </a:p>
          <a:p>
            <a:pPr lvl="1"/>
            <a:r>
              <a:rPr lang="en-US" altLang="ko-KR" dirty="0" err="1"/>
              <a:t>o_clear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</p:txBody>
      </p:sp>
      <p:pic>
        <p:nvPicPr>
          <p:cNvPr id="7" name="그림 6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F2C168-341B-A840-EECB-36B4FAB2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32" y="1981200"/>
            <a:ext cx="3662279" cy="450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165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24D0-C786-B254-E75B-2C8A05C0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4A0FF-C791-A6B6-BCC5-D862BEC1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AB0C1-253F-7679-A333-53FA48F4AD45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CTRL_UNIT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1E018-98AB-415C-F054-C81E828DF855}"/>
              </a:ext>
            </a:extLst>
          </p:cNvPr>
          <p:cNvSpPr txBox="1"/>
          <p:nvPr/>
        </p:nvSpPr>
        <p:spPr>
          <a:xfrm>
            <a:off x="6959600" y="2197100"/>
            <a:ext cx="273685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INPUT:</a:t>
            </a:r>
          </a:p>
          <a:p>
            <a:pPr lvl="1"/>
            <a:r>
              <a:rPr lang="en-US" altLang="ko-KR" dirty="0" err="1"/>
              <a:t>i_sw</a:t>
            </a:r>
            <a:r>
              <a:rPr lang="en-US" altLang="ko-KR" dirty="0"/>
              <a:t>[1:0]</a:t>
            </a:r>
          </a:p>
          <a:p>
            <a:pPr lvl="1"/>
            <a:r>
              <a:rPr lang="en-US" altLang="ko-KR" dirty="0" err="1"/>
              <a:t>i_mode_select</a:t>
            </a:r>
            <a:endParaRPr lang="en-US" altLang="ko-KR" dirty="0"/>
          </a:p>
          <a:p>
            <a:pPr lvl="1"/>
            <a:r>
              <a:rPr lang="en-US" altLang="ko-KR" dirty="0" err="1"/>
              <a:t>i_clear</a:t>
            </a:r>
            <a:endParaRPr lang="en-US" altLang="ko-KR" dirty="0"/>
          </a:p>
          <a:p>
            <a:pPr lvl="1"/>
            <a:r>
              <a:rPr lang="en-US" altLang="ko-KR" dirty="0" err="1"/>
              <a:t>i_run_stop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OUTPUT:</a:t>
            </a:r>
          </a:p>
          <a:p>
            <a:pPr lvl="1"/>
            <a:r>
              <a:rPr lang="en-US" altLang="ko-KR" dirty="0" err="1"/>
              <a:t>o_down_up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  <a:p>
            <a:pPr lvl="1"/>
            <a:r>
              <a:rPr lang="en-US" altLang="ko-KR" dirty="0" err="1"/>
              <a:t>o_read</a:t>
            </a:r>
            <a:endParaRPr lang="en-US" altLang="ko-KR" dirty="0"/>
          </a:p>
          <a:p>
            <a:pPr lvl="1"/>
            <a:r>
              <a:rPr lang="en-US" altLang="ko-KR" dirty="0" err="1"/>
              <a:t>o_run_stop</a:t>
            </a:r>
            <a:endParaRPr lang="en-US" altLang="ko-KR" dirty="0"/>
          </a:p>
          <a:p>
            <a:pPr lvl="1"/>
            <a:r>
              <a:rPr lang="en-US" altLang="ko-KR" dirty="0" err="1"/>
              <a:t>o_clear</a:t>
            </a:r>
            <a:endParaRPr lang="en-US" altLang="ko-KR" dirty="0"/>
          </a:p>
          <a:p>
            <a:pPr lvl="1"/>
            <a:r>
              <a:rPr lang="en-US" altLang="ko-KR" dirty="0" err="1"/>
              <a:t>o_display_sel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736F2D-25A5-0555-1F91-730966578A36}"/>
              </a:ext>
            </a:extLst>
          </p:cNvPr>
          <p:cNvSpPr/>
          <p:nvPr/>
        </p:nvSpPr>
        <p:spPr>
          <a:xfrm>
            <a:off x="6959600" y="2188028"/>
            <a:ext cx="2736850" cy="1641022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1F84A98-DCAC-49A8-8F58-4AC5C5B7E4D9}"/>
              </a:ext>
            </a:extLst>
          </p:cNvPr>
          <p:cNvCxnSpPr/>
          <p:nvPr/>
        </p:nvCxnSpPr>
        <p:spPr>
          <a:xfrm flipH="1">
            <a:off x="9696450" y="2811780"/>
            <a:ext cx="72771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F6F-1835-BC75-2566-194A09A2565B}"/>
              </a:ext>
            </a:extLst>
          </p:cNvPr>
          <p:cNvSpPr txBox="1"/>
          <p:nvPr/>
        </p:nvSpPr>
        <p:spPr>
          <a:xfrm>
            <a:off x="10748010" y="2506715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State </a:t>
            </a:r>
            <a:r>
              <a:rPr lang="ko-KR" altLang="en-US" dirty="0"/>
              <a:t>제어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3CBC01C-F258-9C3A-1E2E-F3A652176E8D}"/>
              </a:ext>
            </a:extLst>
          </p:cNvPr>
          <p:cNvCxnSpPr/>
          <p:nvPr/>
        </p:nvCxnSpPr>
        <p:spPr>
          <a:xfrm flipH="1">
            <a:off x="9696450" y="4869180"/>
            <a:ext cx="72771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79373E-2C21-4E75-2E2E-A286CBBA985F}"/>
              </a:ext>
            </a:extLst>
          </p:cNvPr>
          <p:cNvSpPr txBox="1"/>
          <p:nvPr/>
        </p:nvSpPr>
        <p:spPr>
          <a:xfrm>
            <a:off x="10477500" y="4546014"/>
            <a:ext cx="1379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DATA_PATH </a:t>
            </a:r>
            <a:r>
              <a:rPr lang="ko-KR" altLang="en-US" dirty="0"/>
              <a:t>제어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44" y="2796185"/>
            <a:ext cx="4132743" cy="249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1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FCFA-4378-E735-C5F2-32D868D1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44AD1-E32F-52C1-092C-BDE93BADC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D22BA-C6F0-7856-A3AE-8DC202B974A3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CTRL_UNIT</a:t>
            </a:r>
          </a:p>
        </p:txBody>
      </p:sp>
      <p:pic>
        <p:nvPicPr>
          <p:cNvPr id="8" name="그림 7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2B6851-337B-6D25-51CA-E8F21FAED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32" y="1981200"/>
            <a:ext cx="3662279" cy="4504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936AEA-080F-B433-CA61-B9941B1D5115}"/>
              </a:ext>
            </a:extLst>
          </p:cNvPr>
          <p:cNvSpPr txBox="1"/>
          <p:nvPr/>
        </p:nvSpPr>
        <p:spPr>
          <a:xfrm>
            <a:off x="5312055" y="2877734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Counter(run/stop)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89A63-C4DC-C9A4-DA62-F63E8D3EBBF7}"/>
              </a:ext>
            </a:extLst>
          </p:cNvPr>
          <p:cNvSpPr txBox="1"/>
          <p:nvPr/>
        </p:nvSpPr>
        <p:spPr>
          <a:xfrm>
            <a:off x="5391711" y="3218353"/>
            <a:ext cx="1567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[1] : </a:t>
            </a:r>
            <a:r>
              <a:rPr lang="en-US" altLang="ko-KR" sz="1100" dirty="0" err="1"/>
              <a:t>write_en</a:t>
            </a:r>
            <a:r>
              <a:rPr lang="en-US" altLang="ko-KR" sz="1100" dirty="0"/>
              <a:t>(hour/min)</a:t>
            </a:r>
          </a:p>
          <a:p>
            <a:r>
              <a:rPr lang="en-US" altLang="ko-KR" sz="1100" dirty="0"/>
              <a:t>[0]: </a:t>
            </a:r>
            <a:r>
              <a:rPr lang="en-US" altLang="ko-KR" sz="1100" dirty="0" err="1"/>
              <a:t>write_en</a:t>
            </a:r>
            <a:r>
              <a:rPr lang="en-US" altLang="ko-KR" sz="1100" dirty="0"/>
              <a:t>(sec/msec)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92F5B3-41C0-3CA1-9484-7C7324AD0786}"/>
              </a:ext>
            </a:extLst>
          </p:cNvPr>
          <p:cNvSpPr txBox="1"/>
          <p:nvPr/>
        </p:nvSpPr>
        <p:spPr>
          <a:xfrm>
            <a:off x="5232401" y="3742144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Read_en</a:t>
            </a:r>
            <a:r>
              <a:rPr lang="en-US" altLang="ko-KR" sz="1100" dirty="0"/>
              <a:t>(mem)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DC1A97-20DD-26EA-6686-EE9D4356AC75}"/>
              </a:ext>
            </a:extLst>
          </p:cNvPr>
          <p:cNvSpPr txBox="1"/>
          <p:nvPr/>
        </p:nvSpPr>
        <p:spPr>
          <a:xfrm>
            <a:off x="5312054" y="4210832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Counter(run/stop)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F0051-ADEC-D64E-93D1-BD3037174876}"/>
              </a:ext>
            </a:extLst>
          </p:cNvPr>
          <p:cNvSpPr txBox="1"/>
          <p:nvPr/>
        </p:nvSpPr>
        <p:spPr>
          <a:xfrm>
            <a:off x="5146953" y="4748564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Clear_mode</a:t>
            </a:r>
            <a:endParaRPr lang="ko-KR" alt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B0E26-DCAA-38CB-6DF8-1700DB76B186}"/>
              </a:ext>
            </a:extLst>
          </p:cNvPr>
          <p:cNvSpPr txBox="1"/>
          <p:nvPr/>
        </p:nvSpPr>
        <p:spPr>
          <a:xfrm>
            <a:off x="5123282" y="5192345"/>
            <a:ext cx="1386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Display_sel</a:t>
            </a:r>
            <a:endParaRPr lang="ko-KR" altLang="en-US" sz="1100" dirty="0"/>
          </a:p>
        </p:txBody>
      </p:sp>
      <p:pic>
        <p:nvPicPr>
          <p:cNvPr id="24" name="그림 23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2C3BD3-FB53-730C-DE21-442C033A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80" y="2764796"/>
            <a:ext cx="3005925" cy="24275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EA12FF7-FD50-DA65-4EE2-74181F9DEF74}"/>
              </a:ext>
            </a:extLst>
          </p:cNvPr>
          <p:cNvSpPr txBox="1"/>
          <p:nvPr/>
        </p:nvSpPr>
        <p:spPr>
          <a:xfrm>
            <a:off x="5414012" y="6054395"/>
            <a:ext cx="1386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LED[1] : stopwatch</a:t>
            </a:r>
          </a:p>
          <a:p>
            <a:r>
              <a:rPr lang="en-US" altLang="ko-KR" sz="1100" dirty="0"/>
              <a:t>LED[0] : watch</a:t>
            </a:r>
            <a:endParaRPr lang="ko-KR" altLang="en-US" sz="11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F8D4E5C-A378-CF09-872F-6E846AC7984A}"/>
              </a:ext>
            </a:extLst>
          </p:cNvPr>
          <p:cNvCxnSpPr>
            <a:cxnSpLocks/>
          </p:cNvCxnSpPr>
          <p:nvPr/>
        </p:nvCxnSpPr>
        <p:spPr>
          <a:xfrm flipV="1">
            <a:off x="9912350" y="5147200"/>
            <a:ext cx="0" cy="302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896E01B-CB05-CD20-45F8-26C453738C7F}"/>
              </a:ext>
            </a:extLst>
          </p:cNvPr>
          <p:cNvSpPr txBox="1"/>
          <p:nvPr/>
        </p:nvSpPr>
        <p:spPr>
          <a:xfrm>
            <a:off x="8233180" y="2693068"/>
            <a:ext cx="147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DATA_PATH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6FF1346-7DCB-C580-A2C5-585362C38A72}"/>
              </a:ext>
            </a:extLst>
          </p:cNvPr>
          <p:cNvCxnSpPr/>
          <p:nvPr/>
        </p:nvCxnSpPr>
        <p:spPr>
          <a:xfrm flipH="1" flipV="1">
            <a:off x="6337300" y="5403850"/>
            <a:ext cx="3568700" cy="501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한쪽 모서리 32">
            <a:extLst>
              <a:ext uri="{FF2B5EF4-FFF2-40B4-BE49-F238E27FC236}">
                <a16:creationId xmlns:a16="http://schemas.microsoft.com/office/drawing/2014/main" id="{E0574DDE-4BAD-53E8-4F66-4478689FA500}"/>
              </a:ext>
            </a:extLst>
          </p:cNvPr>
          <p:cNvSpPr/>
          <p:nvPr/>
        </p:nvSpPr>
        <p:spPr>
          <a:xfrm>
            <a:off x="7397750" y="5192345"/>
            <a:ext cx="790611" cy="414705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if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9506629" y="4856285"/>
            <a:ext cx="811441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400" dirty="0" err="1"/>
              <a:t>mux_sel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03887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D853-20B6-A806-8D10-4A600E28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0A702-1F3C-065B-5E71-10A180B2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41C9A-AB34-2A6B-E04E-B56DF887C07E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tick_count</a:t>
            </a:r>
            <a:r>
              <a:rPr lang="en-US" altLang="ko-KR" dirty="0"/>
              <a:t>)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E84072-667A-AFD6-01EE-FD421734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873828"/>
            <a:ext cx="4239217" cy="1562318"/>
          </a:xfrm>
          <a:prstGeom prst="rect">
            <a:avLst/>
          </a:prstGeom>
        </p:spPr>
      </p:pic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BBCD5F-373D-5454-42A2-655062AD1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BB7956D-72BC-5F73-7888-AFB0E9740BF6}"/>
              </a:ext>
            </a:extLst>
          </p:cNvPr>
          <p:cNvSpPr/>
          <p:nvPr/>
        </p:nvSpPr>
        <p:spPr>
          <a:xfrm>
            <a:off x="9264650" y="25617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0343F7-FA90-5084-6F94-EC6C7C44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153" y="1213774"/>
            <a:ext cx="3308653" cy="517339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C9BEE5-78B5-CC1F-0970-9BBDD974CCF1}"/>
              </a:ext>
            </a:extLst>
          </p:cNvPr>
          <p:cNvSpPr/>
          <p:nvPr/>
        </p:nvSpPr>
        <p:spPr>
          <a:xfrm>
            <a:off x="5674153" y="3505200"/>
            <a:ext cx="3283253" cy="2515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9C3BC-B38A-4422-7429-F4A82D51C689}"/>
              </a:ext>
            </a:extLst>
          </p:cNvPr>
          <p:cNvSpPr txBox="1"/>
          <p:nvPr/>
        </p:nvSpPr>
        <p:spPr>
          <a:xfrm>
            <a:off x="1847686" y="4857397"/>
            <a:ext cx="258461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tick_gen</a:t>
            </a:r>
            <a:r>
              <a:rPr lang="en-US" altLang="ko-KR" b="1" dirty="0"/>
              <a:t>:</a:t>
            </a:r>
          </a:p>
          <a:p>
            <a:r>
              <a:rPr lang="en-US" altLang="ko-KR" dirty="0"/>
              <a:t>100hz </a:t>
            </a:r>
            <a:r>
              <a:rPr lang="ko-KR" altLang="en-US" dirty="0"/>
              <a:t>마다 </a:t>
            </a:r>
            <a:r>
              <a:rPr lang="en-US" altLang="ko-KR" dirty="0"/>
              <a:t>tick</a:t>
            </a:r>
            <a:r>
              <a:rPr lang="ko-KR" altLang="en-US" dirty="0"/>
              <a:t>을 출력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212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58C2-ADCF-89F5-177D-19C2AAD2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E8E8A-714A-0834-5C2F-8FD720AE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70A0F-09F1-E919-5591-7B36B91E2EBA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tick_count</a:t>
            </a:r>
            <a:r>
              <a:rPr lang="en-US" altLang="ko-KR" dirty="0"/>
              <a:t>)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AA1EC0-3687-BE34-F2B6-DB4C1C7F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873828"/>
            <a:ext cx="4239217" cy="1562318"/>
          </a:xfrm>
          <a:prstGeom prst="rect">
            <a:avLst/>
          </a:prstGeom>
        </p:spPr>
      </p:pic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E074F0-1432-76C5-5F54-D70836BBD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1DADF06-B931-AFEC-CBD6-E25F9CF57736}"/>
              </a:ext>
            </a:extLst>
          </p:cNvPr>
          <p:cNvSpPr/>
          <p:nvPr/>
        </p:nvSpPr>
        <p:spPr>
          <a:xfrm>
            <a:off x="9264650" y="25617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B0FD25-B253-487B-3C6D-162E96181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130" y="1130300"/>
            <a:ext cx="3067969" cy="5609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0E76F2-B4AF-949C-A07A-51B20A047AD0}"/>
              </a:ext>
            </a:extLst>
          </p:cNvPr>
          <p:cNvSpPr txBox="1"/>
          <p:nvPr/>
        </p:nvSpPr>
        <p:spPr>
          <a:xfrm>
            <a:off x="1581150" y="4857397"/>
            <a:ext cx="36512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tick_counter</a:t>
            </a:r>
            <a:r>
              <a:rPr lang="en-US" altLang="ko-KR" b="1" dirty="0"/>
              <a:t>:</a:t>
            </a:r>
          </a:p>
          <a:p>
            <a:r>
              <a:rPr lang="en-US" altLang="ko-KR" dirty="0" err="1"/>
              <a:t>run_stop</a:t>
            </a:r>
            <a:r>
              <a:rPr lang="ko-KR" altLang="en-US" dirty="0"/>
              <a:t>이 </a:t>
            </a:r>
            <a:r>
              <a:rPr lang="en-US" altLang="ko-KR" dirty="0"/>
              <a:t>1’b1</a:t>
            </a:r>
            <a:r>
              <a:rPr lang="ko-KR" altLang="en-US" dirty="0"/>
              <a:t>이고 </a:t>
            </a:r>
            <a:r>
              <a:rPr lang="en-US" altLang="ko-KR" dirty="0"/>
              <a:t>Tick</a:t>
            </a:r>
            <a:r>
              <a:rPr lang="ko-KR" altLang="en-US" dirty="0"/>
              <a:t> 발생 시</a:t>
            </a:r>
            <a:r>
              <a:rPr lang="en-US" altLang="ko-KR" dirty="0"/>
              <a:t>, counter  </a:t>
            </a:r>
            <a:r>
              <a:rPr lang="ko-KR" altLang="en-US" dirty="0"/>
              <a:t>동작</a:t>
            </a:r>
            <a:r>
              <a:rPr lang="en-US" altLang="ko-KR" dirty="0"/>
              <a:t>(up/down)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14E207-B6E5-9073-41C3-0F61A9391EFC}"/>
              </a:ext>
            </a:extLst>
          </p:cNvPr>
          <p:cNvSpPr/>
          <p:nvPr/>
        </p:nvSpPr>
        <p:spPr>
          <a:xfrm>
            <a:off x="6096000" y="3197786"/>
            <a:ext cx="2824830" cy="3260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53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29FD-F17B-C9F4-9E67-06172037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9C5FB-491D-C990-E4AD-FD1FC4D8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2397C-0CE3-F5D1-A3E3-870A8D771FDB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setting_data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DE6D25-3B5B-059D-CC53-E809B067F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5F9AF7CB-E6A5-2A90-F1ED-50A79C56D950}"/>
              </a:ext>
            </a:extLst>
          </p:cNvPr>
          <p:cNvSpPr/>
          <p:nvPr/>
        </p:nvSpPr>
        <p:spPr>
          <a:xfrm>
            <a:off x="9264650" y="55462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3598BA-251C-AFC7-621B-1DE7E0A91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00" y="1061357"/>
            <a:ext cx="3702050" cy="541652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460E09-6004-E7AC-24DD-7B056A2EB5B8}"/>
              </a:ext>
            </a:extLst>
          </p:cNvPr>
          <p:cNvSpPr/>
          <p:nvPr/>
        </p:nvSpPr>
        <p:spPr>
          <a:xfrm>
            <a:off x="5353050" y="5245100"/>
            <a:ext cx="3917950" cy="9842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9B13B-219F-2192-D9DB-D732AE7CA594}"/>
              </a:ext>
            </a:extLst>
          </p:cNvPr>
          <p:cNvSpPr txBox="1"/>
          <p:nvPr/>
        </p:nvSpPr>
        <p:spPr>
          <a:xfrm>
            <a:off x="1039538" y="4857397"/>
            <a:ext cx="426271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Sw_to_bin</a:t>
            </a:r>
            <a:r>
              <a:rPr lang="en-US" altLang="ko-KR" b="1" dirty="0"/>
              <a:t>:</a:t>
            </a:r>
          </a:p>
          <a:p>
            <a:r>
              <a:rPr lang="en-US" altLang="ko-KR" dirty="0"/>
              <a:t>Hour/min/sec/msec </a:t>
            </a:r>
            <a:r>
              <a:rPr lang="ko-KR" altLang="en-US" dirty="0"/>
              <a:t>최대치</a:t>
            </a:r>
            <a:r>
              <a:rPr lang="en-US" altLang="ko-KR" dirty="0"/>
              <a:t>(24,60,60,99)</a:t>
            </a:r>
          </a:p>
          <a:p>
            <a:r>
              <a:rPr lang="ko-KR" altLang="en-US" dirty="0" err="1"/>
              <a:t>에</a:t>
            </a:r>
            <a:r>
              <a:rPr lang="ko-KR" altLang="en-US" dirty="0"/>
              <a:t> 대해 </a:t>
            </a:r>
            <a:r>
              <a:rPr lang="en-US" altLang="ko-KR" dirty="0"/>
              <a:t>overflow </a:t>
            </a:r>
            <a:r>
              <a:rPr lang="ko-KR" altLang="en-US" dirty="0"/>
              <a:t>처리</a:t>
            </a:r>
            <a:endParaRPr lang="en-US" altLang="ko-KR" dirty="0"/>
          </a:p>
        </p:txBody>
      </p:sp>
      <p:pic>
        <p:nvPicPr>
          <p:cNvPr id="21" name="그림 20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9325FC-0211-C354-5C31-24BF0EE0F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675" y="1806246"/>
            <a:ext cx="4079439" cy="287960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444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CFA4-AC87-81AA-59E7-A0233C62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C0AE0-5970-A267-AB42-DC7501C7B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226" y="2646579"/>
            <a:ext cx="4686954" cy="30007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B895C7D-0724-7F51-69E4-72D0F314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64EA2-6E15-9BC0-3960-773154F74C67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setting_data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E830E0-520A-5F5E-CF48-2DF42037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F3610DB7-4C6C-9ACE-FF3F-47DC7DB14D11}"/>
              </a:ext>
            </a:extLst>
          </p:cNvPr>
          <p:cNvSpPr/>
          <p:nvPr/>
        </p:nvSpPr>
        <p:spPr>
          <a:xfrm>
            <a:off x="9264650" y="554628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37659C-9FE3-13F4-1545-6D2554831CEC}"/>
              </a:ext>
            </a:extLst>
          </p:cNvPr>
          <p:cNvSpPr/>
          <p:nvPr/>
        </p:nvSpPr>
        <p:spPr>
          <a:xfrm>
            <a:off x="6013450" y="3654850"/>
            <a:ext cx="4184730" cy="1766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887B8B-9A1A-BE8C-1A8A-CBB4FA3417F8}"/>
              </a:ext>
            </a:extLst>
          </p:cNvPr>
          <p:cNvSpPr txBox="1"/>
          <p:nvPr/>
        </p:nvSpPr>
        <p:spPr>
          <a:xfrm>
            <a:off x="1039538" y="4857397"/>
            <a:ext cx="407943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i_write_digit</a:t>
            </a:r>
            <a:r>
              <a:rPr lang="en-US" altLang="ko-KR" b="1" dirty="0"/>
              <a:t> == 2b’10: </a:t>
            </a:r>
          </a:p>
          <a:p>
            <a:r>
              <a:rPr lang="en-US" altLang="ko-KR" b="1" dirty="0"/>
              <a:t>	hour/min</a:t>
            </a:r>
            <a:r>
              <a:rPr lang="ko-KR" altLang="en-US" b="1" dirty="0"/>
              <a:t>에 대해 </a:t>
            </a:r>
            <a:r>
              <a:rPr lang="en-US" altLang="ko-KR" b="1" dirty="0"/>
              <a:t>write</a:t>
            </a:r>
          </a:p>
          <a:p>
            <a:r>
              <a:rPr lang="en-US" altLang="ko-KR" b="1" dirty="0" err="1"/>
              <a:t>i_write_digit</a:t>
            </a:r>
            <a:r>
              <a:rPr lang="en-US" altLang="ko-KR" b="1" dirty="0"/>
              <a:t> == 2b’10: </a:t>
            </a:r>
          </a:p>
          <a:p>
            <a:r>
              <a:rPr lang="en-US" altLang="ko-KR" b="1" dirty="0"/>
              <a:t>	sec/msec</a:t>
            </a:r>
            <a:r>
              <a:rPr lang="ko-KR" altLang="en-US" b="1" dirty="0"/>
              <a:t>에 대해 </a:t>
            </a:r>
            <a:r>
              <a:rPr lang="en-US" altLang="ko-KR" b="1" dirty="0"/>
              <a:t>write</a:t>
            </a:r>
          </a:p>
        </p:txBody>
      </p:sp>
      <p:pic>
        <p:nvPicPr>
          <p:cNvPr id="20" name="그림 19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77C4C6-018B-9DF7-C3D6-545907A4A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675" y="1806246"/>
            <a:ext cx="4079439" cy="287960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190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6790-5DE5-5277-1DA3-3DB181E9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46F50-DBA3-2219-3A27-7199F1CA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9E4E1-EF66-DB73-5293-0654094EE094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12D011-B9EF-47F4-7A93-4AB6A1D6A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840A1092-84D6-7064-9D3D-817EAB16F761}"/>
              </a:ext>
            </a:extLst>
          </p:cNvPr>
          <p:cNvSpPr/>
          <p:nvPr/>
        </p:nvSpPr>
        <p:spPr>
          <a:xfrm>
            <a:off x="9264650" y="92610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7B0583-1012-52DD-9BD8-5371201D3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80" y="1412878"/>
            <a:ext cx="3662212" cy="48197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69D4FA-1A1C-7F0F-31E9-6003BE8674CA}"/>
              </a:ext>
            </a:extLst>
          </p:cNvPr>
          <p:cNvSpPr/>
          <p:nvPr/>
        </p:nvSpPr>
        <p:spPr>
          <a:xfrm>
            <a:off x="5467350" y="2247900"/>
            <a:ext cx="3662211" cy="971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E8FD1-4600-CCC6-B4BF-DB4A4F36B475}"/>
              </a:ext>
            </a:extLst>
          </p:cNvPr>
          <p:cNvSpPr txBox="1"/>
          <p:nvPr/>
        </p:nvSpPr>
        <p:spPr>
          <a:xfrm>
            <a:off x="831850" y="2449785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i_clear</a:t>
            </a:r>
            <a:r>
              <a:rPr lang="en-US" altLang="ko-KR" b="1" dirty="0"/>
              <a:t>:</a:t>
            </a:r>
          </a:p>
          <a:p>
            <a:r>
              <a:rPr lang="en-US" altLang="ko-KR" b="1" dirty="0"/>
              <a:t>    mem </a:t>
            </a:r>
            <a:r>
              <a:rPr lang="ko-KR" altLang="en-US" b="1" dirty="0"/>
              <a:t>초기화</a:t>
            </a:r>
            <a:endParaRPr lang="en-US" altLang="ko-KR" b="1" dirty="0"/>
          </a:p>
        </p:txBody>
      </p:sp>
      <p:sp>
        <p:nvSpPr>
          <p:cNvPr id="13" name="직사각형 12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44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3AD6-E636-7FC7-79A8-8B4B5CBD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7E0FD-23F5-897D-5346-F6CE570E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7BE52-BF87-961A-165C-CE738C10141F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EB95CD-73CD-0F61-BF12-CA175F7E5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90CDE94-DCA7-3C11-B7FC-BB6D2F97501E}"/>
              </a:ext>
            </a:extLst>
          </p:cNvPr>
          <p:cNvSpPr/>
          <p:nvPr/>
        </p:nvSpPr>
        <p:spPr>
          <a:xfrm>
            <a:off x="9264650" y="92610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D435A-0199-71FA-F5DE-20B70EC04CD1}"/>
              </a:ext>
            </a:extLst>
          </p:cNvPr>
          <p:cNvSpPr txBox="1"/>
          <p:nvPr/>
        </p:nvSpPr>
        <p:spPr>
          <a:xfrm>
            <a:off x="831850" y="2449785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i_clear</a:t>
            </a:r>
            <a:r>
              <a:rPr lang="en-US" altLang="ko-KR" b="1" dirty="0"/>
              <a:t>:</a:t>
            </a:r>
          </a:p>
          <a:p>
            <a:r>
              <a:rPr lang="en-US" altLang="ko-KR" b="1" dirty="0"/>
              <a:t>    mem </a:t>
            </a:r>
            <a:r>
              <a:rPr lang="ko-KR" altLang="en-US" b="1" dirty="0"/>
              <a:t>초기화</a:t>
            </a:r>
            <a:endParaRPr lang="en-US" altLang="ko-KR" b="1" dirty="0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A9A2FD-8144-9780-9C91-60E64D9E6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80" y="1412878"/>
            <a:ext cx="3662212" cy="48197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F8189D-DE5F-AA4F-AA47-EEA1CAEFA91E}"/>
              </a:ext>
            </a:extLst>
          </p:cNvPr>
          <p:cNvSpPr/>
          <p:nvPr/>
        </p:nvSpPr>
        <p:spPr>
          <a:xfrm>
            <a:off x="5399281" y="3170690"/>
            <a:ext cx="3662211" cy="971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3E1B5-5972-4067-441B-2A4EF83832C3}"/>
              </a:ext>
            </a:extLst>
          </p:cNvPr>
          <p:cNvSpPr txBox="1"/>
          <p:nvPr/>
        </p:nvSpPr>
        <p:spPr>
          <a:xfrm>
            <a:off x="831850" y="3326949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i_btn_select</a:t>
            </a:r>
            <a:r>
              <a:rPr lang="en-US" altLang="ko-KR" b="1" dirty="0"/>
              <a:t> &amp;&amp; (</a:t>
            </a:r>
            <a:r>
              <a:rPr lang="en-US" altLang="ko-KR" b="1" dirty="0" err="1"/>
              <a:t>i_write_digit</a:t>
            </a:r>
            <a:r>
              <a:rPr lang="en-US" altLang="ko-KR" b="1" dirty="0"/>
              <a:t> == 2’b11):</a:t>
            </a:r>
          </a:p>
          <a:p>
            <a:r>
              <a:rPr lang="en-US" altLang="ko-KR" b="1" dirty="0"/>
              <a:t>    mem[count]</a:t>
            </a:r>
            <a:r>
              <a:rPr lang="ko-KR" altLang="en-US" b="1" dirty="0"/>
              <a:t>은 </a:t>
            </a:r>
            <a:r>
              <a:rPr lang="en-US" altLang="ko-KR" b="1" dirty="0" err="1"/>
              <a:t>tick_counter</a:t>
            </a:r>
            <a:r>
              <a:rPr lang="en-US" altLang="ko-KR" b="1" dirty="0"/>
              <a:t> data</a:t>
            </a:r>
            <a:r>
              <a:rPr lang="ko-KR" altLang="en-US" b="1" dirty="0"/>
              <a:t>을 </a:t>
            </a:r>
            <a:r>
              <a:rPr lang="en-US" altLang="ko-KR" b="1" dirty="0"/>
              <a:t>write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809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A52B-CCEC-2143-65A2-B4726B97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BA6D1-799A-41A3-2C3D-805AC37A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CD577-4AE3-1E31-A13E-F7E53B862D60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EC0C8-61CB-8999-3103-AFBBE9A0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95D5719-AB69-4D90-BB09-46803649473B}"/>
              </a:ext>
            </a:extLst>
          </p:cNvPr>
          <p:cNvSpPr/>
          <p:nvPr/>
        </p:nvSpPr>
        <p:spPr>
          <a:xfrm>
            <a:off x="9264650" y="92610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CFCDDF-42A0-D7CC-418A-627A8F74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80" y="1412878"/>
            <a:ext cx="3662212" cy="48197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10C6A4-8C37-38C1-AF59-3254ACD192B1}"/>
              </a:ext>
            </a:extLst>
          </p:cNvPr>
          <p:cNvSpPr/>
          <p:nvPr/>
        </p:nvSpPr>
        <p:spPr>
          <a:xfrm>
            <a:off x="5399280" y="4483100"/>
            <a:ext cx="3662211" cy="1373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BE783-0238-916A-8EDB-431DABEF431C}"/>
              </a:ext>
            </a:extLst>
          </p:cNvPr>
          <p:cNvSpPr txBox="1"/>
          <p:nvPr/>
        </p:nvSpPr>
        <p:spPr>
          <a:xfrm>
            <a:off x="831851" y="4846754"/>
            <a:ext cx="43252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i_btn_select</a:t>
            </a:r>
            <a:r>
              <a:rPr lang="en-US" altLang="ko-KR" b="1" dirty="0"/>
              <a:t> &amp;&amp; (</a:t>
            </a:r>
            <a:r>
              <a:rPr lang="en-US" altLang="ko-KR" b="1" dirty="0" err="1"/>
              <a:t>i_write_digit</a:t>
            </a:r>
            <a:r>
              <a:rPr lang="en-US" altLang="ko-KR" b="1" dirty="0"/>
              <a:t> == 2’b11):</a:t>
            </a:r>
          </a:p>
          <a:p>
            <a:r>
              <a:rPr lang="en-US" altLang="ko-KR" b="1" dirty="0"/>
              <a:t>       mem[count]</a:t>
            </a:r>
            <a:r>
              <a:rPr lang="ko-KR" altLang="en-US" b="1" dirty="0"/>
              <a:t>에 썼으면 </a:t>
            </a:r>
            <a:r>
              <a:rPr lang="en-US" altLang="ko-KR" b="1" dirty="0"/>
              <a:t>count + 1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45D84-7473-1757-5FAE-886F6C7AD892}"/>
              </a:ext>
            </a:extLst>
          </p:cNvPr>
          <p:cNvSpPr txBox="1"/>
          <p:nvPr/>
        </p:nvSpPr>
        <p:spPr>
          <a:xfrm>
            <a:off x="831850" y="2449785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i_clear</a:t>
            </a:r>
            <a:r>
              <a:rPr lang="en-US" altLang="ko-KR" b="1" dirty="0"/>
              <a:t>:</a:t>
            </a:r>
          </a:p>
          <a:p>
            <a:r>
              <a:rPr lang="en-US" altLang="ko-KR" b="1" dirty="0"/>
              <a:t>    mem </a:t>
            </a:r>
            <a:r>
              <a:rPr lang="ko-KR" altLang="en-US" b="1" dirty="0"/>
              <a:t>초기화</a:t>
            </a:r>
            <a:endParaRPr lang="en-US" altLang="ko-K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ACBE8-3D80-FBA9-6FA5-57A9320A09AF}"/>
              </a:ext>
            </a:extLst>
          </p:cNvPr>
          <p:cNvSpPr txBox="1"/>
          <p:nvPr/>
        </p:nvSpPr>
        <p:spPr>
          <a:xfrm>
            <a:off x="831850" y="3326949"/>
            <a:ext cx="43252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i_btn_select</a:t>
            </a:r>
            <a:r>
              <a:rPr lang="en-US" altLang="ko-KR" b="1" dirty="0"/>
              <a:t> &amp;&amp; (</a:t>
            </a:r>
            <a:r>
              <a:rPr lang="en-US" altLang="ko-KR" b="1" dirty="0" err="1"/>
              <a:t>i_write_digit</a:t>
            </a:r>
            <a:r>
              <a:rPr lang="en-US" altLang="ko-KR" b="1" dirty="0"/>
              <a:t> == 2’b11):</a:t>
            </a:r>
          </a:p>
          <a:p>
            <a:r>
              <a:rPr lang="en-US" altLang="ko-KR" b="1" dirty="0"/>
              <a:t>    mem[count]</a:t>
            </a:r>
            <a:r>
              <a:rPr lang="ko-KR" altLang="en-US" b="1" dirty="0"/>
              <a:t>은 </a:t>
            </a:r>
            <a:r>
              <a:rPr lang="en-US" altLang="ko-KR" b="1" dirty="0" err="1"/>
              <a:t>tick_counter</a:t>
            </a:r>
            <a:r>
              <a:rPr lang="en-US" altLang="ko-KR" b="1" dirty="0"/>
              <a:t> data</a:t>
            </a:r>
            <a:r>
              <a:rPr lang="ko-KR" altLang="en-US" b="1" dirty="0"/>
              <a:t>을 </a:t>
            </a:r>
            <a:r>
              <a:rPr lang="en-US" altLang="ko-KR" b="1" dirty="0"/>
              <a:t>write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8516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68D0-AE9D-0481-046D-B10708F0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E9222-4E37-3BA1-3090-7DD2B2AA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31529-DF4C-93A7-C0F8-9FA46EB358F9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DATA_PATH(</a:t>
            </a:r>
            <a:r>
              <a:rPr lang="en-US" altLang="ko-KR" dirty="0" err="1"/>
              <a:t>mem_rdata</a:t>
            </a:r>
            <a:r>
              <a:rPr lang="en-US" altLang="ko-KR" dirty="0"/>
              <a:t>)</a:t>
            </a:r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93B40E-0CD4-DC11-C0AD-C7BAD09F2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1D61E0D-41A0-9574-615B-9E3A22D17503}"/>
              </a:ext>
            </a:extLst>
          </p:cNvPr>
          <p:cNvSpPr/>
          <p:nvPr/>
        </p:nvSpPr>
        <p:spPr>
          <a:xfrm>
            <a:off x="9258300" y="1249956"/>
            <a:ext cx="742950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076FEB-560A-3FE4-1EA7-9220A3271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640" y="2122714"/>
            <a:ext cx="4325559" cy="342068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511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073B-06A1-683A-26C1-8D417C4E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8E78C-FA75-BD79-8EAC-15172B8B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2701D-4990-16D6-C09A-5C468A8E62B4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DATA_PATH(</a:t>
            </a:r>
            <a:r>
              <a:rPr lang="en-US" altLang="ko-KR" dirty="0" err="1" smtClean="0"/>
              <a:t>mux_sel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pic>
        <p:nvPicPr>
          <p:cNvPr id="7" name="그림 6" descr="텍스트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2CBB18-5C3A-B8B4-152E-CFA89546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75" y="0"/>
            <a:ext cx="3005925" cy="2427549"/>
          </a:xfrm>
          <a:prstGeom prst="rect">
            <a:avLst/>
          </a:prstGeom>
        </p:spPr>
      </p:pic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117516-2A1C-F43E-70BE-F908BB3F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453" y="2872049"/>
            <a:ext cx="5913633" cy="2754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659CE3-0CC6-B304-1621-6360B4F007F4}"/>
              </a:ext>
            </a:extLst>
          </p:cNvPr>
          <p:cNvSpPr txBox="1"/>
          <p:nvPr/>
        </p:nvSpPr>
        <p:spPr>
          <a:xfrm>
            <a:off x="1543050" y="2743200"/>
            <a:ext cx="296545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i_display_sel</a:t>
            </a:r>
            <a:r>
              <a:rPr lang="en-US" altLang="ko-KR" dirty="0"/>
              <a:t> == 2’b10:</a:t>
            </a:r>
          </a:p>
          <a:p>
            <a:r>
              <a:rPr lang="en-US" altLang="ko-KR" dirty="0"/>
              <a:t>    state = </a:t>
            </a:r>
            <a:r>
              <a:rPr lang="en-US" altLang="ko-KR" dirty="0" err="1"/>
              <a:t>stopwatch_stop</a:t>
            </a:r>
            <a:endParaRPr lang="en-US" altLang="ko-KR" dirty="0"/>
          </a:p>
          <a:p>
            <a:r>
              <a:rPr lang="en-US" altLang="ko-KR" dirty="0"/>
              <a:t>Sw[5:3] on:</a:t>
            </a:r>
          </a:p>
          <a:p>
            <a:r>
              <a:rPr lang="en-US" altLang="ko-KR" dirty="0"/>
              <a:t>    Mem read</a:t>
            </a:r>
            <a:r>
              <a:rPr lang="ko-KR" altLang="en-US" dirty="0"/>
              <a:t> 값 </a:t>
            </a:r>
            <a:r>
              <a:rPr lang="en-US" altLang="ko-KR" dirty="0"/>
              <a:t>display</a:t>
            </a:r>
          </a:p>
          <a:p>
            <a:r>
              <a:rPr lang="en-US" altLang="ko-KR" dirty="0"/>
              <a:t>Sw[5:3] off:</a:t>
            </a:r>
          </a:p>
          <a:p>
            <a:r>
              <a:rPr lang="en-US" altLang="ko-KR" dirty="0"/>
              <a:t>     tick count </a:t>
            </a:r>
            <a:r>
              <a:rPr lang="ko-KR" altLang="en-US" dirty="0"/>
              <a:t>값 </a:t>
            </a:r>
            <a:r>
              <a:rPr lang="en-US" altLang="ko-KR" dirty="0"/>
              <a:t>display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286822" y="2064683"/>
            <a:ext cx="99097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dirty="0" err="1"/>
              <a:t>mux_sel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DAE9CC7-8F8B-293B-7415-240A40F89506}"/>
              </a:ext>
            </a:extLst>
          </p:cNvPr>
          <p:cNvSpPr/>
          <p:nvPr/>
        </p:nvSpPr>
        <p:spPr>
          <a:xfrm>
            <a:off x="9879633" y="2005963"/>
            <a:ext cx="1805354" cy="486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6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934C-0848-3010-B5F0-1D7E9331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552FD-C227-09B8-2EEC-0CA1E3BE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E7615-BD8D-E536-EF53-701123C67D19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</a:t>
            </a:r>
          </a:p>
        </p:txBody>
      </p:sp>
      <p:pic>
        <p:nvPicPr>
          <p:cNvPr id="11" name="그림 10" descr="도표, 평면도, 기술 도면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9D0355-6D86-6620-79D8-48842198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0" y="1621580"/>
            <a:ext cx="6345060" cy="453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12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7851-6398-7B09-318C-471C6873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C8F66-A93C-5932-D013-AA2B17F6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DABF2-944D-705F-4850-DD0A428978EA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</a:t>
            </a:r>
            <a:r>
              <a:rPr lang="en-US" altLang="ko-KR" dirty="0" err="1"/>
              <a:t>dot_onoff</a:t>
            </a:r>
            <a:r>
              <a:rPr lang="en-US" altLang="ko-KR" dirty="0"/>
              <a:t>)</a:t>
            </a:r>
          </a:p>
        </p:txBody>
      </p:sp>
      <p:pic>
        <p:nvPicPr>
          <p:cNvPr id="3" name="그림 2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213064-22BF-FADA-AFCA-CF62E0A8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053" y="2391201"/>
            <a:ext cx="3799502" cy="222387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7EA8E3-EA30-C7CD-BFD5-7825A8C9C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210" y="2652610"/>
            <a:ext cx="415348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06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04C1-57EF-F858-B74C-643B3635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36A68-87E4-0113-4939-9FCD46D8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AB446-9333-AECB-2118-CC3972B26724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</a:t>
            </a:r>
            <a:r>
              <a:rPr lang="en-US" altLang="ko-KR" dirty="0" err="1"/>
              <a:t>bcd</a:t>
            </a:r>
            <a:r>
              <a:rPr lang="en-US" altLang="ko-KR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7A9905-D19F-03F7-A27D-D368DA6936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"/>
          <a:stretch/>
        </p:blipFill>
        <p:spPr>
          <a:xfrm>
            <a:off x="8337550" y="210735"/>
            <a:ext cx="2901361" cy="4041963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4889C-C54C-99F9-E60E-A80F902C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198" y="2022479"/>
            <a:ext cx="2284847" cy="3796677"/>
          </a:xfrm>
          <a:prstGeom prst="rect">
            <a:avLst/>
          </a:prstGeom>
        </p:spPr>
      </p:pic>
      <p:pic>
        <p:nvPicPr>
          <p:cNvPr id="9" name="그림 8" descr="텍스트, 도표, 폰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04F39D-9B90-A189-E254-9AB88D0AD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596" y="4423386"/>
            <a:ext cx="3799502" cy="222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84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A236-8506-68C4-2B9A-7B772E03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855D5-61D5-4CD2-BEA2-238B0F11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81313-67F8-915B-A67C-48533B2382A8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FND_CTRL(</a:t>
            </a:r>
            <a:r>
              <a:rPr lang="en-US" altLang="ko-KR" dirty="0" err="1"/>
              <a:t>digit_splitter</a:t>
            </a:r>
            <a:r>
              <a:rPr lang="en-US" altLang="ko-KR" dirty="0"/>
              <a:t>)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F03B2F-F365-61B3-A788-9E661C2F2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324" y="2257256"/>
            <a:ext cx="4806350" cy="34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50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6DD3-0EC2-8A5C-9D38-15C12FF0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1B2D9-8719-0DC3-76EE-DFACA7F1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4. Module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FA515-A3DD-1558-4BD8-2EEA3CE70B8C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FND_CTRL(MUX[</a:t>
            </a:r>
            <a:r>
              <a:rPr lang="en-US" altLang="ko-KR" dirty="0" err="1" smtClean="0"/>
              <a:t>sel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i_write_digit</a:t>
            </a:r>
            <a:r>
              <a:rPr lang="en-US" altLang="ko-KR" dirty="0" smtClean="0"/>
              <a:t>])</a:t>
            </a:r>
            <a:endParaRPr lang="en-US" altLang="ko-KR" dirty="0"/>
          </a:p>
        </p:txBody>
      </p:sp>
      <p:pic>
        <p:nvPicPr>
          <p:cNvPr id="9" name="그림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BBC900-A2FB-245C-15DA-628976120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972" y="3254330"/>
            <a:ext cx="5591955" cy="628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FA696-E8B2-192B-C5D9-FAF7C1CA6300}"/>
              </a:ext>
            </a:extLst>
          </p:cNvPr>
          <p:cNvSpPr txBox="1"/>
          <p:nvPr/>
        </p:nvSpPr>
        <p:spPr>
          <a:xfrm>
            <a:off x="7099300" y="4400656"/>
            <a:ext cx="434975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Hour,min,sec,msec</a:t>
            </a:r>
            <a:r>
              <a:rPr lang="en-US" altLang="ko-KR" dirty="0" smtClean="0"/>
              <a:t> MUX </a:t>
            </a:r>
            <a:r>
              <a:rPr lang="ko-KR" altLang="en-US" dirty="0" smtClean="0"/>
              <a:t>제어하기 위함</a:t>
            </a:r>
            <a:endParaRPr lang="en-US" altLang="ko-KR" dirty="0" smtClean="0"/>
          </a:p>
          <a:p>
            <a:r>
              <a:rPr lang="en-US" altLang="ko-KR" dirty="0" smtClean="0"/>
              <a:t>TIME_SET</a:t>
            </a:r>
            <a:r>
              <a:rPr lang="ko-KR" altLang="en-US" dirty="0" smtClean="0"/>
              <a:t>을 하는 모드에서 </a:t>
            </a:r>
            <a:endParaRPr lang="en-US" altLang="ko-KR" dirty="0" smtClean="0"/>
          </a:p>
          <a:p>
            <a:r>
              <a:rPr lang="en-US" altLang="ko-KR" dirty="0" smtClean="0"/>
              <a:t>user</a:t>
            </a:r>
            <a:r>
              <a:rPr lang="ko-KR" altLang="en-US" dirty="0" smtClean="0"/>
              <a:t>가 입력 값을 </a:t>
            </a:r>
            <a:r>
              <a:rPr lang="en-US" altLang="ko-KR" dirty="0" smtClean="0"/>
              <a:t>display</a:t>
            </a:r>
            <a:r>
              <a:rPr lang="ko-KR" altLang="en-US" dirty="0" smtClean="0"/>
              <a:t>하기 위해 </a:t>
            </a:r>
            <a:r>
              <a:rPr lang="en-US" altLang="ko-KR" dirty="0" err="1" smtClean="0"/>
              <a:t>i_write_digit</a:t>
            </a:r>
            <a:r>
              <a:rPr lang="ko-KR" altLang="en-US" dirty="0" smtClean="0"/>
              <a:t>로 제어함</a:t>
            </a:r>
            <a:endParaRPr lang="ko-KR" altLang="en-US" dirty="0"/>
          </a:p>
        </p:txBody>
      </p:sp>
      <p:pic>
        <p:nvPicPr>
          <p:cNvPr id="12" name="그림 11" descr="도표, 평면도, 기술 도면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99AE06-3DC7-23DF-414A-A9FDCDAAA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42053"/>
            <a:ext cx="5429250" cy="3882030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A9B92971-FFE5-BAE5-2EB6-EF0F33A9C2E1}"/>
              </a:ext>
            </a:extLst>
          </p:cNvPr>
          <p:cNvSpPr/>
          <p:nvPr/>
        </p:nvSpPr>
        <p:spPr>
          <a:xfrm>
            <a:off x="1809750" y="4483206"/>
            <a:ext cx="914400" cy="7448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00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</a:t>
            </a:r>
            <a:r>
              <a:rPr lang="en-US" altLang="ko-KR" dirty="0" smtClean="0"/>
              <a:t>imulation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259529" y="2691575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EE435-607B-6043-D8BE-14DE1EA91353}"/>
              </a:ext>
            </a:extLst>
          </p:cNvPr>
          <p:cNvSpPr txBox="1"/>
          <p:nvPr/>
        </p:nvSpPr>
        <p:spPr>
          <a:xfrm>
            <a:off x="2291196" y="4401790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watch set</a:t>
            </a:r>
            <a:r>
              <a:rPr lang="ko-KR" altLang="en-US" dirty="0"/>
              <a:t>의 </a:t>
            </a:r>
            <a:r>
              <a:rPr lang="en-US" altLang="ko-KR" dirty="0"/>
              <a:t>set data</a:t>
            </a:r>
            <a:r>
              <a:rPr lang="ko-KR" altLang="en-US" dirty="0"/>
              <a:t>가 잘 들어가는지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</a:t>
            </a:r>
            <a:r>
              <a:rPr lang="ko-KR" altLang="en-US" dirty="0"/>
              <a:t>가 </a:t>
            </a:r>
            <a:r>
              <a:rPr lang="en-US" altLang="ko-KR" dirty="0" smtClean="0"/>
              <a:t>set data</a:t>
            </a:r>
            <a:r>
              <a:rPr lang="ko-KR" altLang="en-US" dirty="0"/>
              <a:t>부터 </a:t>
            </a:r>
            <a:r>
              <a:rPr lang="en-US" altLang="ko-KR" dirty="0"/>
              <a:t>count</a:t>
            </a:r>
            <a:r>
              <a:rPr lang="ko-KR" altLang="en-US" dirty="0"/>
              <a:t>하는지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90610-33B8-E0DF-D36A-1874992B8CC7}"/>
              </a:ext>
            </a:extLst>
          </p:cNvPr>
          <p:cNvSpPr txBox="1"/>
          <p:nvPr/>
        </p:nvSpPr>
        <p:spPr>
          <a:xfrm>
            <a:off x="2057400" y="22774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 stopwatch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9A1C2-9665-8CC9-62FF-5E4435BF5CD9}"/>
              </a:ext>
            </a:extLst>
          </p:cNvPr>
          <p:cNvSpPr txBox="1"/>
          <p:nvPr/>
        </p:nvSpPr>
        <p:spPr>
          <a:xfrm>
            <a:off x="2057400" y="39937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 watch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69762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0" y="2832932"/>
            <a:ext cx="11938761" cy="151090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240482" y="2113808"/>
            <a:ext cx="2185061" cy="364869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B0497-2B96-E668-DEEC-B9A8838EDA61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AE267-E50F-2B02-519C-6DB914EB5E93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A4EA7-58F4-781F-19A9-DDB58738D0A2}"/>
              </a:ext>
            </a:extLst>
          </p:cNvPr>
          <p:cNvSpPr txBox="1"/>
          <p:nvPr/>
        </p:nvSpPr>
        <p:spPr>
          <a:xfrm>
            <a:off x="638276" y="246360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69FC9D-A8E6-A271-27AF-A3B212B894A5}"/>
              </a:ext>
            </a:extLst>
          </p:cNvPr>
          <p:cNvSpPr txBox="1"/>
          <p:nvPr/>
        </p:nvSpPr>
        <p:spPr>
          <a:xfrm>
            <a:off x="2243116" y="4683839"/>
            <a:ext cx="357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0.1sec</a:t>
            </a:r>
            <a:r>
              <a:rPr lang="ko-KR" altLang="en-US" dirty="0"/>
              <a:t>마다 </a:t>
            </a:r>
            <a:r>
              <a:rPr lang="en-US" altLang="ko-KR" dirty="0"/>
              <a:t>count </a:t>
            </a:r>
            <a:r>
              <a:rPr lang="ko-KR" altLang="en-US" dirty="0"/>
              <a:t>되는 것 을 확인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38D8EB-435A-D366-B68C-B1F23C144B6A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r>
              <a:rPr lang="en-US" altLang="ko-KR" dirty="0"/>
              <a:t>(up)</a:t>
            </a:r>
          </a:p>
        </p:txBody>
      </p:sp>
    </p:spTree>
    <p:extLst>
      <p:ext uri="{BB962C8B-B14F-4D97-AF65-F5344CB8AC3E}">
        <p14:creationId xmlns:p14="http://schemas.microsoft.com/office/powerpoint/2010/main" val="3946068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06" y="2534608"/>
            <a:ext cx="10917174" cy="288647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09816" y="5584619"/>
            <a:ext cx="528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Msec</a:t>
            </a:r>
            <a:r>
              <a:rPr lang="ko-KR" altLang="en-US" dirty="0"/>
              <a:t>에서 </a:t>
            </a:r>
            <a:r>
              <a:rPr lang="en-US" altLang="ko-KR" dirty="0"/>
              <a:t>carry </a:t>
            </a:r>
            <a:r>
              <a:rPr lang="ko-KR" altLang="en-US" dirty="0"/>
              <a:t>발생 시 </a:t>
            </a:r>
            <a:r>
              <a:rPr lang="en-US" altLang="ko-KR" dirty="0"/>
              <a:t>sec</a:t>
            </a:r>
            <a:r>
              <a:rPr lang="ko-KR" altLang="en-US" dirty="0"/>
              <a:t>이 </a:t>
            </a:r>
            <a:r>
              <a:rPr lang="en-US" altLang="ko-KR" dirty="0"/>
              <a:t>count </a:t>
            </a:r>
            <a:r>
              <a:rPr lang="ko-KR" altLang="en-US" dirty="0"/>
              <a:t>되는 것을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048A7-4688-8ACF-EEB6-F06B16FD1C21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1ED97-DB79-7A2D-469E-9E31AAE1174C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6B222E-78E0-7BC1-80C9-EFFC107B1B10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r>
              <a:rPr lang="en-US" altLang="ko-KR" dirty="0"/>
              <a:t>(up)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42E0B-5C8A-173D-A6DC-035C9503542E}"/>
              </a:ext>
            </a:extLst>
          </p:cNvPr>
          <p:cNvSpPr txBox="1"/>
          <p:nvPr/>
        </p:nvSpPr>
        <p:spPr>
          <a:xfrm>
            <a:off x="695426" y="2188028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64446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"/>
          <a:stretch/>
        </p:blipFill>
        <p:spPr>
          <a:xfrm>
            <a:off x="10407992" y="2965507"/>
            <a:ext cx="1784008" cy="24853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" y="2701633"/>
            <a:ext cx="9519294" cy="3250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486" y="3290948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7478" y="3290947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5385" y="3290947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40393" y="3290947"/>
            <a:ext cx="285008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03715" y="2523506"/>
            <a:ext cx="2185061" cy="364869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106154" y="6252194"/>
            <a:ext cx="6710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 </a:t>
            </a:r>
            <a:r>
              <a:rPr lang="ko-KR" altLang="en-US" dirty="0"/>
              <a:t>시간이 </a:t>
            </a:r>
            <a:r>
              <a:rPr lang="en-US" altLang="ko-KR" dirty="0" err="1"/>
              <a:t>fnd_out</a:t>
            </a:r>
            <a:r>
              <a:rPr lang="ko-KR" altLang="en-US" dirty="0"/>
              <a:t>으로 정상적으로 보내지는 것을 확인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E82D3-8F6E-F560-FD61-4D8CAEF6558A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78F6D-FE24-A7E1-D641-E1C23EA112ED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1DCF13-1AFB-02FE-349D-0C2CA60709BD}"/>
              </a:ext>
            </a:extLst>
          </p:cNvPr>
          <p:cNvSpPr/>
          <p:nvPr/>
        </p:nvSpPr>
        <p:spPr>
          <a:xfrm>
            <a:off x="5460142" y="5450856"/>
            <a:ext cx="596900" cy="501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9858DB-6881-013D-81A6-5C202B18547F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BE1DA-2468-B989-2EB1-59BE31EF7375}"/>
              </a:ext>
            </a:extLst>
          </p:cNvPr>
          <p:cNvSpPr txBox="1"/>
          <p:nvPr/>
        </p:nvSpPr>
        <p:spPr>
          <a:xfrm>
            <a:off x="700495" y="234790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02622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A822-50E6-ADEA-5CB0-49B6C6FF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1A08A-F37B-D6B9-F77A-6700E1A2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E7B87-DF04-17C1-86B7-8ADBA50868E3}"/>
              </a:ext>
            </a:extLst>
          </p:cNvPr>
          <p:cNvSpPr txBox="1"/>
          <p:nvPr/>
        </p:nvSpPr>
        <p:spPr>
          <a:xfrm>
            <a:off x="3133437" y="5987534"/>
            <a:ext cx="528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Down count</a:t>
            </a:r>
            <a:r>
              <a:rPr lang="ko-KR" altLang="en-US" dirty="0"/>
              <a:t> 동작을 하는 것을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6733E-B454-8A48-041B-2C0894F4149A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3ABD5-332C-EE1A-2B93-9F66F240D810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D830E4-8EB3-A395-F8B7-9FE9AD34390D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r>
              <a:rPr lang="en-US" altLang="ko-KR" dirty="0"/>
              <a:t>(down)</a:t>
            </a:r>
          </a:p>
        </p:txBody>
      </p:sp>
      <p:pic>
        <p:nvPicPr>
          <p:cNvPr id="6" name="그림 5" descr="스크린샷, 디스플레이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A2DA43-9A18-A6A6-779F-E6063C04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491"/>
          <a:stretch>
            <a:fillRect/>
          </a:stretch>
        </p:blipFill>
        <p:spPr>
          <a:xfrm>
            <a:off x="1071515" y="2719157"/>
            <a:ext cx="9901285" cy="29146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45FEFA-20F4-2727-B3B7-4B2642561801}"/>
              </a:ext>
            </a:extLst>
          </p:cNvPr>
          <p:cNvSpPr txBox="1"/>
          <p:nvPr/>
        </p:nvSpPr>
        <p:spPr>
          <a:xfrm>
            <a:off x="1182656" y="2372694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07532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31" y="2459051"/>
            <a:ext cx="5877745" cy="3571880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6305550" y="2303812"/>
            <a:ext cx="17813" cy="386838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7887937" y="2303812"/>
            <a:ext cx="17813" cy="386838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5931477" y="5323115"/>
            <a:ext cx="2372095" cy="8490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B193B-06A1-ED13-829F-338457BDEC48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D88E0-7AAE-825B-8D5B-A51DF088B23F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0309B8-7D1B-3CB8-E6EB-54F220E8B708}"/>
              </a:ext>
            </a:extLst>
          </p:cNvPr>
          <p:cNvSpPr txBox="1"/>
          <p:nvPr/>
        </p:nvSpPr>
        <p:spPr>
          <a:xfrm>
            <a:off x="3536950" y="6172200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Btn_r</a:t>
            </a:r>
            <a:r>
              <a:rPr lang="ko-KR" altLang="en-US" dirty="0"/>
              <a:t>에 의한 </a:t>
            </a:r>
            <a:r>
              <a:rPr lang="en-US" altLang="ko-KR" dirty="0" err="1"/>
              <a:t>run_stop</a:t>
            </a:r>
            <a:r>
              <a:rPr lang="ko-KR" altLang="en-US" dirty="0"/>
              <a:t>이 잘 동작하는 것을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E4ABC6-2C47-893A-22D3-D98DF9D78C10}"/>
              </a:ext>
            </a:extLst>
          </p:cNvPr>
          <p:cNvSpPr/>
          <p:nvPr/>
        </p:nvSpPr>
        <p:spPr>
          <a:xfrm>
            <a:off x="1972211" y="1790642"/>
            <a:ext cx="381511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stopwatch_stop</a:t>
            </a:r>
            <a:r>
              <a:rPr lang="en-US" altLang="ko-KR" dirty="0"/>
              <a:t> -&gt; run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2777B-4AE3-EB1A-208F-133B15E938A9}"/>
              </a:ext>
            </a:extLst>
          </p:cNvPr>
          <p:cNvSpPr txBox="1"/>
          <p:nvPr/>
        </p:nvSpPr>
        <p:spPr>
          <a:xfrm>
            <a:off x="2657576" y="2161575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56496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80" y="2513702"/>
            <a:ext cx="10221328" cy="3644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CA43C9-613C-C981-CA6D-A7114269700E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9D497-9F8E-D82F-9F52-3C4DEBD9D64D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978393-1E89-6FF2-E8B4-B7C05380FC5A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stopwatch_run</a:t>
            </a:r>
            <a:endParaRPr lang="en-US" altLang="ko-KR" dirty="0"/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7D042246-4250-3712-0F94-01BC60F2EC04}"/>
              </a:ext>
            </a:extLst>
          </p:cNvPr>
          <p:cNvSpPr/>
          <p:nvPr/>
        </p:nvSpPr>
        <p:spPr>
          <a:xfrm>
            <a:off x="9989281" y="4004467"/>
            <a:ext cx="671551" cy="661988"/>
          </a:xfrm>
          <a:prstGeom prst="flowChartProcess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8F67C8E-CDD6-FEFC-F810-247FE6986667}"/>
              </a:ext>
            </a:extLst>
          </p:cNvPr>
          <p:cNvCxnSpPr/>
          <p:nvPr/>
        </p:nvCxnSpPr>
        <p:spPr>
          <a:xfrm flipH="1">
            <a:off x="7801708" y="4625424"/>
            <a:ext cx="2082711" cy="66168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154E62-37F0-BBA5-799F-C2B29BE529BC}"/>
              </a:ext>
            </a:extLst>
          </p:cNvPr>
          <p:cNvSpPr txBox="1"/>
          <p:nvPr/>
        </p:nvSpPr>
        <p:spPr>
          <a:xfrm>
            <a:off x="1773605" y="6128542"/>
            <a:ext cx="501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i_Btn_selet</a:t>
            </a:r>
            <a:r>
              <a:rPr lang="en-US" altLang="ko-KR" dirty="0"/>
              <a:t>(</a:t>
            </a:r>
            <a:r>
              <a:rPr lang="en-US" altLang="ko-KR" dirty="0" err="1"/>
              <a:t>btn_d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push</a:t>
            </a:r>
            <a:r>
              <a:rPr lang="ko-KR" altLang="en-US" dirty="0"/>
              <a:t> 일 때</a:t>
            </a:r>
            <a:r>
              <a:rPr lang="en-US" altLang="ko-KR" dirty="0"/>
              <a:t>, mem </a:t>
            </a:r>
            <a:r>
              <a:rPr lang="ko-KR" altLang="en-US" dirty="0"/>
              <a:t>에 </a:t>
            </a:r>
            <a:r>
              <a:rPr lang="en-US" altLang="ko-KR" dirty="0"/>
              <a:t>write </a:t>
            </a:r>
            <a:r>
              <a:rPr lang="ko-KR" altLang="en-US" dirty="0"/>
              <a:t>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36B16-6FB8-89D1-5667-9D0B0CCF545B}"/>
              </a:ext>
            </a:extLst>
          </p:cNvPr>
          <p:cNvSpPr txBox="1"/>
          <p:nvPr/>
        </p:nvSpPr>
        <p:spPr>
          <a:xfrm>
            <a:off x="1116480" y="2218880"/>
            <a:ext cx="108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Datapath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14690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7BBA-37FD-DE9D-C220-4BD0E563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스크린샷, 디스플레이, 다채로움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84DC51-206A-9FE6-4BFF-9144AF510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23"/>
          <a:stretch>
            <a:fillRect/>
          </a:stretch>
        </p:blipFill>
        <p:spPr>
          <a:xfrm>
            <a:off x="1574800" y="2131341"/>
            <a:ext cx="8178800" cy="37608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6DA4CF8-DEE7-25F0-C560-D7DBDE2C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simulation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E6B4D-C690-A2D4-9757-D7C1E2C64A28}"/>
              </a:ext>
            </a:extLst>
          </p:cNvPr>
          <p:cNvSpPr txBox="1"/>
          <p:nvPr/>
        </p:nvSpPr>
        <p:spPr>
          <a:xfrm>
            <a:off x="5777429" y="277240"/>
            <a:ext cx="612766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run mode </a:t>
            </a:r>
            <a:r>
              <a:rPr lang="ko-KR" altLang="en-US" dirty="0"/>
              <a:t>작동 </a:t>
            </a:r>
            <a:r>
              <a:rPr lang="en-US" altLang="ko-KR" dirty="0"/>
              <a:t>up/down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run/stop </a:t>
            </a:r>
            <a:r>
              <a:rPr lang="ko-KR" altLang="en-US" dirty="0"/>
              <a:t>기능 작동하는지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register read/write </a:t>
            </a:r>
            <a:r>
              <a:rPr lang="ko-KR" altLang="en-US" dirty="0"/>
              <a:t>기능 확인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6FC95-B3B1-10AF-6550-77E5E405E343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stopwatch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51C756-903D-FFB5-A55F-995EF782C5DE}"/>
              </a:ext>
            </a:extLst>
          </p:cNvPr>
          <p:cNvSpPr/>
          <p:nvPr/>
        </p:nvSpPr>
        <p:spPr>
          <a:xfrm>
            <a:off x="1972211" y="1790642"/>
            <a:ext cx="334273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 : </a:t>
            </a:r>
            <a:r>
              <a:rPr lang="en-US" altLang="ko-KR" dirty="0" err="1"/>
              <a:t>stopwatch_stop</a:t>
            </a:r>
            <a:r>
              <a:rPr lang="en-US" altLang="ko-KR" dirty="0"/>
              <a:t>(read)</a:t>
            </a: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06F60D96-8C71-995E-DB6E-2D661A473217}"/>
              </a:ext>
            </a:extLst>
          </p:cNvPr>
          <p:cNvSpPr/>
          <p:nvPr/>
        </p:nvSpPr>
        <p:spPr>
          <a:xfrm>
            <a:off x="3855368" y="3632201"/>
            <a:ext cx="5898232" cy="640862"/>
          </a:xfrm>
          <a:prstGeom prst="flowChartProcess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83E51-75C2-4C5D-0461-1AAEBEE0A351}"/>
              </a:ext>
            </a:extLst>
          </p:cNvPr>
          <p:cNvSpPr txBox="1"/>
          <p:nvPr/>
        </p:nvSpPr>
        <p:spPr>
          <a:xfrm>
            <a:off x="1371600" y="6128542"/>
            <a:ext cx="794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 </a:t>
            </a:r>
            <a:r>
              <a:rPr lang="ko-KR" altLang="en-US" dirty="0"/>
              <a:t>값</a:t>
            </a:r>
            <a:r>
              <a:rPr lang="en-US" altLang="ko-KR" dirty="0"/>
              <a:t>0,0,0,1</a:t>
            </a:r>
            <a:r>
              <a:rPr lang="ko-KR" altLang="en-US" dirty="0"/>
              <a:t>와 </a:t>
            </a:r>
            <a:r>
              <a:rPr lang="en-US" altLang="ko-KR" dirty="0"/>
              <a:t>0,0,0,2</a:t>
            </a:r>
            <a:r>
              <a:rPr lang="ko-KR" altLang="en-US" dirty="0"/>
              <a:t>가 나가는 것을 확인</a:t>
            </a: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941A4AD1-4F67-602D-4D89-AA1E302DE28A}"/>
              </a:ext>
            </a:extLst>
          </p:cNvPr>
          <p:cNvSpPr/>
          <p:nvPr/>
        </p:nvSpPr>
        <p:spPr>
          <a:xfrm>
            <a:off x="7061200" y="5480050"/>
            <a:ext cx="1492250" cy="438150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160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050E9A-C1CF-BD0B-D041-00AC2D98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4" y="2557360"/>
            <a:ext cx="7482712" cy="36783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A1D14-37B7-49EF-1139-80F276F9891A}"/>
              </a:ext>
            </a:extLst>
          </p:cNvPr>
          <p:cNvSpPr txBox="1"/>
          <p:nvPr/>
        </p:nvSpPr>
        <p:spPr>
          <a:xfrm>
            <a:off x="5815446" y="249713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watch set</a:t>
            </a:r>
            <a:r>
              <a:rPr lang="ko-KR" altLang="en-US" dirty="0"/>
              <a:t>의 </a:t>
            </a:r>
            <a:r>
              <a:rPr lang="en-US" altLang="ko-KR" dirty="0"/>
              <a:t>set data</a:t>
            </a:r>
            <a:r>
              <a:rPr lang="ko-KR" altLang="en-US" dirty="0"/>
              <a:t>가 잘 들어가는지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</a:t>
            </a:r>
            <a:r>
              <a:rPr lang="ko-KR" altLang="en-US" dirty="0"/>
              <a:t>가 </a:t>
            </a:r>
            <a:r>
              <a:rPr lang="en-US" altLang="ko-KR" dirty="0" err="1"/>
              <a:t>setdata</a:t>
            </a:r>
            <a:r>
              <a:rPr lang="ko-KR" altLang="en-US" dirty="0"/>
              <a:t>부터 </a:t>
            </a:r>
            <a:r>
              <a:rPr lang="en-US" altLang="ko-KR" dirty="0"/>
              <a:t>count</a:t>
            </a:r>
            <a:r>
              <a:rPr lang="ko-KR" altLang="en-US" dirty="0"/>
              <a:t>하는지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EC970-E9E7-67F9-C877-FD06314190DF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watch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878D44-8B54-E780-E29D-A9AF936284F9}"/>
              </a:ext>
            </a:extLst>
          </p:cNvPr>
          <p:cNvSpPr/>
          <p:nvPr/>
        </p:nvSpPr>
        <p:spPr>
          <a:xfrm>
            <a:off x="1972212" y="1790642"/>
            <a:ext cx="380521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Watch_set</a:t>
            </a:r>
            <a:r>
              <a:rPr lang="en-US" altLang="ko-KR" dirty="0"/>
              <a:t> -&gt; </a:t>
            </a:r>
            <a:r>
              <a:rPr lang="en-US" altLang="ko-KR" dirty="0" err="1"/>
              <a:t>Watch_run</a:t>
            </a:r>
            <a:endParaRPr lang="en-US" altLang="ko-KR" dirty="0"/>
          </a:p>
          <a:p>
            <a:r>
              <a:rPr lang="en-US" altLang="ko-KR" dirty="0"/>
              <a:t>Set: 12</a:t>
            </a:r>
            <a:r>
              <a:rPr lang="ko-KR" altLang="en-US" dirty="0"/>
              <a:t>시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endParaRPr lang="en-US" altLang="ko-KR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0046615-36F7-72E3-040F-1F09136017B6}"/>
              </a:ext>
            </a:extLst>
          </p:cNvPr>
          <p:cNvCxnSpPr>
            <a:cxnSpLocks/>
          </p:cNvCxnSpPr>
          <p:nvPr/>
        </p:nvCxnSpPr>
        <p:spPr>
          <a:xfrm>
            <a:off x="5277201" y="2379048"/>
            <a:ext cx="0" cy="403497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576DAD-C43B-9007-1F7A-EB1DBBA8A2AD}"/>
              </a:ext>
            </a:extLst>
          </p:cNvPr>
          <p:cNvSpPr/>
          <p:nvPr/>
        </p:nvSpPr>
        <p:spPr>
          <a:xfrm>
            <a:off x="5277200" y="5454122"/>
            <a:ext cx="4485165" cy="781588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596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en-US" altLang="ko-KR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490" y="2557360"/>
            <a:ext cx="7767825" cy="3937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3E8322-D9C7-B0D7-DD7D-8329783BB600}"/>
              </a:ext>
            </a:extLst>
          </p:cNvPr>
          <p:cNvSpPr txBox="1"/>
          <p:nvPr/>
        </p:nvSpPr>
        <p:spPr>
          <a:xfrm>
            <a:off x="5815446" y="249713"/>
            <a:ext cx="609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watch set</a:t>
            </a:r>
            <a:r>
              <a:rPr lang="ko-KR" altLang="en-US" dirty="0"/>
              <a:t>의 </a:t>
            </a:r>
            <a:r>
              <a:rPr lang="en-US" altLang="ko-KR" dirty="0"/>
              <a:t>set data</a:t>
            </a:r>
            <a:r>
              <a:rPr lang="ko-KR" altLang="en-US" dirty="0"/>
              <a:t>가 잘 들어가는지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watch</a:t>
            </a:r>
            <a:r>
              <a:rPr lang="ko-KR" altLang="en-US" dirty="0"/>
              <a:t>가 </a:t>
            </a:r>
            <a:r>
              <a:rPr lang="en-US" altLang="ko-KR" dirty="0" err="1"/>
              <a:t>setdata</a:t>
            </a:r>
            <a:r>
              <a:rPr lang="ko-KR" altLang="en-US" dirty="0"/>
              <a:t>부터 </a:t>
            </a:r>
            <a:r>
              <a:rPr lang="en-US" altLang="ko-KR" dirty="0"/>
              <a:t>count</a:t>
            </a:r>
            <a:r>
              <a:rPr lang="ko-KR" altLang="en-US" dirty="0"/>
              <a:t>하는지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5E140-A9E7-D671-A428-707FCADDF71C}"/>
              </a:ext>
            </a:extLst>
          </p:cNvPr>
          <p:cNvSpPr txBox="1"/>
          <p:nvPr/>
        </p:nvSpPr>
        <p:spPr>
          <a:xfrm>
            <a:off x="1727036" y="1436914"/>
            <a:ext cx="61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 smtClean="0"/>
              <a:t>watch</a:t>
            </a:r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F7D752-3C34-054B-14E3-797782FBC7EE}"/>
              </a:ext>
            </a:extLst>
          </p:cNvPr>
          <p:cNvSpPr/>
          <p:nvPr/>
        </p:nvSpPr>
        <p:spPr>
          <a:xfrm>
            <a:off x="4578350" y="5664366"/>
            <a:ext cx="5769965" cy="78158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EC907A-361A-C6D0-30A1-91940E542A29}"/>
              </a:ext>
            </a:extLst>
          </p:cNvPr>
          <p:cNvSpPr/>
          <p:nvPr/>
        </p:nvSpPr>
        <p:spPr>
          <a:xfrm>
            <a:off x="1972212" y="1790642"/>
            <a:ext cx="380521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case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Watch_set</a:t>
            </a:r>
            <a:r>
              <a:rPr lang="en-US" altLang="ko-KR" dirty="0"/>
              <a:t> -&gt; </a:t>
            </a:r>
            <a:r>
              <a:rPr lang="en-US" altLang="ko-KR" dirty="0" err="1"/>
              <a:t>Watch_run</a:t>
            </a:r>
            <a:endParaRPr lang="en-US" altLang="ko-KR" dirty="0"/>
          </a:p>
          <a:p>
            <a:r>
              <a:rPr lang="en-US" altLang="ko-KR" dirty="0"/>
              <a:t>Set: 12</a:t>
            </a:r>
            <a:r>
              <a:rPr lang="ko-KR" altLang="en-US" dirty="0"/>
              <a:t>시</a:t>
            </a:r>
            <a:r>
              <a:rPr lang="en-US" altLang="ko-KR" dirty="0"/>
              <a:t>34</a:t>
            </a:r>
            <a:r>
              <a:rPr lang="ko-KR" altLang="en-US" dirty="0"/>
              <a:t>분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136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/>
              <a:t>고찰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0C6BE-0F03-48E1-57C9-2C902D330209}"/>
              </a:ext>
            </a:extLst>
          </p:cNvPr>
          <p:cNvSpPr txBox="1"/>
          <p:nvPr/>
        </p:nvSpPr>
        <p:spPr>
          <a:xfrm>
            <a:off x="1416049" y="1657350"/>
            <a:ext cx="9416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추가 기능 </a:t>
            </a:r>
            <a:r>
              <a:rPr lang="ko-KR" altLang="en-US" dirty="0" err="1" smtClean="0"/>
              <a:t>미구현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기존 계획에서 </a:t>
            </a:r>
            <a:r>
              <a:rPr lang="en-US" altLang="ko-KR" dirty="0" smtClean="0"/>
              <a:t>TIMER</a:t>
            </a:r>
            <a:r>
              <a:rPr lang="ko-KR" altLang="en-US" dirty="0" smtClean="0"/>
              <a:t> 기능 추가 못함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dirty="0" smtClean="0"/>
              <a:t>이유</a:t>
            </a:r>
            <a:r>
              <a:rPr lang="en-US" altLang="ko-KR" dirty="0" smtClean="0"/>
              <a:t>: TIMER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 되면 </a:t>
            </a:r>
            <a:r>
              <a:rPr lang="en-US" altLang="ko-KR" dirty="0" smtClean="0"/>
              <a:t>Tick counter</a:t>
            </a:r>
            <a:r>
              <a:rPr lang="ko-KR" altLang="en-US" dirty="0" smtClean="0"/>
              <a:t>을 멈추는 과정에서 </a:t>
            </a:r>
            <a:r>
              <a:rPr lang="en-US" altLang="ko-KR" dirty="0" smtClean="0"/>
              <a:t>WNS</a:t>
            </a:r>
            <a:r>
              <a:rPr lang="ko-KR" altLang="en-US" dirty="0" smtClean="0"/>
              <a:t>가 음수 결과를 보임 </a:t>
            </a:r>
            <a:r>
              <a:rPr lang="en-US" altLang="ko-KR" dirty="0" smtClean="0"/>
              <a:t>		</a:t>
            </a:r>
            <a:r>
              <a:rPr lang="ko-KR" altLang="en-US" dirty="0" smtClean="0"/>
              <a:t>이유에 대한 검토하며 설계하는 시간이 부족하다 생각해 기능구현에서 제거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2. FSM</a:t>
            </a:r>
            <a:r>
              <a:rPr lang="ko-KR" altLang="en-US" dirty="0" smtClean="0"/>
              <a:t>의 좋은 점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dirty="0" smtClean="0"/>
              <a:t>기존 설계에서 수정을 자주하게 되는데 </a:t>
            </a:r>
            <a:r>
              <a:rPr lang="en-US" altLang="ko-KR" dirty="0" smtClean="0"/>
              <a:t>FSM</a:t>
            </a:r>
            <a:r>
              <a:rPr lang="ko-KR" altLang="en-US" dirty="0" smtClean="0"/>
              <a:t>이 좋은 길라잡이가 되어주어 설계에 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dirty="0" smtClean="0"/>
              <a:t>도움이 많이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089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1114"/>
          </a:xfrm>
        </p:spPr>
        <p:txBody>
          <a:bodyPr/>
          <a:lstStyle/>
          <a:p>
            <a:r>
              <a:rPr lang="en-US" altLang="ko-KR" dirty="0"/>
              <a:t>7</a:t>
            </a:r>
            <a:r>
              <a:rPr lang="en-US" altLang="ko-KR" dirty="0" smtClean="0"/>
              <a:t>. </a:t>
            </a:r>
            <a:r>
              <a:rPr lang="ko-KR" altLang="en-US" dirty="0" smtClean="0"/>
              <a:t>출처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0C6BE-0F03-48E1-57C9-2C902D330209}"/>
              </a:ext>
            </a:extLst>
          </p:cNvPr>
          <p:cNvSpPr txBox="1"/>
          <p:nvPr/>
        </p:nvSpPr>
        <p:spPr>
          <a:xfrm>
            <a:off x="1416049" y="1657350"/>
            <a:ext cx="9416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Basys</a:t>
            </a:r>
            <a:r>
              <a:rPr lang="en-US" altLang="ko-KR" dirty="0" smtClean="0"/>
              <a:t> </a:t>
            </a:r>
            <a:r>
              <a:rPr lang="en-US" altLang="ko-KR" dirty="0"/>
              <a:t>3 Reference </a:t>
            </a:r>
            <a:r>
              <a:rPr lang="en-US" altLang="ko-KR" dirty="0" smtClean="0"/>
              <a:t>Manual(FND </a:t>
            </a:r>
            <a:r>
              <a:rPr lang="ko-KR" altLang="en-US" dirty="0" smtClean="0"/>
              <a:t>이미지</a:t>
            </a:r>
            <a:r>
              <a:rPr lang="en-US" altLang="ko-KR" dirty="0"/>
              <a:t>): https://digilent.com/reference/programmable-logic/basys-3/reference-manual</a:t>
            </a:r>
          </a:p>
        </p:txBody>
      </p:sp>
    </p:spTree>
    <p:extLst>
      <p:ext uri="{BB962C8B-B14F-4D97-AF65-F5344CB8AC3E}">
        <p14:creationId xmlns:p14="http://schemas.microsoft.com/office/powerpoint/2010/main" val="276171282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892</TotalTime>
  <Words>1020</Words>
  <Application>Microsoft Office PowerPoint</Application>
  <PresentationFormat>와이드스크린</PresentationFormat>
  <Paragraphs>337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42</vt:i4>
      </vt:variant>
    </vt:vector>
  </HeadingPairs>
  <TitlesOfParts>
    <vt:vector size="52" baseType="lpstr">
      <vt:lpstr>돋움</vt:lpstr>
      <vt:lpstr>맑은 고딕</vt:lpstr>
      <vt:lpstr>Calibri</vt:lpstr>
      <vt:lpstr>Calibri Light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Stopwatch &amp; watch</vt:lpstr>
      <vt:lpstr>목차</vt:lpstr>
      <vt:lpstr>1. Introduction – stopwatch&amp;watch </vt:lpstr>
      <vt:lpstr>1. Introduction - stopwatch&amp;watch </vt:lpstr>
      <vt:lpstr>2. Block Diagram</vt:lpstr>
      <vt:lpstr>2. Block Diagram</vt:lpstr>
      <vt:lpstr>2. Block Diagram</vt:lpstr>
      <vt:lpstr>2. Block Diagram</vt:lpstr>
      <vt:lpstr>2. Block Diagram</vt:lpstr>
      <vt:lpstr>2. Block Diagram</vt:lpstr>
      <vt:lpstr>3. FSM</vt:lpstr>
      <vt:lpstr>3. FSM</vt:lpstr>
      <vt:lpstr>3. FSM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4. Module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5. Simulation</vt:lpstr>
      <vt:lpstr>6. 고찰</vt:lpstr>
      <vt:lpstr>7. 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96</cp:revision>
  <dcterms:created xsi:type="dcterms:W3CDTF">2026-01-26T09:32:19Z</dcterms:created>
  <dcterms:modified xsi:type="dcterms:W3CDTF">2026-02-03T03:17:30Z</dcterms:modified>
</cp:coreProperties>
</file>