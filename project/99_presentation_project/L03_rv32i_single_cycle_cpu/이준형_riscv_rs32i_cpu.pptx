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95" r:id="rId4"/>
    <p:sldId id="296" r:id="rId5"/>
    <p:sldId id="293" r:id="rId6"/>
    <p:sldId id="297" r:id="rId7"/>
    <p:sldId id="350" r:id="rId8"/>
    <p:sldId id="298" r:id="rId9"/>
    <p:sldId id="310" r:id="rId10"/>
    <p:sldId id="304" r:id="rId11"/>
    <p:sldId id="323" r:id="rId12"/>
    <p:sldId id="319" r:id="rId13"/>
    <p:sldId id="320" r:id="rId14"/>
    <p:sldId id="299" r:id="rId15"/>
    <p:sldId id="351" r:id="rId16"/>
    <p:sldId id="326" r:id="rId17"/>
    <p:sldId id="305" r:id="rId18"/>
    <p:sldId id="311" r:id="rId19"/>
    <p:sldId id="324" r:id="rId20"/>
    <p:sldId id="321" r:id="rId21"/>
    <p:sldId id="325" r:id="rId22"/>
    <p:sldId id="322" r:id="rId23"/>
    <p:sldId id="300" r:id="rId24"/>
    <p:sldId id="327" r:id="rId25"/>
    <p:sldId id="306" r:id="rId26"/>
    <p:sldId id="312" r:id="rId27"/>
    <p:sldId id="328" r:id="rId28"/>
    <p:sldId id="330" r:id="rId29"/>
    <p:sldId id="331" r:id="rId30"/>
    <p:sldId id="332" r:id="rId31"/>
    <p:sldId id="333" r:id="rId32"/>
    <p:sldId id="334" r:id="rId33"/>
    <p:sldId id="301" r:id="rId34"/>
    <p:sldId id="335" r:id="rId35"/>
    <p:sldId id="307" r:id="rId36"/>
    <p:sldId id="313" r:id="rId37"/>
    <p:sldId id="336" r:id="rId38"/>
    <p:sldId id="337" r:id="rId39"/>
    <p:sldId id="338" r:id="rId40"/>
    <p:sldId id="340" r:id="rId41"/>
    <p:sldId id="341" r:id="rId42"/>
    <p:sldId id="316" r:id="rId43"/>
    <p:sldId id="342" r:id="rId44"/>
    <p:sldId id="317" r:id="rId45"/>
    <p:sldId id="318" r:id="rId46"/>
    <p:sldId id="343" r:id="rId47"/>
    <p:sldId id="344" r:id="rId48"/>
    <p:sldId id="302" r:id="rId49"/>
    <p:sldId id="308" r:id="rId50"/>
    <p:sldId id="314" r:id="rId51"/>
    <p:sldId id="347" r:id="rId52"/>
    <p:sldId id="303" r:id="rId53"/>
    <p:sldId id="309" r:id="rId54"/>
    <p:sldId id="315" r:id="rId55"/>
    <p:sldId id="348" r:id="rId56"/>
    <p:sldId id="349" r:id="rId57"/>
    <p:sldId id="345" r:id="rId5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76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0" autoAdjust="0"/>
    <p:restoredTop sz="94394" autoAdjust="0"/>
  </p:normalViewPr>
  <p:slideViewPr>
    <p:cSldViewPr>
      <p:cViewPr varScale="1">
        <p:scale>
          <a:sx n="78" d="100"/>
          <a:sy n="78" d="100"/>
        </p:scale>
        <p:origin x="570" y="108"/>
      </p:cViewPr>
      <p:guideLst>
        <p:guide orient="horz" pos="4319"/>
        <p:guide pos="7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00:28.03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0,'34'34'125,"1"-34"-109,-1 0-1,0 35 32,1-35-47,-1 0 16,0 0 15,1 0 0,-1 0-31,0 0 16,0 0 0,1 0 15,-1 0 0,0 0 47,1 0-62,-1 0 31,0 0-32,1 0-15,-1 0 125,0 0-125,1 0 63,33 0-47,-33 0-16,33 0 15,-33 0-15,-1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00:29.79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-1 103 0,'34'0'125,"69"0"-125,-69-34 15,35 34 1,-35 0-16,35-35 16,0 1-1,-35 34 1,0 0-1,0 0 1,35 0 0,-35 0-1,1 0 1,33 34 0,-33-34 62,-1 0 0,0 0-63,1 0 17,-1 0-17,0 0 17,1 0-32,-1 0 62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00:33.09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102 1 0,'34'0'78,"0"0"-63,1 0-15,33 0 16,-33 0 0,67 0-16,-67 0 15,33 0-15,-33 0 32,-1 0-32,0 0 31,1 0-31,-1 0 15,0 0 1,1 0-16,-1 0 16,0 0 46,-68 0 235,0 0-297,-1 0 16,1 0-16,-35 0 15,35 0 1,0 0-16,-1 0 16,1 0-1,0 0 1,-1 0 15,1 0 0,0 0-15,0 0 0,-1 0 46,1 0-46,0 0-1,-1 0 1,1 0 15,0 0 63,-1 0-63,1 0-15,0 0 31,34 35 125,0-1-172,34 0 15,-34 1 1,0-1-1,0 0 1,0 1 15,0-1-31,0 0 16,0 1 0,0-1-1,0 0 1,0 1-16,0-1 31,0 0 47,0 1-62,0-1-16,0 0 15,34 35 17,35-69 265,0 0-297,-1 0 15,1 0-15,-35 0 16,69 0-16,-34 0 15,-35 0-15,0 0 16,1 0-16,-1 0 16,0 0-16,1 0 15,-1 0 1,0 0-16,35 0 16,-35 0-1,35 0 1,-35 0-1,1 0 17,-1 0-17,0 0 1,35 0 187,-35 0-187,35 0-16,-35 0 78,35 0-47,-35 0 32,35 0 30,-35 0-93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37.28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0,'34'0'172,"69"0"-156,0 0-16,0 0 15,0 0-15,-34 0 16,34 0-16,-35 0 16,-33 0-16,33 0 15,-33 0-15,-1 0 16,35 0 0,-35 0-16,0 0 15,35 0-15,0 0 16,-35 0-1,35 0 1,-35 0 0,0 0-1,1 0-15,-1 0 16,35 0-16,-35 0 16,35 0-1,-35 0 16,34 0-15,1 0 0,-35 0-16,1 0 15,33 0 1,-33 0 0,33 0-1,-33 0 1,68 0-1,-69 0-15,35 0 16,-35 0-16,35 0 16,-35 0-16,35 0 15,-35 0 1,35 0-16,-1 0 16,1 0-1,-35 0 1,1 0-16,-1 0 15,35 0 17,-35 0-32,0 0 31,0 0-31,1 0 0,-1 0 16,0 0-1,1 0 1,33 0-16,-33 0 15,-1 0 1,0 0 0,1 0-1,-1 0 1,0 0 0,35 0-1,-35 0 1,1 0-1,-1 0-15,0 0 16,1 0 0,33 0-1,-33 0 17,33 0 202,-33 0-218,33 0-1,-33 0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40.03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0 103 0,'35'0'125,"-1"0"-125,35 0 0,-35 0 16,35 0-16,-1 0 15,1 0-15,-35 0 16,35 0-16,-35 0 15,1 0 1,-1 0-16,0 0 16,1 0-16,-1 0 15,35 0-15,-1 0 16,-33 0-16,-1 0 16,0 0-16,35 0 15,-35 0-15,0 0 16,1 0-16,-1 0 15,0 0-15,1 0 16,-1 0 0,0 0-16,1 0 15,33 0 1,-33 0-16,-1 0 16,0 0-16,1 0 15,-1 0 1,0 0-16,1 0 15,-1 0 1,0 0 0,1 0-16,33 0 0,1 0 15,-35 0 1,1 0 15,-1 0-31,0 0 16,1 0 15,-1 0-15,0 0-16,1 0 15,33 0 1,-34 0 0,1 0-16,-1-34 15,0 34-15,1 0 31,-1 0 1,0 0-17,1 0-15,-1 0 16,0 0-16,1 0 16,-1 0-1,-34-35-15,34 1 0,1 34 78,-1 0-62,0 0 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43.36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0,'34'0'156,"104"0"-156,-1 0 16,69 0-16,-69 0 15,35 0-15,-1 0 16,-33 0-16,-1 0 15,-34 0-15,0 0 16,-34 0 0,-35 0-1,0 0-15,1 0 16,-1 0-16,0 0 16,35 0-1,-35 0-15,1 0 16,33 0-16,1 0 15,-35 0 1,0 0-16,35 0 16,-35 0-16,35 0 15,-35 0-15,35 0 16,-35 0-16,69 0 16,-68 0-1,-1 0 1,0 0 15,1 0-15,-1 0-1,0 0 1,1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46.855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1 0,'0'35'157,"68"-35"-142,35 0-15,-34 0 16,68 0-16,-34 0 16,34 0-16,-68 0 15,0 0-15,-1 0 16,1 0-16,-35 0 15,1 0 1,33 0-16,1 0 16,0 0-1,-35 0-15,69 0 16,-34 0-16,-1 0 16,1 0-16,-1 0 15,1 0 1,-35 0-1,35 0-15,-35 0 16,1 0-16,-1 0 16,0 0-16,35 0 15,-35 0 1,35 0-16,-35 0 16,35 0-1,-35 0-15,35 0 16,-35 0-1,1 0-15,33 0 16,-33 0-16,-1 0 16,0 0-16,1 0 15,-1 0-15,0 0 16,1 0 0,-1 0-16,34 0 15,1 0 1,-35 0-1,1 0-15,-1 0 16,0 0-16,1 0 16,-1 0-16,0 0 15,1 0 1,-1 0-16,35 0 16,-35 0-1,0 0 1,1 0-16,-1 0 15,0 0-15,1 0 16,-1 0-16,0 0 16,1 0-16,-1 0 15,0 0 32,1 0-31,-1 0 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49.598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70 0,'69'-34'140,"34"34"-140,0 0 16,34 0-16,-34 0 16,0 0-16,-34 0 15,34 0-15,-34 0 16,-35 0-16,0 0 16,1 0-16,-1 0 15,34 0 1,-33 0-16,-1 0 15,0 0-15,1 0 16,-1 0-16,0 0 16,1 0-16,-1 0 125,0 0-110,1 0 1,33 0-16,-33 0 16,-1 0-16,0 0 15,1 0 204,-1 0-188,0 0 0,1-35-31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51.87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48 0,'103'0'156,"0"0"-156,0 0 16,0 0-16,-34 0 15,34 0-15,0 0 16,-69 0-16,0 0 16,1 0-16,-1 0 15,0 0-15,1 0 16,-1 0 0,0 0-1,69 0-15,-34 0 16,-35 0-16,69 0 15,-34 0-15,-35 0 16,35 0-16,-35 0 16,0 0-16,1 0 15,68-35 126,-35 35-125,1 0-16,-35 0 15,35 0-15,-35 0 16,1 0-16,-1 0 15,0 0 235,1 0-234,-1 0-16,35 0 16,-35 0-1,0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56.919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0,'34'0'109,"35"0"-93,-35 34-16,35-34 16,-35 0-1,35 0 1,-35 0 15,35 0-31,-35 0 31,35 0-31,-35 0 16,35 0 0,-35 0-16,35 0 15,-1 0 1,35 0-16,-34 0 16,-35 0-16,35 0 15,-35 0-15,1 0 16,-1 0-1,35 0-15,-35 0 16,35 0 0,-35 0-1,0 0-15,1 0 16,-1 0 0,0 0-16,0 0 15,35 0 1,-35 0-16,1 0 15,33 0-15,1 0 16,-35 0-16,1 0 16,33 0-16,-33 0 15,-1 0-15,35 0 16,-35 0 0,35 0-16,-1 0 15,-33 0-15,-1 0 16,0 0-16,1 0 15,-1 0-15,0 0 16,35 0 0,0 0-16,-1 0 15,1 0 1,-1 0-16,-33 0 16,33 0 46,-33 0-46,33 0-1,1 0 1,0 0-16,-35 0 0,35 0 16,34 0-16,-69 0 15,0 0 1,1 0-1,-1 0 314,0 0-314,1 0 1,-1 0-16,0 0 15,1 0 95,-1 0-110,0 0 15,1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3:59.978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0,'35'0'125,"-1"0"-125,34 0 16,-33 0-1,-1 0-15,35 0 16,-35 0-16,35 0 16,-35 0-16,35 0 15,-35 0 16,35 0-31,-1 0 16,-33 0 0,-1 0-16,0 0 15,35 0-15,-35 0 16,1 0 0,-1 0-1,0 0-15,1 0 16,-1 0-16,0 0 15,35 0-15,-35 0 16,1 0 0,-1 0-1,35 0 1,-35 0-16,0 0 16,35 0-16,-35 0 15,35 0-15,-35 0 16,35 0-16,-35 0 15,35 0-15,-35 0 16,35 0-16,34 0 16,-35 0-16,-33 0 15,33 0-15,-33 0 16,33 0-16,-33 0 31,33 0-31,-33 0 16,33 0-1,-33 0-15,-1 0 16,0 0-16,1 0 16,-1 0-16,34 0 15,-33 0 1,-1 0-16,69 0 16,-69 0-1,69 0-15,-34 0 16,0 0-16,-35 0 15,35 0 1,-35 0-16,35 0 16,-35 0 46,0 0-46,1 0-1,-1 0 1,0 0 15,1 0-15,-1 0-16,0 0 78,1 0-31,33 0 125,-33 0-157,-1 0 314,0 0-329,1 0 15,-1 0 79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4:01.850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1 0,'68'0'78,"35"0"-62,-34 0-16,-1 0 15,35 0-15,-34 0 16,34 0-16,-34 0 15,34 0 1,-35 0-16,1 0 16,0 0-16,-1 0 15,-33 0-15,-1 0 16,0 0-16,1 0 16,-1 0-16,35 0 15,-35 0-15,35 0 16,-1 0-16,35 0 15,-34 0-15,-35 0 16,35 0-16,-35 0 16,0 0-16,35 0 15,-35 0 1,35 0-16,-35 0 16,35 0 15,-35 0-31,69 0 15,-68 0 1,-1 0-16,0 0 16,1 0-1,-1 0 1,0 0 0,1 0-1,-1 0-15,0 0 16,35 0-16,-35 0 15,1 0 1,-1 0-16,0 0 16,0 0-16,1 0 15,-1 0-15,0 0 16,35 0-16,-35 0 16,1 0-1,-1 0-15,0 0 16,1 0-16,-1 0 15,0 0 1,1 0-16,-1 0 16,0 0-1,1 0 1,33 0 0,1 0-16,-35 0 15,35 0-15,34 0 16,-34 0-16,-1 0 15,-33 0-15,33 0 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4:03.945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0,'69'34'125,"0"-34"-125,68 0 16,0 0-16,103 0 0,-68 0 15,68 0-15,-102 0 16,102 0-16,-171 0 15,34 0-15,-35 0 16,-34 0-16,35 0 16,-35 0-16,1 0 15,33 0-15,-33 0 32,33 0-32,-33 0 15,-1 0-15,35 0 16,-35 0-16,35 0 15,-35 0-15,0 0 16,1 0-16,-1 0 16,35 0-16,-35 0 15,35 0-15,-35 0 32,35 0-32,-35 0 0,0 0 0,35 0 15,-35 0 1,35 0-1,-35 0-15,35 0 32,-35 0-17,69 0-15,-69 0 16,35 0-16,-35 0 16,35 0-16,-35 0 15,35 0 1,-35 0-1,1 0 1,33 0-16,35 0 31,-68 0-15,-1 0-16,0 0 16,35 0 15,-35 0 0,35 0 172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4:06.421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0 164 0,'0'-35'110,"35"35"-95,67 0-15,36 0 16,-1-68-16,-34 68 16,0 0-16,34 0 15,-34 0-15,0 0 16,-68 0-16,68 0 15,-69 0-15,0 0 16,1 0-16,-1 0 16,35 0-16,-1 0 15,-34-35 1,1 35 0,-1 0-1,0 0 1,1 0 15,-1 0-15,0 0 15,1 0-15,33 0-16,-33 0 15,33 0 1,-33 0-1,-1 0-15,0 0 16,1 0 15,-1 0-31,0 0 16,1 0 0,-1 0-1,0 0-15,1 0 47,-1 0-31,0 0-1,35 0-15,-35 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1:24:09.03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0 285 0,'34'0'46,"35"0"-30,34 0-16,0 0 16,-35-34-16,70 34 15,-1 0-15,-34 0 16,0-69-16,34 69 16,-34 0-16,0-34 15,0 34-15,-68 0 16,33 0-16,1-35 15,-1 35-15,35 0 16,-34-68-16,-35 68 16,1 0-16,-1 0 15,0 0 48,1 0-63,-1 0 31,0-35-31,1 35 63,33 0-48,-33 0-15,-1 0 0,0 0 16,1 0-16,-1 0 344,35 0-344,-35 0 15,0 0-15,1 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25.94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 0,'35'0'250,"-1"0"-235,0 0 110,1 0-125,-1 0 31,0 0 63,1 0-94,-1 0 16,0 0 15,1 0-31,-1 0 328,35 0-265,-35 0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30.117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154 143 0,'34'0'187,"0"0"-171,1 0 0,-1 0 93,0 0-46,1 0-48,-1 35-15,0-35 235,-34 34-173,0 0-46,0 1-1,0-1 1,0 35 0,-68-69 62,33 0-63,-33 0 1,33 0 93,1 0-15,34-35-78,0-33-1,0 33 63,34 1-46,1 0-17,-1-1 1,0 35 62,1 0-78,33 0 31,-68 35 235,35-35-266,-35 34 16,0 35-16,0-35 62,0 0-31,0 1-31,-35-35 16,1 34 0,0-34-16,-1 34 15,1 0-15,0-34 16,-1 0-1,1 0 17,0 0-32,-1 0 31,1 0 0,-35-34-15,69 0-1,0 0 1,0-1-16,0-33 16,0 33-1,0 1 1,0 0-16,0-1 62,0-33-62,35 33 16,-1 35 47,0 0-63,1 0 15,33 0 32,-33-34-31,33 34-16,-33 0 15,33 0-15,-33 0 16,-1 0 78,-34 34-79,0 1-15,0-1 16,0 0-16,0 1 16,0-1-1,0 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32.168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423 623 0,'-35'0'235,"35"-34"-220,0-35-15,0 35 16,0-1-1,0 1 17,0 0-1,0-1-15,35 1-1,-35 0-15,34 34 16,0 0-1,1-34-15,-1 34 47,35 0-47,-1 0 16,-33 0 0,-1 34 77,-34 0-93,0 0 16,0 35-16,0-35 16,0 1-16,0 33 15,0-33-15,0-1 16,0 0-1,0 1 1,-34-1-16,-1-34 16,1 34-1,0-34-15,-1 35 32,1-35-17,0 0 1,-35 0-1,35 0-15,-1 0 32,1 0-32,0 0 15,-35 0 1,35 0-16,34-35 16,-35 35-16,-33 0 15,68-34-15,-69 0 31,69-1-15,-34 35-16,34-34 16,0 0-1,0-1-15,0 1 16,0 0 0,0-1-1,0 1-15,0 0 16,0-1-16,0 1 15,0 0-15,0 0 16,0-1-16,0 1 31,34 0-15,0-1-16,35 1 16,0 0-16,-69-1 15,34 35 1,0 0 78,35 0-79,-69 35-15,0-1 16,34 69-16,1-34 15,-1-35-15,-34 0 16,0 35-16,34-35 16,-34 0 46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38.487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29 0,'69'0'125,"34"0"-109,-69 0-16,35 0 16,-1 0-16,1 0 15,0 0-15,34 0 16,-35 0-1,-33 0-15,33 0 16,1 0-16,-35 0 16,35 0-16,-35 0 15,0 0-15,1 0 16,-1 0-16,35 0 16,-1 0-1,1 0-15,0 0 16,-1 0-1,-33 0-15,-1 0 63,0 0-47,1 0 15,33 34 266,-33-34-282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6-03-16T06:18:40.78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0,'69'0'109,"-35"0"-109,0 0 16,1 0-16,-1 0 15,0 0-15,0 0 16,35 0 0,-35 0-1,1 0-15,-1 0 16,35 0 0,-35 0-1,0 0-15,1 0 16,33 0-1,-33 0-15,-1 0 16,35 0-16,-35 0 16,35 0-16,-35 0 15,35 0-15,-35 0 16,35 0-16,-35 0 16,0 0-1,1 0-15,-1 0 16,35 0-1,-35 0-15,0 0 16,1 0 0,-1 0-16,0 0 31,0 0-31,1 0 16,-1 0-1,35 0-15,-35 0 31,0 0-31,1 0 16,-1 0 0,0 0-16,1 0 15,-1 0 1,0 0-16,1 0 16,33 0-1,-33 0 1,33 0-1,-33 0 1,-1 0 15,0 0-31,1 0 16,33 0-16,-33 0 31,33 0-31,-33 0 16,33 0-1,-33 0 126,33 0-125,-33 0-1,33 0 1,-34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E8289-7649-435B-BFB7-322273429278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6844F-5401-47B9-AA5C-B6D924C32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05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430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36C1-3147-F265-DC0F-E55C0CD0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75174B-BDAE-1208-51A9-DC132648E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2753B-4EA4-EB45-612A-2AFBE6A18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EB4D9-C283-03E5-86FD-CCE846690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265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091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5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085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6844F-5401-47B9-AA5C-B6D924C32B0D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59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emf"/><Relationship Id="rId5" Type="http://schemas.openxmlformats.org/officeDocument/2006/relationships/customXml" Target="../ink/ink2.xml"/><Relationship Id="rId4" Type="http://schemas.openxmlformats.org/officeDocument/2006/relationships/image" Target="../media/image2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customXml" Target="../ink/ink9.xml"/><Relationship Id="rId18" Type="http://schemas.openxmlformats.org/officeDocument/2006/relationships/image" Target="../media/image45.emf"/><Relationship Id="rId26" Type="http://schemas.openxmlformats.org/officeDocument/2006/relationships/image" Target="../media/image49.emf"/><Relationship Id="rId3" Type="http://schemas.openxmlformats.org/officeDocument/2006/relationships/customXml" Target="../ink/ink4.xml"/><Relationship Id="rId21" Type="http://schemas.openxmlformats.org/officeDocument/2006/relationships/customXml" Target="../ink/ink13.xml"/><Relationship Id="rId7" Type="http://schemas.openxmlformats.org/officeDocument/2006/relationships/customXml" Target="../ink/ink6.xml"/><Relationship Id="rId12" Type="http://schemas.openxmlformats.org/officeDocument/2006/relationships/image" Target="../media/image42.emf"/><Relationship Id="rId17" Type="http://schemas.openxmlformats.org/officeDocument/2006/relationships/customXml" Target="../ink/ink11.xml"/><Relationship Id="rId25" Type="http://schemas.openxmlformats.org/officeDocument/2006/relationships/customXml" Target="../ink/ink15.xml"/><Relationship Id="rId2" Type="http://schemas.openxmlformats.org/officeDocument/2006/relationships/image" Target="../media/image4.png"/><Relationship Id="rId16" Type="http://schemas.openxmlformats.org/officeDocument/2006/relationships/image" Target="../media/image44.emf"/><Relationship Id="rId20" Type="http://schemas.openxmlformats.org/officeDocument/2006/relationships/image" Target="../media/image4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emf"/><Relationship Id="rId11" Type="http://schemas.openxmlformats.org/officeDocument/2006/relationships/customXml" Target="../ink/ink8.xml"/><Relationship Id="rId24" Type="http://schemas.openxmlformats.org/officeDocument/2006/relationships/image" Target="../media/image48.emf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23" Type="http://schemas.openxmlformats.org/officeDocument/2006/relationships/customXml" Target="../ink/ink14.xml"/><Relationship Id="rId10" Type="http://schemas.openxmlformats.org/officeDocument/2006/relationships/image" Target="../media/image41.emf"/><Relationship Id="rId19" Type="http://schemas.openxmlformats.org/officeDocument/2006/relationships/customXml" Target="../ink/ink12.xml"/><Relationship Id="rId4" Type="http://schemas.openxmlformats.org/officeDocument/2006/relationships/image" Target="../media/image38.emf"/><Relationship Id="rId9" Type="http://schemas.openxmlformats.org/officeDocument/2006/relationships/customXml" Target="../ink/ink7.xml"/><Relationship Id="rId14" Type="http://schemas.openxmlformats.org/officeDocument/2006/relationships/image" Target="../media/image43.emf"/><Relationship Id="rId22" Type="http://schemas.openxmlformats.org/officeDocument/2006/relationships/image" Target="../media/image4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69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emf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customXml" Target="../ink/ink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089400" y="4648200"/>
            <a:ext cx="16192500" cy="3962400"/>
          </a:xfrm>
          <a:prstGeom prst="rect">
            <a:avLst/>
          </a:prstGeom>
        </p:spPr>
        <p:txBody>
          <a:bodyPr lIns="0" tIns="15240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12000" dirty="0">
                <a:solidFill>
                  <a:srgbClr val="000000"/>
                </a:solidFill>
                <a:latin typeface="맑은 고딕"/>
                <a:cs typeface="Pretendard SemiBold"/>
              </a:rPr>
              <a:t>RISC-V rv32i</a:t>
            </a:r>
          </a:p>
          <a:p>
            <a:pPr lvl="0" algn="ctr">
              <a:lnSpc>
                <a:spcPct val="99600"/>
              </a:lnSpc>
              <a:defRPr/>
            </a:pPr>
            <a:r>
              <a:rPr lang="en-US" altLang="ko-KR" sz="12000" dirty="0">
                <a:solidFill>
                  <a:srgbClr val="000000"/>
                </a:solidFill>
                <a:latin typeface="맑은 고딕"/>
                <a:cs typeface="Pretendard SemiBold"/>
              </a:rPr>
              <a:t>CPU</a:t>
            </a:r>
            <a:endParaRPr lang="en-US" altLang="ko-KR" sz="12000" b="0" i="0" u="none" strike="noStrike" dirty="0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67000" y="9156700"/>
            <a:ext cx="19126200" cy="660400"/>
          </a:xfrm>
          <a:prstGeom prst="rect">
            <a:avLst/>
          </a:prstGeom>
        </p:spPr>
        <p:txBody>
          <a:bodyPr lIns="0" tIns="23706" rIns="0" bIns="0" anchor="t"/>
          <a:lstStyle/>
          <a:p>
            <a:pPr lvl="0" algn="r">
              <a:lnSpc>
                <a:spcPct val="107899"/>
              </a:lnSpc>
              <a:defRPr/>
            </a:pPr>
            <a:r>
              <a:rPr lang="ko-KR" altLang="en-US" sz="3733" dirty="0">
                <a:solidFill>
                  <a:srgbClr val="000000"/>
                </a:solidFill>
                <a:latin typeface="맑은 고딕"/>
                <a:cs typeface="Pretendard Bold"/>
              </a:rPr>
              <a:t>이준형</a:t>
            </a:r>
            <a:endParaRPr lang="en-US" sz="3733" b="0" i="0" u="none" strike="noStrike" dirty="0">
              <a:solidFill>
                <a:srgbClr val="000000"/>
              </a:solidFill>
              <a:latin typeface="맑은 고딕"/>
              <a:cs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6000" y="11938000"/>
            <a:ext cx="34417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26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C806E3B6-8CE4-CAF5-473B-CE479B91F3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05F5ED6-9B4C-CBD4-769A-8B750BDF44B7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25739-137F-04E6-1810-33CF2F926976}"/>
              </a:ext>
            </a:extLst>
          </p:cNvPr>
          <p:cNvSpPr txBox="1"/>
          <p:nvPr/>
        </p:nvSpPr>
        <p:spPr>
          <a:xfrm>
            <a:off x="1305339" y="2426274"/>
            <a:ext cx="73152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4400" dirty="0"/>
              <a:t>RISC – V </a:t>
            </a:r>
            <a:r>
              <a:rPr lang="ko-KR" altLang="en-US" sz="4400" dirty="0"/>
              <a:t>개요</a:t>
            </a:r>
            <a:endParaRPr lang="en-US" altLang="ko-KR" sz="4400" dirty="0"/>
          </a:p>
          <a:p>
            <a:pPr marL="742950" indent="-742950">
              <a:buAutoNum type="arabicPeriod"/>
            </a:pPr>
            <a:r>
              <a:rPr lang="en-US" altLang="ko-KR" sz="4400" dirty="0"/>
              <a:t>B/D</a:t>
            </a:r>
          </a:p>
          <a:p>
            <a:pPr marL="742950" indent="-742950">
              <a:buAutoNum type="arabicPeriod"/>
            </a:pPr>
            <a:r>
              <a:rPr lang="en-US" altLang="ko-KR" sz="4400" dirty="0"/>
              <a:t>Type</a:t>
            </a:r>
            <a:r>
              <a:rPr lang="ko-KR" altLang="en-US" sz="4400" dirty="0"/>
              <a:t>별 동작 방식</a:t>
            </a:r>
            <a:endParaRPr lang="en-US" altLang="ko-KR" sz="4400" dirty="0"/>
          </a:p>
          <a:p>
            <a:pPr marL="1200150" lvl="1" indent="-742950">
              <a:buAutoNum type="alphaLcPeriod"/>
            </a:pPr>
            <a:r>
              <a:rPr lang="en-US" altLang="ko-KR" sz="4400" dirty="0"/>
              <a:t>R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I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S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IL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B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U	-type</a:t>
            </a:r>
          </a:p>
          <a:p>
            <a:pPr marL="1200150" lvl="1" indent="-742950">
              <a:buAutoNum type="alphaLcPeriod"/>
            </a:pPr>
            <a:r>
              <a:rPr lang="en-US" altLang="ko-KR" sz="4400" dirty="0"/>
              <a:t>J	-type</a:t>
            </a:r>
          </a:p>
          <a:p>
            <a:pPr marL="742950" indent="-742950">
              <a:buAutoNum type="arabicPeriod"/>
            </a:pPr>
            <a:r>
              <a:rPr lang="en-US" altLang="ko-KR" sz="4400" dirty="0" smtClean="0"/>
              <a:t>C</a:t>
            </a:r>
            <a:r>
              <a:rPr lang="ko-KR" altLang="en-US" sz="4400" dirty="0" smtClean="0"/>
              <a:t> </a:t>
            </a:r>
            <a:r>
              <a:rPr lang="en-US" altLang="ko-KR" sz="4400" dirty="0" smtClean="0"/>
              <a:t>to</a:t>
            </a:r>
            <a:r>
              <a:rPr lang="en-US" altLang="ko-KR" sz="4400" dirty="0" smtClean="0"/>
              <a:t> </a:t>
            </a:r>
            <a:r>
              <a:rPr lang="en-US" altLang="ko-KR" sz="4400" dirty="0" err="1" smtClean="0"/>
              <a:t>Assebler</a:t>
            </a:r>
            <a:r>
              <a:rPr lang="en-US" altLang="ko-KR" sz="4400" dirty="0" smtClean="0"/>
              <a:t> </a:t>
            </a:r>
            <a:r>
              <a:rPr lang="ko-KR" altLang="en-US" sz="4400" dirty="0" smtClean="0"/>
              <a:t>분석</a:t>
            </a:r>
            <a:endParaRPr lang="en-US" altLang="ko-KR" sz="4400" dirty="0" smtClean="0"/>
          </a:p>
          <a:p>
            <a:pPr marL="742950" indent="-742950">
              <a:buAutoNum type="arabicPeriod"/>
            </a:pPr>
            <a:r>
              <a:rPr lang="en-US" altLang="ko-KR" sz="4400" dirty="0" smtClean="0"/>
              <a:t>Trouble Shooting</a:t>
            </a:r>
            <a:endParaRPr lang="ko-KR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954A-E76A-CF67-4272-5DADD353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B6DBC61D-2EC4-0C10-C167-672DF2D750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4C65EFB-FC89-D997-414A-B75FFED6E1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0111D69-FD1C-3547-9954-A613E6286C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D83F069C-2872-E381-B0DD-2657E937C08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9F8AFE97-D858-98A7-FEBF-6705FD242196}"/>
              </a:ext>
            </a:extLst>
          </p:cNvPr>
          <p:cNvSpPr txBox="1"/>
          <p:nvPr/>
        </p:nvSpPr>
        <p:spPr>
          <a:xfrm>
            <a:off x="1295400" y="609600"/>
            <a:ext cx="10972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1. RISC – V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개요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905000" y="2915039"/>
            <a:ext cx="1219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도입</a:t>
            </a:r>
            <a:r>
              <a:rPr lang="en-US" altLang="ko-KR" b="1" dirty="0"/>
              <a:t>: RISC-V</a:t>
            </a:r>
            <a:r>
              <a:rPr lang="ko-KR" altLang="en-US" b="1" dirty="0"/>
              <a:t>와 </a:t>
            </a:r>
            <a:r>
              <a:rPr lang="en-US" altLang="ko-KR" b="1" dirty="0"/>
              <a:t>RV32I</a:t>
            </a:r>
            <a:r>
              <a:rPr lang="ko-KR" altLang="en-US" b="1" dirty="0"/>
              <a:t>의 정의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RISC-V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en-US" altLang="ko-KR" dirty="0"/>
              <a:t>: </a:t>
            </a:r>
            <a:r>
              <a:rPr lang="ko-KR" altLang="en-US" dirty="0"/>
              <a:t>오픈 소스 명령어 집합 아키텍처</a:t>
            </a:r>
            <a:r>
              <a:rPr lang="en-US" altLang="ko-KR" dirty="0"/>
              <a:t>(ISA)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누구나 무료로 설계 및 제조할 수 있는 혁신적인 아키텍처임을 강조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RV32I</a:t>
            </a:r>
            <a:r>
              <a:rPr lang="ko-KR" altLang="en-US" b="1" dirty="0"/>
              <a:t>의 의미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32</a:t>
            </a:r>
            <a:r>
              <a:rPr lang="en-US" altLang="ko-KR" dirty="0"/>
              <a:t>: 32</a:t>
            </a:r>
            <a:r>
              <a:rPr lang="ko-KR" altLang="en-US" dirty="0"/>
              <a:t>비트 주소 공간 및 데이터 처리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 (Integer)</a:t>
            </a:r>
            <a:r>
              <a:rPr lang="en-US" altLang="ko-KR" dirty="0"/>
              <a:t>: </a:t>
            </a:r>
            <a:r>
              <a:rPr lang="ko-KR" altLang="en-US" dirty="0"/>
              <a:t>정수 연산을 위한 가장 기본적이고 필수적인 베이스 명령어 세트 </a:t>
            </a:r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47</a:t>
            </a:r>
            <a:r>
              <a:rPr lang="ko-KR" altLang="en-US" dirty="0"/>
              <a:t>개 명령어</a:t>
            </a:r>
            <a:r>
              <a:rPr lang="en-US" altLang="ko-K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발표 목적</a:t>
            </a:r>
            <a:r>
              <a:rPr lang="en-US" altLang="ko-KR" dirty="0"/>
              <a:t>: RV32I</a:t>
            </a:r>
            <a:r>
              <a:rPr lang="ko-KR" altLang="en-US" dirty="0"/>
              <a:t>를 통해 프로세서의 기본 동작 원리</a:t>
            </a:r>
            <a:r>
              <a:rPr lang="en-US" altLang="ko-KR" dirty="0"/>
              <a:t>(Fetch-Decode-Execute)</a:t>
            </a:r>
            <a:r>
              <a:rPr lang="ko-KR" altLang="en-US" dirty="0"/>
              <a:t>를 이해함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2. RV32I </a:t>
            </a:r>
            <a:r>
              <a:rPr lang="ko-KR" altLang="en-US" b="1" dirty="0"/>
              <a:t>명령어 포맷 </a:t>
            </a:r>
            <a:r>
              <a:rPr lang="en-US" altLang="ko-KR" b="1" dirty="0"/>
              <a:t>(Instruction Formats)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고정 길이</a:t>
            </a:r>
            <a:r>
              <a:rPr lang="en-US" altLang="ko-KR" dirty="0"/>
              <a:t>: </a:t>
            </a:r>
            <a:r>
              <a:rPr lang="ko-KR" altLang="en-US" dirty="0"/>
              <a:t>모든 명령어가 </a:t>
            </a:r>
            <a:r>
              <a:rPr lang="en-US" altLang="ko-KR" dirty="0"/>
              <a:t>32</a:t>
            </a:r>
            <a:r>
              <a:rPr lang="ko-KR" altLang="en-US" dirty="0"/>
              <a:t>비트인 점이 하드웨어 설계를 얼마나 단순화하는지 설명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6</a:t>
            </a:r>
            <a:r>
              <a:rPr lang="ko-KR" altLang="en-US" b="1" dirty="0"/>
              <a:t>가지 타입</a:t>
            </a:r>
            <a:r>
              <a:rPr lang="en-US" altLang="ko-KR" dirty="0"/>
              <a:t>: R, I, S, B, U, J </a:t>
            </a:r>
            <a:r>
              <a:rPr lang="ko-KR" altLang="en-US" dirty="0"/>
              <a:t>타입의 구조적 특징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i="1" dirty="0"/>
              <a:t>포인트</a:t>
            </a:r>
            <a:r>
              <a:rPr lang="en-US" altLang="ko-KR" dirty="0"/>
              <a:t>: OPCODE, rs1, rs2, </a:t>
            </a:r>
            <a:r>
              <a:rPr lang="en-US" altLang="ko-KR" dirty="0" err="1"/>
              <a:t>rd</a:t>
            </a:r>
            <a:r>
              <a:rPr lang="en-US" altLang="ko-KR" dirty="0"/>
              <a:t> </a:t>
            </a:r>
            <a:r>
              <a:rPr lang="ko-KR" altLang="en-US" dirty="0"/>
              <a:t>필드가 왜 일관된 위치에 있는지</a:t>
            </a:r>
            <a:r>
              <a:rPr lang="en-US" altLang="ko-KR" dirty="0"/>
              <a:t>(</a:t>
            </a:r>
            <a:r>
              <a:rPr lang="ko-KR" altLang="en-US" dirty="0" err="1"/>
              <a:t>디코딩</a:t>
            </a:r>
            <a:r>
              <a:rPr lang="ko-KR" altLang="en-US" dirty="0"/>
              <a:t> 최적화</a:t>
            </a:r>
            <a:r>
              <a:rPr lang="en-US" altLang="ko-KR" dirty="0"/>
              <a:t>) </a:t>
            </a:r>
            <a:r>
              <a:rPr lang="ko-KR" altLang="en-US" dirty="0"/>
              <a:t>설명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0380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38DE-4AF5-152D-118B-5C90FCB09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2CD32774-1A51-1041-C13F-A12B1854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3" y="2201862"/>
            <a:ext cx="12123734" cy="10472738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E6F7075-2CBD-6293-F4ED-10AF9F059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57006AA-8187-1FDA-6074-4E4A312959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FD41FA4-0A1A-A600-B55A-95F771895C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425ABDE-A939-3045-A626-AE7C2E02C31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E2AA6AE-90FB-E400-78AB-DB88C20808A4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2. B/D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21597DB6-A3A6-F92B-C2A1-DA151B62B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641827"/>
              </p:ext>
            </p:extLst>
          </p:nvPr>
        </p:nvGraphicFramePr>
        <p:xfrm>
          <a:off x="13105904" y="2658991"/>
          <a:ext cx="10592296" cy="8711252"/>
        </p:xfrm>
        <a:graphic>
          <a:graphicData uri="http://schemas.openxmlformats.org/drawingml/2006/table">
            <a:tbl>
              <a:tblPr/>
              <a:tblGrid>
                <a:gridCol w="57825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315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796265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FFFFFF"/>
                          </a:solidFill>
                          <a:latin typeface="Pretendard Bold"/>
                        </a:rPr>
                        <a:t>Module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part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>
                          <a:solidFill>
                            <a:schemeClr val="bg1"/>
                          </a:solidFill>
                        </a:rPr>
                        <a:t>기능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Instruction Mem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ROM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dirty="0">
                          <a:latin typeface="+mn-lt"/>
                        </a:rPr>
                        <a:t>실행 명령어 메모리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Control Unit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Control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Unit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전체적인 </a:t>
                      </a:r>
                      <a:r>
                        <a:rPr lang="en-US" altLang="ko-KR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System </a:t>
                      </a:r>
                      <a:r>
                        <a:rPr lang="ko-KR" alt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제어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Register File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Data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path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ALU </a:t>
                      </a:r>
                      <a:r>
                        <a:rPr lang="ko-KR" altLang="en-US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연산을 위한 </a:t>
                      </a:r>
                      <a:r>
                        <a:rPr lang="en-US" altLang="ko-KR" sz="3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register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4-input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MUX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dirty="0">
                          <a:latin typeface="+mn-lt"/>
                        </a:rPr>
                        <a:t>Register File 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dirty="0">
                          <a:latin typeface="+mn-lt"/>
                        </a:rPr>
                        <a:t>Write</a:t>
                      </a:r>
                      <a:r>
                        <a:rPr lang="ko-KR" altLang="en-US" sz="3200" dirty="0">
                          <a:latin typeface="+mn-lt"/>
                        </a:rPr>
                        <a:t> </a:t>
                      </a:r>
                      <a:r>
                        <a:rPr lang="en-US" altLang="ko-KR" sz="3200" dirty="0">
                          <a:latin typeface="+mn-lt"/>
                        </a:rPr>
                        <a:t>Data MUX</a:t>
                      </a:r>
                      <a:r>
                        <a:rPr lang="en-US" sz="3200" dirty="0">
                          <a:latin typeface="+mn-lt"/>
                        </a:rPr>
                        <a:t> 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Imm Extender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200" dirty="0">
                          <a:latin typeface="+mn-lt"/>
                        </a:rPr>
                        <a:t>32 bit</a:t>
                      </a:r>
                      <a:r>
                        <a:rPr lang="ko-KR" altLang="en-US" sz="3200" dirty="0">
                          <a:latin typeface="+mn-lt"/>
                        </a:rPr>
                        <a:t> 상수로 변환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ALU</a:t>
                      </a: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dirty="0">
                          <a:latin typeface="+mn-lt"/>
                        </a:rPr>
                        <a:t>연산처리 </a:t>
                      </a:r>
                      <a:r>
                        <a:rPr lang="en-US" altLang="ko-KR" sz="3200" dirty="0">
                          <a:latin typeface="+mn-lt"/>
                        </a:rPr>
                        <a:t>&amp; </a:t>
                      </a:r>
                      <a:r>
                        <a:rPr lang="ko-KR" altLang="en-US" sz="3200" dirty="0">
                          <a:latin typeface="+mn-lt"/>
                        </a:rPr>
                        <a:t>분기 확인</a:t>
                      </a:r>
                      <a:endParaRPr lang="en-US" sz="3200" dirty="0">
                        <a:latin typeface="+mn-lt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PC</a:t>
                      </a: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Instruction Mem 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다음 주소 지정</a:t>
                      </a:r>
                      <a:endParaRPr kumimoji="0" lang="en-US" altLang="ko-KR" sz="3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memory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RAM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Load &amp; STORE 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</a:t>
                      </a:r>
                      <a:r>
                        <a:rPr kumimoji="0" lang="ko-KR" altLang="en-US" sz="3200" b="0" i="0" u="none" strike="noStrike" kern="1200" cap="none" spc="0" normalizeH="0" baseline="0" dirty="0" smtClean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메모리</a:t>
                      </a:r>
                      <a:endParaRPr kumimoji="0" lang="en-US" altLang="ko-KR" sz="3200" b="0" i="0" u="none" strike="noStrike" kern="1200" cap="none" spc="0" normalizeH="0" baseline="0" dirty="0" smtClean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200" b="0" i="0" u="none" strike="noStrike" kern="1200" cap="none" spc="0" normalizeH="0" baseline="0" dirty="0" smtClean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(word addressing)</a:t>
                      </a:r>
                      <a:endParaRPr kumimoji="0" lang="en-US" altLang="ko-KR" sz="3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371637"/>
                  </a:ext>
                </a:extLst>
              </a:tr>
            </a:tbl>
          </a:graphicData>
        </a:graphic>
      </p:graphicFrame>
      <p:sp>
        <p:nvSpPr>
          <p:cNvPr id="18" name="타원 17">
            <a:extLst>
              <a:ext uri="{FF2B5EF4-FFF2-40B4-BE49-F238E27FC236}">
                <a16:creationId xmlns:a16="http://schemas.microsoft.com/office/drawing/2014/main" id="{A3F37371-2149-40FA-296D-1199B62411CA}"/>
              </a:ext>
            </a:extLst>
          </p:cNvPr>
          <p:cNvSpPr/>
          <p:nvPr/>
        </p:nvSpPr>
        <p:spPr>
          <a:xfrm>
            <a:off x="235742" y="32766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1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96A74AC-CC05-92DA-E2DD-594854510B12}"/>
              </a:ext>
            </a:extLst>
          </p:cNvPr>
          <p:cNvSpPr/>
          <p:nvPr/>
        </p:nvSpPr>
        <p:spPr>
          <a:xfrm>
            <a:off x="3283742" y="26670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2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4863D79-339C-A5A9-0BCC-AD62E62FEC83}"/>
              </a:ext>
            </a:extLst>
          </p:cNvPr>
          <p:cNvSpPr/>
          <p:nvPr/>
        </p:nvSpPr>
        <p:spPr>
          <a:xfrm>
            <a:off x="4114800" y="4800598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3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61BF31D-4037-3363-74E5-21B9F6705740}"/>
              </a:ext>
            </a:extLst>
          </p:cNvPr>
          <p:cNvSpPr/>
          <p:nvPr/>
        </p:nvSpPr>
        <p:spPr>
          <a:xfrm>
            <a:off x="7543800" y="80772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4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054844C-5973-AD96-4F5B-93931066B263}"/>
              </a:ext>
            </a:extLst>
          </p:cNvPr>
          <p:cNvSpPr/>
          <p:nvPr/>
        </p:nvSpPr>
        <p:spPr>
          <a:xfrm>
            <a:off x="3200400" y="7400133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5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B6CE632-BB16-B61A-A70D-798EFD660532}"/>
              </a:ext>
            </a:extLst>
          </p:cNvPr>
          <p:cNvSpPr/>
          <p:nvPr/>
        </p:nvSpPr>
        <p:spPr>
          <a:xfrm>
            <a:off x="6137671" y="4800599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6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54EF4BD-AF46-BEBE-B18E-CFA476DB0445}"/>
              </a:ext>
            </a:extLst>
          </p:cNvPr>
          <p:cNvSpPr/>
          <p:nvPr/>
        </p:nvSpPr>
        <p:spPr>
          <a:xfrm>
            <a:off x="3429000" y="91440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7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AC0CA2D-3DF1-4769-79AF-27463D62CEDF}"/>
              </a:ext>
            </a:extLst>
          </p:cNvPr>
          <p:cNvSpPr/>
          <p:nvPr/>
        </p:nvSpPr>
        <p:spPr>
          <a:xfrm>
            <a:off x="10744200" y="3276600"/>
            <a:ext cx="526258" cy="51693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>
                <a:solidFill>
                  <a:srgbClr val="FF0000"/>
                </a:solidFill>
              </a:rPr>
              <a:t>8</a:t>
            </a:r>
            <a:endParaRPr lang="ko-KR" alt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56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endParaRPr lang="en-US" altLang="ko-KR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12973050" y="363220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8497550" y="363220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9074150" y="753110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4598650" y="753110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1283950" y="59817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08450" y="59817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83948" y="701040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DATA Flow</a:t>
            </a:r>
            <a:endParaRPr lang="en-US" altLang="ko-KR" sz="35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6598710" y="7010400"/>
            <a:ext cx="52578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simulation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graphicFrame>
        <p:nvGraphicFramePr>
          <p:cNvPr id="14" name="Table 12">
            <a:extLst>
              <a:ext uri="{FF2B5EF4-FFF2-40B4-BE49-F238E27FC236}">
                <a16:creationId xmlns:a16="http://schemas.microsoft.com/office/drawing/2014/main" id="{FC8B06A8-4DE9-8D4E-985F-A6E241FC1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198302"/>
              </p:ext>
            </p:extLst>
          </p:nvPr>
        </p:nvGraphicFramePr>
        <p:xfrm>
          <a:off x="3806104" y="4483100"/>
          <a:ext cx="4029792" cy="6330846"/>
        </p:xfrm>
        <a:graphic>
          <a:graphicData uri="http://schemas.openxmlformats.org/drawingml/2006/table">
            <a:tbl>
              <a:tblPr/>
              <a:tblGrid>
                <a:gridCol w="57825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3451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>
                          <a:solidFill>
                            <a:schemeClr val="bg1"/>
                          </a:solidFill>
                        </a:rPr>
                        <a:t>설명순서</a:t>
                      </a:r>
                      <a:r>
                        <a:rPr lang="en-US" sz="3600" dirty="0"/>
                        <a:t>j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 – type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 - type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S - type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IL - type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B - type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U - type</a:t>
                      </a: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 dirty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J - type</a:t>
                      </a:r>
                      <a:endParaRPr kumimoji="0" lang="en-US" altLang="ko-KR" sz="36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40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E974-80DF-3142-9CCC-F311A0A5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3CE95680-264D-22AC-358B-EE10762A1D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B746F0EB-22B4-339F-D6FC-4FD8CACC6AEE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F191824-6F9D-698C-2E87-22E4DF9B3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390912"/>
              </p:ext>
            </p:extLst>
          </p:nvPr>
        </p:nvGraphicFramePr>
        <p:xfrm>
          <a:off x="1045570" y="107442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R-type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OPCODE(R-type)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733800" y="8385919"/>
            <a:ext cx="10134600" cy="2013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4400" dirty="0" smtClean="0"/>
              <a:t>Rs1, Rs2</a:t>
            </a:r>
            <a:r>
              <a:rPr lang="ko-KR" altLang="en-US" sz="4400" dirty="0" smtClean="0"/>
              <a:t>을 산술 연산하는 명령어</a:t>
            </a:r>
            <a:endParaRPr lang="en-US" altLang="ko-KR" sz="4400" dirty="0" smtClean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4400" dirty="0" smtClean="0"/>
              <a:t>연산자는 </a:t>
            </a:r>
            <a:r>
              <a:rPr lang="en-US" altLang="ko-KR" sz="4400" dirty="0" smtClean="0"/>
              <a:t>Funct3, Funct7</a:t>
            </a:r>
            <a:r>
              <a:rPr lang="ko-KR" altLang="en-US" sz="4400" dirty="0" smtClean="0"/>
              <a:t>에 의해 결정</a:t>
            </a:r>
            <a:endParaRPr lang="en-US" altLang="ko-KR" sz="4400" dirty="0" smtClean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713387"/>
              </p:ext>
            </p:extLst>
          </p:nvPr>
        </p:nvGraphicFramePr>
        <p:xfrm>
          <a:off x="3962400" y="3200400"/>
          <a:ext cx="15752651" cy="4447814"/>
        </p:xfrm>
        <a:graphic>
          <a:graphicData uri="http://schemas.openxmlformats.org/drawingml/2006/table">
            <a:tbl>
              <a:tblPr/>
              <a:tblGrid>
                <a:gridCol w="1776893">
                  <a:extLst>
                    <a:ext uri="{9D8B030D-6E8A-4147-A177-3AD203B41FA5}">
                      <a16:colId xmlns:a16="http://schemas.microsoft.com/office/drawing/2014/main" val="3026228695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3469330308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848271704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367391896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3757884890"/>
                    </a:ext>
                  </a:extLst>
                </a:gridCol>
                <a:gridCol w="1410720">
                  <a:extLst>
                    <a:ext uri="{9D8B030D-6E8A-4147-A177-3AD203B41FA5}">
                      <a16:colId xmlns:a16="http://schemas.microsoft.com/office/drawing/2014/main" val="899968726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365708330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801757758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2544102319"/>
                    </a:ext>
                  </a:extLst>
                </a:gridCol>
                <a:gridCol w="1279302">
                  <a:extLst>
                    <a:ext uri="{9D8B030D-6E8A-4147-A177-3AD203B41FA5}">
                      <a16:colId xmlns:a16="http://schemas.microsoft.com/office/drawing/2014/main" val="2344801348"/>
                    </a:ext>
                  </a:extLst>
                </a:gridCol>
                <a:gridCol w="1410717">
                  <a:extLst>
                    <a:ext uri="{9D8B030D-6E8A-4147-A177-3AD203B41FA5}">
                      <a16:colId xmlns:a16="http://schemas.microsoft.com/office/drawing/2014/main" val="958721246"/>
                    </a:ext>
                  </a:extLst>
                </a:gridCol>
              </a:tblGrid>
              <a:tr h="108629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001542"/>
                  </a:ext>
                </a:extLst>
              </a:tr>
              <a:tr h="2052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4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[5]</a:t>
                      </a:r>
                      <a:endParaRPr lang="en-US" altLang="ko-KR" sz="4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4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1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0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1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0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570425"/>
                  </a:ext>
                </a:extLst>
              </a:tr>
              <a:tr h="13093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4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  <a:endParaRPr lang="en-US" altLang="ko-KR" sz="4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4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1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2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3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4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5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6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 smtClean="0"/>
                        <a:t>7</a:t>
                      </a:r>
                      <a:endParaRPr lang="ko-KR" altLang="en-US" sz="44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81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09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E974-80DF-3142-9CCC-F311A0A5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B6C2AF19-C181-A54C-265D-B6847C1C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70" y="2373399"/>
            <a:ext cx="11335407" cy="9775068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3CE95680-264D-22AC-358B-EE10762A1D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B746F0EB-22B4-339F-D6FC-4FD8CACC6AEE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AED689-9D19-45E6-DD4B-5E8EB7965918}"/>
              </a:ext>
            </a:extLst>
          </p:cNvPr>
          <p:cNvSpPr txBox="1"/>
          <p:nvPr/>
        </p:nvSpPr>
        <p:spPr>
          <a:xfrm>
            <a:off x="162339" y="216344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F191824-6F9D-698C-2E87-22E4DF9B3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714718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R-type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OPCODE(R-type)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12AAA55-C386-FAB8-66E7-2EA6BD469FD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127330" y="3429000"/>
          <a:ext cx="5974080" cy="7472289"/>
        </p:xfrm>
        <a:graphic>
          <a:graphicData uri="http://schemas.openxmlformats.org/drawingml/2006/table">
            <a:tbl>
              <a:tblPr/>
              <a:tblGrid>
                <a:gridCol w="2987040">
                  <a:extLst>
                    <a:ext uri="{9D8B030D-6E8A-4147-A177-3AD203B41FA5}">
                      <a16:colId xmlns:a16="http://schemas.microsoft.com/office/drawing/2014/main" val="1179993107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920872321"/>
                    </a:ext>
                  </a:extLst>
                </a:gridCol>
              </a:tblGrid>
              <a:tr h="67929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00010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R_type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405201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27568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61411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551745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0,funct7[5],funct3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47769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9411082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20403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26610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35831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82022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1CC918B-ADAE-2DCC-2E8F-CF83574A847F}"/>
              </a:ext>
            </a:extLst>
          </p:cNvPr>
          <p:cNvSpPr txBox="1"/>
          <p:nvPr/>
        </p:nvSpPr>
        <p:spPr>
          <a:xfrm>
            <a:off x="4550770" y="406192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9620C7-2A7A-D2E4-B472-22CEDAA5B7BF}"/>
              </a:ext>
            </a:extLst>
          </p:cNvPr>
          <p:cNvSpPr txBox="1"/>
          <p:nvPr/>
        </p:nvSpPr>
        <p:spPr>
          <a:xfrm>
            <a:off x="9275170" y="421432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6A0288-5A15-5D42-132D-DD346F488F80}"/>
              </a:ext>
            </a:extLst>
          </p:cNvPr>
          <p:cNvSpPr txBox="1"/>
          <p:nvPr/>
        </p:nvSpPr>
        <p:spPr>
          <a:xfrm>
            <a:off x="2493370" y="9014925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82EBB0-50FC-815A-AE2F-E3F9FDB85006}"/>
              </a:ext>
            </a:extLst>
          </p:cNvPr>
          <p:cNvSpPr txBox="1"/>
          <p:nvPr/>
        </p:nvSpPr>
        <p:spPr>
          <a:xfrm>
            <a:off x="6455770" y="4214324"/>
            <a:ext cx="251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alu_ctrl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6EBAD4-76D5-152D-A742-CE5A5943C2FF}"/>
              </a:ext>
            </a:extLst>
          </p:cNvPr>
          <p:cNvSpPr txBox="1"/>
          <p:nvPr/>
        </p:nvSpPr>
        <p:spPr>
          <a:xfrm>
            <a:off x="5160370" y="7871925"/>
            <a:ext cx="2935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ALU_result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436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84B9-3EF9-83CD-AFDB-2C2F1684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8AF2E816-DC8B-2747-F282-41319D2737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396AA63-01EF-62C0-593A-1816824E5CB9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A334EF0-0E28-30A2-1379-DEAAF4AC0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948565"/>
              </p:ext>
            </p:extLst>
          </p:nvPr>
        </p:nvGraphicFramePr>
        <p:xfrm>
          <a:off x="12496800" y="4613460"/>
          <a:ext cx="11681813" cy="5128947"/>
        </p:xfrm>
        <a:graphic>
          <a:graphicData uri="http://schemas.openxmlformats.org/drawingml/2006/table">
            <a:tbl>
              <a:tblPr/>
              <a:tblGrid>
                <a:gridCol w="852423">
                  <a:extLst>
                    <a:ext uri="{9D8B030D-6E8A-4147-A177-3AD203B41FA5}">
                      <a16:colId xmlns:a16="http://schemas.microsoft.com/office/drawing/2014/main" val="1686743289"/>
                    </a:ext>
                  </a:extLst>
                </a:gridCol>
                <a:gridCol w="1221551">
                  <a:extLst>
                    <a:ext uri="{9D8B030D-6E8A-4147-A177-3AD203B41FA5}">
                      <a16:colId xmlns:a16="http://schemas.microsoft.com/office/drawing/2014/main" val="16940635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419310636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467851833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26078962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781578471"/>
                    </a:ext>
                  </a:extLst>
                </a:gridCol>
                <a:gridCol w="969820">
                  <a:extLst>
                    <a:ext uri="{9D8B030D-6E8A-4147-A177-3AD203B41FA5}">
                      <a16:colId xmlns:a16="http://schemas.microsoft.com/office/drawing/2014/main" val="278234494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331381186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94380760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290620688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85403473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581163607"/>
                    </a:ext>
                  </a:extLst>
                </a:gridCol>
              </a:tblGrid>
              <a:tr h="568467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25733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ALU_control</a:t>
                      </a: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431460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997346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[3]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[5]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797199"/>
                  </a:ext>
                </a:extLst>
              </a:tr>
              <a:tr h="550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[2:0]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2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3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4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5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6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7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229480"/>
                  </a:ext>
                </a:extLst>
              </a:tr>
              <a:tr h="456794">
                <a:tc grid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sng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67740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+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-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a&lt;&lt;b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(a&lt;b)?1:0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(a&lt;b)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^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a&gt;&gt;b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a&gt;&gt;&gt;b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|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&amp;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980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igned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972612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en-US" sz="2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_taken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402867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59FEADA-D583-B6E7-00C3-7B6CAE869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02211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R-type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OPCODE(R-type)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pic>
        <p:nvPicPr>
          <p:cNvPr id="23" name="그림 22">
            <a:extLst>
              <a:ext uri="{FF2B5EF4-FFF2-40B4-BE49-F238E27FC236}">
                <a16:creationId xmlns:a16="http://schemas.microsoft.com/office/drawing/2014/main" id="{6CE6CE41-3729-AFD9-B01B-50AE7199E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570" y="2373399"/>
            <a:ext cx="11335407" cy="97750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A737FC9-8037-3381-B978-EEE8BA014393}"/>
              </a:ext>
            </a:extLst>
          </p:cNvPr>
          <p:cNvSpPr txBox="1"/>
          <p:nvPr/>
        </p:nvSpPr>
        <p:spPr>
          <a:xfrm>
            <a:off x="162339" y="216344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D7A64B-721A-8123-7DD7-0E24BB7A94EF}"/>
              </a:ext>
            </a:extLst>
          </p:cNvPr>
          <p:cNvSpPr txBox="1"/>
          <p:nvPr/>
        </p:nvSpPr>
        <p:spPr>
          <a:xfrm>
            <a:off x="4550770" y="406192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4AE626-53D8-2B78-3606-93FB05B20207}"/>
              </a:ext>
            </a:extLst>
          </p:cNvPr>
          <p:cNvSpPr txBox="1"/>
          <p:nvPr/>
        </p:nvSpPr>
        <p:spPr>
          <a:xfrm>
            <a:off x="9275170" y="421432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59ED4A-A1DD-434E-DBDC-A941FF4208A7}"/>
              </a:ext>
            </a:extLst>
          </p:cNvPr>
          <p:cNvSpPr txBox="1"/>
          <p:nvPr/>
        </p:nvSpPr>
        <p:spPr>
          <a:xfrm>
            <a:off x="2493370" y="9014925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55479C-42FF-DCB2-E3C6-532C6EA3ECB5}"/>
              </a:ext>
            </a:extLst>
          </p:cNvPr>
          <p:cNvSpPr txBox="1"/>
          <p:nvPr/>
        </p:nvSpPr>
        <p:spPr>
          <a:xfrm>
            <a:off x="6455770" y="4214324"/>
            <a:ext cx="251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alu_ctrl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98BE81-376E-6BC4-E300-8C79E8F96699}"/>
              </a:ext>
            </a:extLst>
          </p:cNvPr>
          <p:cNvSpPr txBox="1"/>
          <p:nvPr/>
        </p:nvSpPr>
        <p:spPr>
          <a:xfrm>
            <a:off x="5160370" y="7871925"/>
            <a:ext cx="2935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ALU_result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4374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D4B4-3BDD-5163-45F2-C5DDDE54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3A3CFF72-9813-95AF-788F-4CACAD7E5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D153261-CD7F-F8C4-0967-39AFEA60EB6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00253-4AD0-D923-B17A-FD265419E2B9}"/>
              </a:ext>
            </a:extLst>
          </p:cNvPr>
          <p:cNvSpPr txBox="1"/>
          <p:nvPr/>
        </p:nvSpPr>
        <p:spPr>
          <a:xfrm>
            <a:off x="304800" y="2209800"/>
            <a:ext cx="5628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 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E70F591B-AAF6-1DDE-EBA0-0C87D716A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89313"/>
              </p:ext>
            </p:extLst>
          </p:nvPr>
        </p:nvGraphicFramePr>
        <p:xfrm>
          <a:off x="1514128" y="4572000"/>
          <a:ext cx="11668471" cy="5056883"/>
        </p:xfrm>
        <a:graphic>
          <a:graphicData uri="http://schemas.openxmlformats.org/drawingml/2006/table">
            <a:tbl>
              <a:tblPr/>
              <a:tblGrid>
                <a:gridCol w="1000472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  <a:gridCol w="4267199">
                  <a:extLst>
                    <a:ext uri="{9D8B030D-6E8A-4147-A177-3AD203B41FA5}">
                      <a16:colId xmlns:a16="http://schemas.microsoft.com/office/drawing/2014/main" val="439004716"/>
                    </a:ext>
                  </a:extLst>
                </a:gridCol>
              </a:tblGrid>
              <a:tr h="2499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name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용도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rs1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Full case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rs2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Shfit</a:t>
                      </a:r>
                      <a:r>
                        <a:rPr lang="en-US" sz="3600" dirty="0"/>
                        <a:t> </a:t>
                      </a:r>
                      <a:r>
                        <a:rPr lang="ko-KR" altLang="en-US" sz="3600" dirty="0"/>
                        <a:t>연산을 제외한 나머지 </a:t>
                      </a:r>
                      <a:r>
                        <a:rPr lang="en-US" altLang="ko-KR" sz="3600" dirty="0"/>
                        <a:t>case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Shfit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SLL,SLT,SLTU,SRL,SRA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rd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Alu_result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590D39D-82AA-E852-2800-F0FCC825C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597242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R-type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OPCODE(R-type)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AFDCC336-5ECB-56CD-F9AF-57A9FE7F2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622105"/>
              </p:ext>
            </p:extLst>
          </p:nvPr>
        </p:nvGraphicFramePr>
        <p:xfrm>
          <a:off x="14249400" y="2577594"/>
          <a:ext cx="6553201" cy="9601239"/>
        </p:xfrm>
        <a:graphic>
          <a:graphicData uri="http://schemas.openxmlformats.org/drawingml/2006/table">
            <a:tbl>
              <a:tblPr/>
              <a:tblGrid>
                <a:gridCol w="990373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</a:tblGrid>
              <a:tr h="53719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Result(DEX)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ADD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100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-300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SLL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-400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XOR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-172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0885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SRL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1073741799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30782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672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OR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7081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AND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71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72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B9464-7257-0B5C-7BFE-5859BB0E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CD6EA68-95A9-AE14-C91A-71D4A40A45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5EFB367-53FE-0694-A953-9CB6C8873EE9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CD561B-4868-3AD0-8B90-22811FB1AA6D}"/>
              </a:ext>
            </a:extLst>
          </p:cNvPr>
          <p:cNvSpPr txBox="1"/>
          <p:nvPr/>
        </p:nvSpPr>
        <p:spPr>
          <a:xfrm>
            <a:off x="457200" y="2131413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0D1FAD9-505A-8A19-ABB5-0A1CE59286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72"/>
          <a:stretch>
            <a:fillRect/>
          </a:stretch>
        </p:blipFill>
        <p:spPr>
          <a:xfrm>
            <a:off x="304800" y="3031299"/>
            <a:ext cx="17571236" cy="100584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12E85C-5862-7721-FAC3-D648FCC278F6}"/>
              </a:ext>
            </a:extLst>
          </p:cNvPr>
          <p:cNvSpPr txBox="1"/>
          <p:nvPr/>
        </p:nvSpPr>
        <p:spPr>
          <a:xfrm>
            <a:off x="2255036" y="7718491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24162-B411-EC58-E253-59C5593478ED}"/>
              </a:ext>
            </a:extLst>
          </p:cNvPr>
          <p:cNvSpPr txBox="1"/>
          <p:nvPr/>
        </p:nvSpPr>
        <p:spPr>
          <a:xfrm>
            <a:off x="2591285" y="8362016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3DB60F5-6575-97F5-80E9-AFCCA6E51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257793"/>
              </p:ext>
            </p:extLst>
          </p:nvPr>
        </p:nvGraphicFramePr>
        <p:xfrm>
          <a:off x="18068136" y="4427575"/>
          <a:ext cx="5974080" cy="7229235"/>
        </p:xfrm>
        <a:graphic>
          <a:graphicData uri="http://schemas.openxmlformats.org/drawingml/2006/table">
            <a:tbl>
              <a:tblPr/>
              <a:tblGrid>
                <a:gridCol w="2987040">
                  <a:extLst>
                    <a:ext uri="{9D8B030D-6E8A-4147-A177-3AD203B41FA5}">
                      <a16:colId xmlns:a16="http://schemas.microsoft.com/office/drawing/2014/main" val="1179993107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920872321"/>
                    </a:ext>
                  </a:extLst>
                </a:gridCol>
              </a:tblGrid>
              <a:tr h="6735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00010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405201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27568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61411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551745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0,funct7[5],funct3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47769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49411082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20403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26610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358313"/>
                  </a:ext>
                </a:extLst>
              </a:tr>
              <a:tr h="6792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82022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B3726F6-95F1-A516-8AED-1DE8CD189DA3}"/>
              </a:ext>
            </a:extLst>
          </p:cNvPr>
          <p:cNvSpPr txBox="1"/>
          <p:nvPr/>
        </p:nvSpPr>
        <p:spPr>
          <a:xfrm>
            <a:off x="2419231" y="10438540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A460568-098E-3DE1-04C5-894DC6194831}"/>
              </a:ext>
            </a:extLst>
          </p:cNvPr>
          <p:cNvSpPr/>
          <p:nvPr/>
        </p:nvSpPr>
        <p:spPr>
          <a:xfrm>
            <a:off x="18068136" y="5484610"/>
            <a:ext cx="5927875" cy="20753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E2204E7-C5E0-E0F3-D5D7-294E763130B3}"/>
              </a:ext>
            </a:extLst>
          </p:cNvPr>
          <p:cNvSpPr/>
          <p:nvPr/>
        </p:nvSpPr>
        <p:spPr>
          <a:xfrm>
            <a:off x="18099344" y="8915400"/>
            <a:ext cx="5927875" cy="26737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797E78-6C65-2BC5-3E25-5EA926D25AC5}"/>
              </a:ext>
            </a:extLst>
          </p:cNvPr>
          <p:cNvSpPr txBox="1"/>
          <p:nvPr/>
        </p:nvSpPr>
        <p:spPr>
          <a:xfrm>
            <a:off x="2423162" y="11030351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4262E5-2167-C29F-E2AF-738E203D9F6B}"/>
              </a:ext>
            </a:extLst>
          </p:cNvPr>
          <p:cNvSpPr txBox="1"/>
          <p:nvPr/>
        </p:nvSpPr>
        <p:spPr>
          <a:xfrm>
            <a:off x="2430449" y="11639894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9F51D1-C5AD-CD1A-144E-7E10E1BB15A9}"/>
              </a:ext>
            </a:extLst>
          </p:cNvPr>
          <p:cNvSpPr txBox="1"/>
          <p:nvPr/>
        </p:nvSpPr>
        <p:spPr>
          <a:xfrm>
            <a:off x="2418129" y="12242242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D9112D-3D19-3595-4CFD-CB002301D40F}"/>
              </a:ext>
            </a:extLst>
          </p:cNvPr>
          <p:cNvSpPr txBox="1"/>
          <p:nvPr/>
        </p:nvSpPr>
        <p:spPr>
          <a:xfrm>
            <a:off x="2591285" y="9020731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4E41016-CD48-CBE9-FD18-D656D6DD8507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3359936" y="6522302"/>
            <a:ext cx="14708200" cy="224069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53736163-E1B4-0CDF-4646-2664648D12EA}"/>
              </a:ext>
            </a:extLst>
          </p:cNvPr>
          <p:cNvCxnSpPr>
            <a:cxnSpLocks/>
          </p:cNvCxnSpPr>
          <p:nvPr/>
        </p:nvCxnSpPr>
        <p:spPr>
          <a:xfrm flipH="1">
            <a:off x="3399787" y="10288828"/>
            <a:ext cx="14699557" cy="129575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F8B2376-BAB5-5627-27E0-3CF5CC5DF92E}"/>
              </a:ext>
            </a:extLst>
          </p:cNvPr>
          <p:cNvSpPr/>
          <p:nvPr/>
        </p:nvSpPr>
        <p:spPr>
          <a:xfrm>
            <a:off x="533401" y="7718491"/>
            <a:ext cx="1721636" cy="523163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03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C503-E8D7-262C-3D21-693845AE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55EEEED0-C4BD-FD54-35C7-A100D95A29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107F1F7B-D8CA-D396-7D1A-E2A8EB8E40B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8AF4CA-679B-5C9C-42F3-D7DA26D28B86}"/>
              </a:ext>
            </a:extLst>
          </p:cNvPr>
          <p:cNvSpPr txBox="1"/>
          <p:nvPr/>
        </p:nvSpPr>
        <p:spPr>
          <a:xfrm>
            <a:off x="457200" y="2131413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2EAFD0-0A7A-AF2A-D54C-96B1A4AA0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1" y="4876800"/>
            <a:ext cx="24360809" cy="822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036D28-B148-2782-5DE2-21F0947CA01E}"/>
              </a:ext>
            </a:extLst>
          </p:cNvPr>
          <p:cNvSpPr txBox="1"/>
          <p:nvPr/>
        </p:nvSpPr>
        <p:spPr>
          <a:xfrm>
            <a:off x="12210221" y="4853609"/>
            <a:ext cx="343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Funct7 [5] = 1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6144864-9B59-A1CC-CB75-03C9C0971669}"/>
              </a:ext>
            </a:extLst>
          </p:cNvPr>
          <p:cNvCxnSpPr>
            <a:cxnSpLocks/>
          </p:cNvCxnSpPr>
          <p:nvPr/>
        </p:nvCxnSpPr>
        <p:spPr>
          <a:xfrm flipH="1">
            <a:off x="8382001" y="5646241"/>
            <a:ext cx="4876800" cy="1592759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17AA597-DA1B-5506-47B4-4AA1050812B8}"/>
              </a:ext>
            </a:extLst>
          </p:cNvPr>
          <p:cNvCxnSpPr>
            <a:cxnSpLocks/>
          </p:cNvCxnSpPr>
          <p:nvPr/>
        </p:nvCxnSpPr>
        <p:spPr>
          <a:xfrm>
            <a:off x="14401801" y="5646241"/>
            <a:ext cx="4267200" cy="1592759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D7B7868-A605-1D1A-B44A-EA97A6D457A1}"/>
              </a:ext>
            </a:extLst>
          </p:cNvPr>
          <p:cNvSpPr/>
          <p:nvPr/>
        </p:nvSpPr>
        <p:spPr>
          <a:xfrm>
            <a:off x="4412300" y="7262191"/>
            <a:ext cx="19438301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CF8C07-6875-D1FE-0306-F43D180657F5}"/>
              </a:ext>
            </a:extLst>
          </p:cNvPr>
          <p:cNvSpPr/>
          <p:nvPr/>
        </p:nvSpPr>
        <p:spPr>
          <a:xfrm>
            <a:off x="4682650" y="11627239"/>
            <a:ext cx="19438301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134B196-5AD0-6A79-F802-E62226BD835F}"/>
              </a:ext>
            </a:extLst>
          </p:cNvPr>
          <p:cNvCxnSpPr>
            <a:cxnSpLocks/>
          </p:cNvCxnSpPr>
          <p:nvPr/>
        </p:nvCxnSpPr>
        <p:spPr>
          <a:xfrm>
            <a:off x="11734801" y="8663362"/>
            <a:ext cx="0" cy="296387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7B7868-A605-1D1A-B44A-EA97A6D457A1}"/>
              </a:ext>
            </a:extLst>
          </p:cNvPr>
          <p:cNvSpPr/>
          <p:nvPr/>
        </p:nvSpPr>
        <p:spPr>
          <a:xfrm>
            <a:off x="7315201" y="7258477"/>
            <a:ext cx="914400" cy="662362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7B7868-A605-1D1A-B44A-EA97A6D457A1}"/>
              </a:ext>
            </a:extLst>
          </p:cNvPr>
          <p:cNvSpPr/>
          <p:nvPr/>
        </p:nvSpPr>
        <p:spPr>
          <a:xfrm>
            <a:off x="19126201" y="7258477"/>
            <a:ext cx="914400" cy="662362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656223"/>
              </p:ext>
            </p:extLst>
          </p:nvPr>
        </p:nvGraphicFramePr>
        <p:xfrm>
          <a:off x="11582403" y="2564148"/>
          <a:ext cx="12245007" cy="1464168"/>
        </p:xfrm>
        <a:graphic>
          <a:graphicData uri="http://schemas.openxmlformats.org/drawingml/2006/table">
            <a:tbl>
              <a:tblPr/>
              <a:tblGrid>
                <a:gridCol w="1523997">
                  <a:extLst>
                    <a:ext uri="{9D8B030D-6E8A-4147-A177-3AD203B41FA5}">
                      <a16:colId xmlns:a16="http://schemas.microsoft.com/office/drawing/2014/main" val="3082989500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521546800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952057577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7107126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865653831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550650611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735315067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934789092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899212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9733229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650379325"/>
                    </a:ext>
                  </a:extLst>
                </a:gridCol>
              </a:tblGrid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sng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75391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funct7[5]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13922"/>
                  </a:ext>
                </a:extLst>
              </a:tr>
              <a:tr h="550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2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3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4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5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6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7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53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39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9871-27B5-CCDF-D69B-DCCDEC428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6A6C3379-69C2-DA50-8CC0-3F56523550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1C8F6C53-50BD-2C9A-92A2-FBB670B2BEA4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42A7B-8767-3048-2979-F4DB86784C16}"/>
              </a:ext>
            </a:extLst>
          </p:cNvPr>
          <p:cNvSpPr txBox="1"/>
          <p:nvPr/>
        </p:nvSpPr>
        <p:spPr>
          <a:xfrm>
            <a:off x="457200" y="2131413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simulation(ALU)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A2EC640C-D363-666F-2645-409DA4606549}"/>
              </a:ext>
            </a:extLst>
          </p:cNvPr>
          <p:cNvGraphicFramePr>
            <a:graphicFrameLocks noGrp="1"/>
          </p:cNvGraphicFramePr>
          <p:nvPr/>
        </p:nvGraphicFramePr>
        <p:xfrm>
          <a:off x="1078395" y="3276600"/>
          <a:ext cx="4157870" cy="9601239"/>
        </p:xfrm>
        <a:graphic>
          <a:graphicData uri="http://schemas.openxmlformats.org/drawingml/2006/table">
            <a:tbl>
              <a:tblPr/>
              <a:tblGrid>
                <a:gridCol w="546427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7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91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</a:tblGrid>
              <a:tr h="516613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Result(DEX)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ADD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100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-300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SLL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-400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XOR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-172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0885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SRL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1073741799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30782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672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OR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7081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AND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71470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3777D550-FFB5-6213-0C8E-D995104EF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053" y="2919354"/>
            <a:ext cx="16860881" cy="502920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1ECD107-B84D-996F-1450-7D9D857540CA}"/>
              </a:ext>
            </a:extLst>
          </p:cNvPr>
          <p:cNvSpPr/>
          <p:nvPr/>
        </p:nvSpPr>
        <p:spPr>
          <a:xfrm>
            <a:off x="10578547" y="5404384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C96B16-335D-89BB-E13B-468D5A8ACF48}"/>
              </a:ext>
            </a:extLst>
          </p:cNvPr>
          <p:cNvSpPr/>
          <p:nvPr/>
        </p:nvSpPr>
        <p:spPr>
          <a:xfrm>
            <a:off x="13525445" y="5433954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81CEFA-DE7E-4975-383D-8E8B8198F5D1}"/>
              </a:ext>
            </a:extLst>
          </p:cNvPr>
          <p:cNvSpPr/>
          <p:nvPr/>
        </p:nvSpPr>
        <p:spPr>
          <a:xfrm>
            <a:off x="18399441" y="5453585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EB1CAE-58E2-AFE2-0F8F-43E2999CA554}"/>
              </a:ext>
            </a:extLst>
          </p:cNvPr>
          <p:cNvSpPr/>
          <p:nvPr/>
        </p:nvSpPr>
        <p:spPr>
          <a:xfrm>
            <a:off x="15986582" y="5453585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5D5D82-2C33-92D6-877B-53EC1F269AFA}"/>
              </a:ext>
            </a:extLst>
          </p:cNvPr>
          <p:cNvSpPr/>
          <p:nvPr/>
        </p:nvSpPr>
        <p:spPr>
          <a:xfrm>
            <a:off x="20812300" y="5417142"/>
            <a:ext cx="1726096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30E15E5-3E90-3FB3-B640-030A8F31F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305" y="8763000"/>
            <a:ext cx="16860881" cy="4495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ADE7F42-F479-541A-1DDA-A3981E475159}"/>
              </a:ext>
            </a:extLst>
          </p:cNvPr>
          <p:cNvSpPr txBox="1"/>
          <p:nvPr/>
        </p:nvSpPr>
        <p:spPr>
          <a:xfrm>
            <a:off x="6004435" y="2144665"/>
            <a:ext cx="540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 ADD ~ SLTU</a:t>
            </a:r>
            <a:endParaRPr lang="ko-KR" altLang="en-US" sz="4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2B189C-38F1-DEFC-E5F9-ADCF633C7687}"/>
              </a:ext>
            </a:extLst>
          </p:cNvPr>
          <p:cNvSpPr txBox="1"/>
          <p:nvPr/>
        </p:nvSpPr>
        <p:spPr>
          <a:xfrm>
            <a:off x="5958053" y="8008460"/>
            <a:ext cx="540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 XOR ~ AND</a:t>
            </a:r>
            <a:endParaRPr lang="ko-KR" altLang="en-US" sz="4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933543-2EBA-B688-F917-9305A1D5EA6E}"/>
              </a:ext>
            </a:extLst>
          </p:cNvPr>
          <p:cNvSpPr/>
          <p:nvPr/>
        </p:nvSpPr>
        <p:spPr>
          <a:xfrm>
            <a:off x="1045570" y="4752999"/>
            <a:ext cx="4190694" cy="40100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94D141-25DC-E347-2BB8-EF5D7E2265F9}"/>
              </a:ext>
            </a:extLst>
          </p:cNvPr>
          <p:cNvSpPr/>
          <p:nvPr/>
        </p:nvSpPr>
        <p:spPr>
          <a:xfrm>
            <a:off x="1045570" y="8795541"/>
            <a:ext cx="4190694" cy="4082298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641C12B-5B8F-05B4-E39D-2D9BEFA83B3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236264" y="5433955"/>
            <a:ext cx="721789" cy="7382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F6A911A-6D43-8110-7AD6-10BBAEDDCB96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269393" y="10844155"/>
            <a:ext cx="701912" cy="166745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6AC4AEF-A197-FA74-15CC-74983CD8FF7D}"/>
              </a:ext>
            </a:extLst>
          </p:cNvPr>
          <p:cNvSpPr/>
          <p:nvPr/>
        </p:nvSpPr>
        <p:spPr>
          <a:xfrm>
            <a:off x="13258799" y="11010900"/>
            <a:ext cx="1142945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561440-776C-533D-B80D-CCEBBA28B3A9}"/>
              </a:ext>
            </a:extLst>
          </p:cNvPr>
          <p:cNvSpPr/>
          <p:nvPr/>
        </p:nvSpPr>
        <p:spPr>
          <a:xfrm>
            <a:off x="15103656" y="11027465"/>
            <a:ext cx="1431744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D7FE6D6-E1DD-88F9-B775-CABDC50A4F30}"/>
              </a:ext>
            </a:extLst>
          </p:cNvPr>
          <p:cNvSpPr/>
          <p:nvPr/>
        </p:nvSpPr>
        <p:spPr>
          <a:xfrm>
            <a:off x="17449800" y="11000961"/>
            <a:ext cx="978750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F4816DC-6279-0E48-C434-0B1129631C3E}"/>
              </a:ext>
            </a:extLst>
          </p:cNvPr>
          <p:cNvSpPr/>
          <p:nvPr/>
        </p:nvSpPr>
        <p:spPr>
          <a:xfrm>
            <a:off x="19431000" y="11027465"/>
            <a:ext cx="978750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9066807-5EA9-51B7-B47A-F7F08945935B}"/>
              </a:ext>
            </a:extLst>
          </p:cNvPr>
          <p:cNvSpPr/>
          <p:nvPr/>
        </p:nvSpPr>
        <p:spPr>
          <a:xfrm>
            <a:off x="21397191" y="11010899"/>
            <a:ext cx="978750" cy="1401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2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20DA-B81F-E709-67AE-1A419CC7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2DCE1584-4F81-4BD3-CD0C-3AC3010A6C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61239A2-B871-9A9D-23BC-D133E39176D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AF3956-7514-67A3-6148-1DC684D2CD24}"/>
              </a:ext>
            </a:extLst>
          </p:cNvPr>
          <p:cNvSpPr txBox="1"/>
          <p:nvPr/>
        </p:nvSpPr>
        <p:spPr>
          <a:xfrm>
            <a:off x="457200" y="2131413"/>
            <a:ext cx="746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simulation(INSTR mem &amp; PC)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9E902D8-C3DD-C5C4-6265-3967B5E49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16" y="2940610"/>
            <a:ext cx="23515983" cy="1039439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C91A02-05BC-F698-AE2D-B5E5CE1395D8}"/>
              </a:ext>
            </a:extLst>
          </p:cNvPr>
          <p:cNvSpPr/>
          <p:nvPr/>
        </p:nvSpPr>
        <p:spPr>
          <a:xfrm>
            <a:off x="3505202" y="5562600"/>
            <a:ext cx="20497798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C187AD-2166-4A58-1D2B-1AE110423D08}"/>
              </a:ext>
            </a:extLst>
          </p:cNvPr>
          <p:cNvSpPr/>
          <p:nvPr/>
        </p:nvSpPr>
        <p:spPr>
          <a:xfrm>
            <a:off x="3505201" y="11643558"/>
            <a:ext cx="20497797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612641-56BD-F782-265F-16C4834EF1DF}"/>
              </a:ext>
            </a:extLst>
          </p:cNvPr>
          <p:cNvSpPr txBox="1"/>
          <p:nvPr/>
        </p:nvSpPr>
        <p:spPr>
          <a:xfrm>
            <a:off x="8686800" y="8823761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PC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+ 4 </a:t>
            </a:r>
            <a:r>
              <a:rPr lang="ko-KR" altLang="en-US" sz="4000" dirty="0">
                <a:highlight>
                  <a:srgbClr val="FFFF00"/>
                </a:highlight>
              </a:rPr>
              <a:t>출력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F58339B-05FD-D962-55C3-5D77AF4F34FD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020300" y="9531647"/>
            <a:ext cx="0" cy="21119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B1A816-8418-723B-06E7-72EF5E97EDFA}"/>
              </a:ext>
            </a:extLst>
          </p:cNvPr>
          <p:cNvSpPr txBox="1"/>
          <p:nvPr/>
        </p:nvSpPr>
        <p:spPr>
          <a:xfrm>
            <a:off x="12420600" y="3862877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+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r>
              <a:rPr lang="ko-KR" altLang="en-US" sz="4000" dirty="0">
                <a:highlight>
                  <a:srgbClr val="FFFF00"/>
                </a:highlight>
              </a:rPr>
              <a:t>씩 증가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29D83E6-D9D8-35EB-0B75-1B3B7E35FEF6}"/>
              </a:ext>
            </a:extLst>
          </p:cNvPr>
          <p:cNvCxnSpPr>
            <a:cxnSpLocks/>
          </p:cNvCxnSpPr>
          <p:nvPr/>
        </p:nvCxnSpPr>
        <p:spPr>
          <a:xfrm flipH="1">
            <a:off x="14135100" y="4506644"/>
            <a:ext cx="114300" cy="105595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4BEA26F-585B-8B8F-27A3-618D5C42C674}"/>
              </a:ext>
            </a:extLst>
          </p:cNvPr>
          <p:cNvCxnSpPr>
            <a:cxnSpLocks/>
          </p:cNvCxnSpPr>
          <p:nvPr/>
        </p:nvCxnSpPr>
        <p:spPr>
          <a:xfrm flipV="1">
            <a:off x="13868400" y="6201771"/>
            <a:ext cx="115127" cy="544178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CBF0334-481B-C63B-9C3C-B77C774C7410}"/>
              </a:ext>
            </a:extLst>
          </p:cNvPr>
          <p:cNvSpPr txBox="1"/>
          <p:nvPr/>
        </p:nvSpPr>
        <p:spPr>
          <a:xfrm>
            <a:off x="14178998" y="8651360"/>
            <a:ext cx="2319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O_pc</a:t>
            </a:r>
            <a:r>
              <a:rPr lang="en-US" altLang="ko-KR" sz="4000" dirty="0">
                <a:highlight>
                  <a:srgbClr val="FFFF00"/>
                </a:highlight>
              </a:rPr>
              <a:t>[31:2]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2236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D91B-C3CB-0025-989B-2F4A13DD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A9AFBA95-237C-6AF1-1BE2-1E43950AE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70" y="2373399"/>
            <a:ext cx="11302334" cy="9728161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8EDCEE28-8E74-CC3D-B982-C27881ADB0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7F36D86-FB21-5573-82A5-755A82FD2F88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96331-D1FB-ACD7-71EB-380C942C54C9}"/>
              </a:ext>
            </a:extLst>
          </p:cNvPr>
          <p:cNvSpPr txBox="1"/>
          <p:nvPr/>
        </p:nvSpPr>
        <p:spPr>
          <a:xfrm>
            <a:off x="162339" y="2248029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6751FF-0F5C-57C8-F7A2-611B0D7B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904389"/>
              </p:ext>
            </p:extLst>
          </p:nvPr>
        </p:nvGraphicFramePr>
        <p:xfrm>
          <a:off x="1563577" y="1224267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0E55E4A-86B2-AE05-9DEA-294879121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911893"/>
              </p:ext>
            </p:extLst>
          </p:nvPr>
        </p:nvGraphicFramePr>
        <p:xfrm>
          <a:off x="13851309" y="2819400"/>
          <a:ext cx="7381460" cy="8249325"/>
        </p:xfrm>
        <a:graphic>
          <a:graphicData uri="http://schemas.openxmlformats.org/drawingml/2006/table">
            <a:tbl>
              <a:tblPr/>
              <a:tblGrid>
                <a:gridCol w="2952584">
                  <a:extLst>
                    <a:ext uri="{9D8B030D-6E8A-4147-A177-3AD203B41FA5}">
                      <a16:colId xmlns:a16="http://schemas.microsoft.com/office/drawing/2014/main" val="870163477"/>
                    </a:ext>
                  </a:extLst>
                </a:gridCol>
                <a:gridCol w="1476292">
                  <a:extLst>
                    <a:ext uri="{9D8B030D-6E8A-4147-A177-3AD203B41FA5}">
                      <a16:colId xmlns:a16="http://schemas.microsoft.com/office/drawing/2014/main" val="306369564"/>
                    </a:ext>
                  </a:extLst>
                </a:gridCol>
                <a:gridCol w="2952584">
                  <a:extLst>
                    <a:ext uri="{9D8B030D-6E8A-4147-A177-3AD203B41FA5}">
                      <a16:colId xmlns:a16="http://schemas.microsoft.com/office/drawing/2014/main" val="1666020689"/>
                    </a:ext>
                  </a:extLst>
                </a:gridCol>
              </a:tblGrid>
              <a:tr h="738636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26050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472738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7813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839623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052598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SLL,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SRL,SRA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0,funct7[5],funct3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991472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other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0,0,funct3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924779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43525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48240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666544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32263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1EA170E-6102-9348-2B09-F47D8010B46F}"/>
              </a:ext>
            </a:extLst>
          </p:cNvPr>
          <p:cNvSpPr txBox="1"/>
          <p:nvPr/>
        </p:nvSpPr>
        <p:spPr>
          <a:xfrm>
            <a:off x="4626970" y="4055299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32B598-43DD-666E-2FA1-2493971F9721}"/>
              </a:ext>
            </a:extLst>
          </p:cNvPr>
          <p:cNvSpPr txBox="1"/>
          <p:nvPr/>
        </p:nvSpPr>
        <p:spPr>
          <a:xfrm>
            <a:off x="5773283" y="409779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27AD9B-E058-BFAD-BA94-EBF258B27BDB}"/>
              </a:ext>
            </a:extLst>
          </p:cNvPr>
          <p:cNvSpPr txBox="1"/>
          <p:nvPr/>
        </p:nvSpPr>
        <p:spPr>
          <a:xfrm>
            <a:off x="9205596" y="4097795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F27317-F3D2-BF9A-14DE-5856CE4253CF}"/>
              </a:ext>
            </a:extLst>
          </p:cNvPr>
          <p:cNvSpPr txBox="1"/>
          <p:nvPr/>
        </p:nvSpPr>
        <p:spPr>
          <a:xfrm>
            <a:off x="6760570" y="4111047"/>
            <a:ext cx="2062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alu_ctrl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0042B8-78EE-2C43-E468-0F85B2C6F9E4}"/>
              </a:ext>
            </a:extLst>
          </p:cNvPr>
          <p:cNvSpPr txBox="1"/>
          <p:nvPr/>
        </p:nvSpPr>
        <p:spPr>
          <a:xfrm>
            <a:off x="2569570" y="9008299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7D407-F148-2D83-9F36-0900C146E0C5}"/>
              </a:ext>
            </a:extLst>
          </p:cNvPr>
          <p:cNvSpPr txBox="1"/>
          <p:nvPr/>
        </p:nvSpPr>
        <p:spPr>
          <a:xfrm>
            <a:off x="5236570" y="7865299"/>
            <a:ext cx="2935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ALU_result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445426"/>
              </p:ext>
            </p:extLst>
          </p:nvPr>
        </p:nvGraphicFramePr>
        <p:xfrm>
          <a:off x="1563577" y="13020565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2439624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shift </a:t>
                      </a:r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err="1" smtClean="0"/>
                        <a:t>shamt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326474" y="6528563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/>
              <a:t>shift  </a:t>
            </a:r>
            <a:r>
              <a:rPr lang="ko-KR" altLang="en-US" sz="2400" b="1" dirty="0" smtClean="0"/>
              <a:t>명령어</a:t>
            </a:r>
            <a:r>
              <a:rPr lang="en-US" altLang="ko-KR" sz="2400" b="1" dirty="0" smtClean="0"/>
              <a:t>:</a:t>
            </a:r>
          </a:p>
          <a:p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funct7[5]</a:t>
            </a:r>
            <a:r>
              <a:rPr lang="ko-KR" altLang="en-US" sz="2400" b="1" dirty="0" smtClean="0"/>
              <a:t>의해 동작</a:t>
            </a:r>
            <a:endParaRPr lang="ko-KR" alt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1309998" y="7341025"/>
            <a:ext cx="3074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/>
              <a:t>other </a:t>
            </a:r>
            <a:r>
              <a:rPr lang="ko-KR" altLang="en-US" sz="2400" b="1" dirty="0" smtClean="0"/>
              <a:t>명령어</a:t>
            </a:r>
            <a:r>
              <a:rPr lang="en-US" altLang="ko-KR" sz="2400" b="1" dirty="0" smtClean="0"/>
              <a:t>:</a:t>
            </a:r>
          </a:p>
          <a:p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funct7[5] </a:t>
            </a:r>
            <a:r>
              <a:rPr lang="ko-KR" altLang="en-US" sz="2400" b="1" dirty="0" smtClean="0"/>
              <a:t>관계없음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4175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D91B-C3CB-0025-989B-2F4A13DD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8EDCEE28-8E74-CC3D-B982-C27881ADB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7F36D86-FB21-5573-82A5-755A82FD2F88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6751FF-0F5C-57C8-F7A2-611B0D7B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923151"/>
              </p:ext>
            </p:extLst>
          </p:nvPr>
        </p:nvGraphicFramePr>
        <p:xfrm>
          <a:off x="1828801" y="105156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I-type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94362"/>
              </p:ext>
            </p:extLst>
          </p:nvPr>
        </p:nvGraphicFramePr>
        <p:xfrm>
          <a:off x="1828801" y="114300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2439624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I - shift </a:t>
                      </a:r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err="1" smtClean="0"/>
                        <a:t>shamt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877961"/>
              </p:ext>
            </p:extLst>
          </p:nvPr>
        </p:nvGraphicFramePr>
        <p:xfrm>
          <a:off x="4419600" y="3124200"/>
          <a:ext cx="14554204" cy="3657600"/>
        </p:xfrm>
        <a:graphic>
          <a:graphicData uri="http://schemas.openxmlformats.org/drawingml/2006/table">
            <a:tbl>
              <a:tblPr/>
              <a:tblGrid>
                <a:gridCol w="1985209">
                  <a:extLst>
                    <a:ext uri="{9D8B030D-6E8A-4147-A177-3AD203B41FA5}">
                      <a16:colId xmlns:a16="http://schemas.microsoft.com/office/drawing/2014/main" val="3082989500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2521546800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710712659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2865653831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3550650611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735315067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3934789092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389921259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2973322959"/>
                    </a:ext>
                  </a:extLst>
                </a:gridCol>
                <a:gridCol w="1396555">
                  <a:extLst>
                    <a:ext uri="{9D8B030D-6E8A-4147-A177-3AD203B41FA5}">
                      <a16:colId xmlns:a16="http://schemas.microsoft.com/office/drawing/2014/main" val="3650379325"/>
                    </a:ext>
                  </a:extLst>
                </a:gridCol>
              </a:tblGrid>
              <a:tr h="1141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sng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75391"/>
                  </a:ext>
                </a:extLst>
              </a:tr>
              <a:tr h="1141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funct7[5]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0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x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0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1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x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13922"/>
                  </a:ext>
                </a:extLst>
              </a:tr>
              <a:tr h="13753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3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3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1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2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3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4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5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6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dirty="0" smtClean="0"/>
                        <a:t>7</a:t>
                      </a:r>
                      <a:endParaRPr lang="ko-KR" altLang="en-US" sz="36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53512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962400" y="7642110"/>
            <a:ext cx="18059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4400" dirty="0" smtClean="0"/>
              <a:t>Rs1, </a:t>
            </a:r>
            <a:r>
              <a:rPr lang="ko-KR" altLang="en-US" sz="4400" dirty="0" smtClean="0"/>
              <a:t>상수 </a:t>
            </a:r>
            <a:r>
              <a:rPr lang="en-US" altLang="ko-KR" sz="4400" dirty="0" err="1" smtClean="0"/>
              <a:t>imm</a:t>
            </a:r>
            <a:r>
              <a:rPr lang="ko-KR" altLang="en-US" sz="4400" dirty="0" smtClean="0"/>
              <a:t>을 산술 연산하는 명령어</a:t>
            </a:r>
            <a:endParaRPr lang="en-US" altLang="ko-KR" sz="4400" dirty="0" smtClean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4400" dirty="0" smtClean="0"/>
              <a:t>shift </a:t>
            </a:r>
            <a:r>
              <a:rPr lang="ko-KR" altLang="en-US" sz="4400" dirty="0" smtClean="0"/>
              <a:t>연산자 이외의 명령어는 </a:t>
            </a:r>
            <a:r>
              <a:rPr lang="en-US" altLang="ko-KR" sz="4400" dirty="0" smtClean="0"/>
              <a:t>Funct3, Funct7</a:t>
            </a:r>
            <a:r>
              <a:rPr lang="ko-KR" altLang="en-US" sz="4400" dirty="0" smtClean="0"/>
              <a:t>에 의해 결정</a:t>
            </a:r>
            <a:endParaRPr lang="en-US" altLang="ko-KR" sz="4400" dirty="0" smtClean="0"/>
          </a:p>
        </p:txBody>
      </p:sp>
    </p:spTree>
    <p:extLst>
      <p:ext uri="{BB962C8B-B14F-4D97-AF65-F5344CB8AC3E}">
        <p14:creationId xmlns:p14="http://schemas.microsoft.com/office/powerpoint/2010/main" val="321546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26DD7-E547-4AE5-B7F6-583F6B7B0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519F53E-FFDD-CD3C-B35E-9730713A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86" y="2372493"/>
            <a:ext cx="11302334" cy="9728161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A888B5E8-F5D6-462E-9CDD-2FECC36A1F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722A937-64CA-FB78-BF9D-88DFBDCBB165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DF9D4D-6003-F0C6-0B7F-E108A17A7BE0}"/>
              </a:ext>
            </a:extLst>
          </p:cNvPr>
          <p:cNvSpPr txBox="1"/>
          <p:nvPr/>
        </p:nvSpPr>
        <p:spPr>
          <a:xfrm>
            <a:off x="464625" y="2365867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679785"/>
              </p:ext>
            </p:extLst>
          </p:nvPr>
        </p:nvGraphicFramePr>
        <p:xfrm>
          <a:off x="1600200" y="122682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24F7FB6-6890-3A79-EA02-490A7C2B9F53}"/>
              </a:ext>
            </a:extLst>
          </p:cNvPr>
          <p:cNvSpPr txBox="1"/>
          <p:nvPr/>
        </p:nvSpPr>
        <p:spPr>
          <a:xfrm>
            <a:off x="5562600" y="4114800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68C5BB-6735-BC85-EA13-9BD39045FF40}"/>
              </a:ext>
            </a:extLst>
          </p:cNvPr>
          <p:cNvSpPr txBox="1"/>
          <p:nvPr/>
        </p:nvSpPr>
        <p:spPr>
          <a:xfrm>
            <a:off x="6708913" y="4157296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F040C7-D4E7-E33D-61AE-B5959F12649C}"/>
              </a:ext>
            </a:extLst>
          </p:cNvPr>
          <p:cNvSpPr txBox="1"/>
          <p:nvPr/>
        </p:nvSpPr>
        <p:spPr>
          <a:xfrm>
            <a:off x="10141226" y="4157296"/>
            <a:ext cx="60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DE988-3844-9BBD-115B-DEB15FE2BE00}"/>
              </a:ext>
            </a:extLst>
          </p:cNvPr>
          <p:cNvSpPr txBox="1"/>
          <p:nvPr/>
        </p:nvSpPr>
        <p:spPr>
          <a:xfrm>
            <a:off x="7696200" y="4170548"/>
            <a:ext cx="2062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alu_ctrl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E715FF-36C7-6B25-A6B1-4C6E3AF16E17}"/>
              </a:ext>
            </a:extLst>
          </p:cNvPr>
          <p:cNvSpPr txBox="1"/>
          <p:nvPr/>
        </p:nvSpPr>
        <p:spPr>
          <a:xfrm>
            <a:off x="3505200" y="90678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2A298E-5A1D-B51A-2940-7B1F3427FB64}"/>
              </a:ext>
            </a:extLst>
          </p:cNvPr>
          <p:cNvSpPr txBox="1"/>
          <p:nvPr/>
        </p:nvSpPr>
        <p:spPr>
          <a:xfrm>
            <a:off x="6172200" y="7924800"/>
            <a:ext cx="2935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ALU_result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A334EF0-0E28-30A2-1379-DEAAF4AC0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96911"/>
              </p:ext>
            </p:extLst>
          </p:nvPr>
        </p:nvGraphicFramePr>
        <p:xfrm>
          <a:off x="12973355" y="4568789"/>
          <a:ext cx="10711995" cy="4996725"/>
        </p:xfrm>
        <a:graphic>
          <a:graphicData uri="http://schemas.openxmlformats.org/drawingml/2006/table">
            <a:tbl>
              <a:tblPr/>
              <a:tblGrid>
                <a:gridCol w="852423">
                  <a:extLst>
                    <a:ext uri="{9D8B030D-6E8A-4147-A177-3AD203B41FA5}">
                      <a16:colId xmlns:a16="http://schemas.microsoft.com/office/drawing/2014/main" val="1686743289"/>
                    </a:ext>
                  </a:extLst>
                </a:gridCol>
                <a:gridCol w="1221551">
                  <a:extLst>
                    <a:ext uri="{9D8B030D-6E8A-4147-A177-3AD203B41FA5}">
                      <a16:colId xmlns:a16="http://schemas.microsoft.com/office/drawing/2014/main" val="16940635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419310636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26078962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781578471"/>
                    </a:ext>
                  </a:extLst>
                </a:gridCol>
                <a:gridCol w="969820">
                  <a:extLst>
                    <a:ext uri="{9D8B030D-6E8A-4147-A177-3AD203B41FA5}">
                      <a16:colId xmlns:a16="http://schemas.microsoft.com/office/drawing/2014/main" val="278234494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331381186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943807607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3290620688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854034735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1581163607"/>
                    </a:ext>
                  </a:extLst>
                </a:gridCol>
              </a:tblGrid>
              <a:tr h="0">
                <a:tc grid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25733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ALU_control</a:t>
                      </a: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431460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997346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[3]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[5]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797199"/>
                  </a:ext>
                </a:extLst>
              </a:tr>
              <a:tr h="550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[2:0]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2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3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4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5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6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7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229480"/>
                  </a:ext>
                </a:extLst>
              </a:tr>
              <a:tr h="456794">
                <a:tc grid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sng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67740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+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a&lt;&lt;b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(a&lt;b)?1:0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(a&lt;b)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^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a&gt;&gt;b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a&gt;&gt;&gt;b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|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&amp;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980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igned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sng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972612"/>
                  </a:ext>
                </a:extLst>
              </a:tr>
              <a:tr h="45679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lang="en-US" sz="2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_taken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40286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558271"/>
              </p:ext>
            </p:extLst>
          </p:nvPr>
        </p:nvGraphicFramePr>
        <p:xfrm>
          <a:off x="1563577" y="13020565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2439624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shift </a:t>
                      </a:r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err="1" smtClean="0"/>
                        <a:t>shamt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77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AAFF-68E7-F54E-6E89-AE5D3608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0355574-0FCC-5036-A4D1-ACF0410941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6E8398E8-0F05-C33E-E3D4-A165ADDBD96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13069-46EF-3256-DD78-0D1B201613AE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9DD0C284-195D-5AC8-BF6A-CABB2EE36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95054"/>
              </p:ext>
            </p:extLst>
          </p:nvPr>
        </p:nvGraphicFramePr>
        <p:xfrm>
          <a:off x="1514128" y="4572000"/>
          <a:ext cx="11668471" cy="5056883"/>
        </p:xfrm>
        <a:graphic>
          <a:graphicData uri="http://schemas.openxmlformats.org/drawingml/2006/table">
            <a:tbl>
              <a:tblPr/>
              <a:tblGrid>
                <a:gridCol w="1000472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  <a:gridCol w="4267199">
                  <a:extLst>
                    <a:ext uri="{9D8B030D-6E8A-4147-A177-3AD203B41FA5}">
                      <a16:colId xmlns:a16="http://schemas.microsoft.com/office/drawing/2014/main" val="439004716"/>
                    </a:ext>
                  </a:extLst>
                </a:gridCol>
              </a:tblGrid>
              <a:tr h="2499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name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/>
                        <a:t>용도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rs1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Full case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rs2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200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Shfit</a:t>
                      </a:r>
                      <a:r>
                        <a:rPr lang="en-US" sz="3600" dirty="0"/>
                        <a:t> </a:t>
                      </a:r>
                      <a:r>
                        <a:rPr lang="ko-KR" altLang="en-US" sz="3600" dirty="0"/>
                        <a:t>연산을 제외한 나머지 </a:t>
                      </a:r>
                      <a:r>
                        <a:rPr lang="en-US" altLang="ko-KR" sz="3600" dirty="0"/>
                        <a:t>case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Shfit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SLTI,SLTUI,SRLI,SRAI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rd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Alu_result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</a:tbl>
          </a:graphicData>
        </a:graphic>
      </p:graphicFrame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F3A3472B-28E5-5EF0-C528-B04F961C8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742935"/>
              </p:ext>
            </p:extLst>
          </p:nvPr>
        </p:nvGraphicFramePr>
        <p:xfrm>
          <a:off x="14249400" y="2577594"/>
          <a:ext cx="6553201" cy="7991181"/>
        </p:xfrm>
        <a:graphic>
          <a:graphicData uri="http://schemas.openxmlformats.org/drawingml/2006/table">
            <a:tbl>
              <a:tblPr/>
              <a:tblGrid>
                <a:gridCol w="990373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</a:tblGrid>
              <a:tr h="53719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Result(DEX)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ADDI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100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SLTUI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XORI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-172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0885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ORI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30782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ANDI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672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SRLI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1073741799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7081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SRAI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7147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445324"/>
              </p:ext>
            </p:extLst>
          </p:nvPr>
        </p:nvGraphicFramePr>
        <p:xfrm>
          <a:off x="1600200" y="1226820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3D01EA4-95B1-7B58-72F6-B07518898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445257"/>
              </p:ext>
            </p:extLst>
          </p:nvPr>
        </p:nvGraphicFramePr>
        <p:xfrm>
          <a:off x="1563577" y="13020565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2439624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shift </a:t>
                      </a:r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/>
                        <a:t>funct7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err="1" smtClean="0"/>
                        <a:t>shamt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61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EB64-EB0C-D5C5-9179-713D294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CE0125A-D69E-A649-84D0-28BA8907F8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8D0F978-3614-8DF0-D82A-838F46FBC421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4BB3B1-7977-BBA3-99BC-75943423CA89}"/>
              </a:ext>
            </a:extLst>
          </p:cNvPr>
          <p:cNvSpPr txBox="1"/>
          <p:nvPr/>
        </p:nvSpPr>
        <p:spPr>
          <a:xfrm>
            <a:off x="1305339" y="2426274"/>
            <a:ext cx="6009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5A4364-FBBB-AF9D-1969-4BAA21D781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786"/>
          <a:stretch>
            <a:fillRect/>
          </a:stretch>
        </p:blipFill>
        <p:spPr>
          <a:xfrm>
            <a:off x="457200" y="3173944"/>
            <a:ext cx="14859000" cy="10514404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C55A0D1-8E2E-0ED4-5D84-F88779661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489515"/>
              </p:ext>
            </p:extLst>
          </p:nvPr>
        </p:nvGraphicFramePr>
        <p:xfrm>
          <a:off x="15830115" y="3568100"/>
          <a:ext cx="7381460" cy="8249325"/>
        </p:xfrm>
        <a:graphic>
          <a:graphicData uri="http://schemas.openxmlformats.org/drawingml/2006/table">
            <a:tbl>
              <a:tblPr/>
              <a:tblGrid>
                <a:gridCol w="2952584">
                  <a:extLst>
                    <a:ext uri="{9D8B030D-6E8A-4147-A177-3AD203B41FA5}">
                      <a16:colId xmlns:a16="http://schemas.microsoft.com/office/drawing/2014/main" val="870163477"/>
                    </a:ext>
                  </a:extLst>
                </a:gridCol>
                <a:gridCol w="1476292">
                  <a:extLst>
                    <a:ext uri="{9D8B030D-6E8A-4147-A177-3AD203B41FA5}">
                      <a16:colId xmlns:a16="http://schemas.microsoft.com/office/drawing/2014/main" val="306369564"/>
                    </a:ext>
                  </a:extLst>
                </a:gridCol>
                <a:gridCol w="2952584">
                  <a:extLst>
                    <a:ext uri="{9D8B030D-6E8A-4147-A177-3AD203B41FA5}">
                      <a16:colId xmlns:a16="http://schemas.microsoft.com/office/drawing/2014/main" val="1666020689"/>
                    </a:ext>
                  </a:extLst>
                </a:gridCol>
              </a:tblGrid>
              <a:tr h="738636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26050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472738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7813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839623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052598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SRL,SRA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0,funct7[5],funct3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991472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other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0,0,funct3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924779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43525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48240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666544"/>
                  </a:ext>
                </a:extLst>
              </a:tr>
              <a:tr h="7386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3226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DE5926-D763-6131-7D32-8447FE36CE1B}"/>
              </a:ext>
            </a:extLst>
          </p:cNvPr>
          <p:cNvSpPr txBox="1"/>
          <p:nvPr/>
        </p:nvSpPr>
        <p:spPr>
          <a:xfrm>
            <a:off x="2400300" y="7597914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0E703-9346-128B-F42F-B7AB05CE515D}"/>
              </a:ext>
            </a:extLst>
          </p:cNvPr>
          <p:cNvSpPr txBox="1"/>
          <p:nvPr/>
        </p:nvSpPr>
        <p:spPr>
          <a:xfrm>
            <a:off x="2586506" y="9113632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1332BE-2753-5862-F9CD-B2CFCE0C31D0}"/>
              </a:ext>
            </a:extLst>
          </p:cNvPr>
          <p:cNvSpPr txBox="1"/>
          <p:nvPr/>
        </p:nvSpPr>
        <p:spPr>
          <a:xfrm>
            <a:off x="2770355" y="8431146"/>
            <a:ext cx="593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1C4EB-5B72-76A4-DA61-9996ACCFA01A}"/>
              </a:ext>
            </a:extLst>
          </p:cNvPr>
          <p:cNvSpPr txBox="1"/>
          <p:nvPr/>
        </p:nvSpPr>
        <p:spPr>
          <a:xfrm>
            <a:off x="2586506" y="10504004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9EAAD1-766B-6686-66B2-5A7DD202BA05}"/>
              </a:ext>
            </a:extLst>
          </p:cNvPr>
          <p:cNvSpPr txBox="1"/>
          <p:nvPr/>
        </p:nvSpPr>
        <p:spPr>
          <a:xfrm>
            <a:off x="2586506" y="11203054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CD8F2-D83A-5540-6EF3-7810BD5BA9E9}"/>
              </a:ext>
            </a:extLst>
          </p:cNvPr>
          <p:cNvSpPr txBox="1"/>
          <p:nvPr/>
        </p:nvSpPr>
        <p:spPr>
          <a:xfrm>
            <a:off x="2586506" y="12772837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C1028E-CD8F-74EC-B78D-8A96DF63CBF3}"/>
              </a:ext>
            </a:extLst>
          </p:cNvPr>
          <p:cNvSpPr txBox="1"/>
          <p:nvPr/>
        </p:nvSpPr>
        <p:spPr>
          <a:xfrm>
            <a:off x="2564131" y="12014467"/>
            <a:ext cx="777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B76D67-6A31-DB3A-B4A6-192FE56A22B4}"/>
              </a:ext>
            </a:extLst>
          </p:cNvPr>
          <p:cNvSpPr/>
          <p:nvPr/>
        </p:nvSpPr>
        <p:spPr>
          <a:xfrm>
            <a:off x="15873767" y="5103298"/>
            <a:ext cx="7337808" cy="21224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F39077-546B-6FB9-B465-08FF52EA5444}"/>
              </a:ext>
            </a:extLst>
          </p:cNvPr>
          <p:cNvSpPr/>
          <p:nvPr/>
        </p:nvSpPr>
        <p:spPr>
          <a:xfrm>
            <a:off x="15851941" y="8812296"/>
            <a:ext cx="7337808" cy="2880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B6B076C-0FBA-8302-8665-72932D17DF98}"/>
              </a:ext>
            </a:extLst>
          </p:cNvPr>
          <p:cNvCxnSpPr>
            <a:cxnSpLocks/>
          </p:cNvCxnSpPr>
          <p:nvPr/>
        </p:nvCxnSpPr>
        <p:spPr>
          <a:xfrm flipH="1">
            <a:off x="3505200" y="6118086"/>
            <a:ext cx="12324915" cy="269421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1D36A58-9DFD-6E6C-7F74-88E98C3E142B}"/>
              </a:ext>
            </a:extLst>
          </p:cNvPr>
          <p:cNvCxnSpPr>
            <a:cxnSpLocks/>
          </p:cNvCxnSpPr>
          <p:nvPr/>
        </p:nvCxnSpPr>
        <p:spPr>
          <a:xfrm flipH="1">
            <a:off x="3657600" y="10121147"/>
            <a:ext cx="12150689" cy="178979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8E53C3-AF15-8942-6658-4FD88AE0B328}"/>
              </a:ext>
            </a:extLst>
          </p:cNvPr>
          <p:cNvSpPr/>
          <p:nvPr/>
        </p:nvSpPr>
        <p:spPr>
          <a:xfrm>
            <a:off x="533400" y="7454605"/>
            <a:ext cx="2030731" cy="602611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55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87A6-B024-278C-A785-E2D12698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986348BA-5671-1683-FE73-D0F2BD987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ADDF8C5-08FE-63BB-F29C-DF93F4268FD4}"/>
              </a:ext>
            </a:extLst>
          </p:cNvPr>
          <p:cNvSpPr txBox="1"/>
          <p:nvPr/>
        </p:nvSpPr>
        <p:spPr>
          <a:xfrm>
            <a:off x="1295399" y="609600"/>
            <a:ext cx="16306801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방식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F5945-2A79-9B91-9073-71E394A61514}"/>
              </a:ext>
            </a:extLst>
          </p:cNvPr>
          <p:cNvSpPr txBox="1"/>
          <p:nvPr/>
        </p:nvSpPr>
        <p:spPr>
          <a:xfrm>
            <a:off x="1305339" y="2426274"/>
            <a:ext cx="60098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Unit)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2EFE829-592F-2F12-8F8A-D0528B213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1863"/>
            <a:ext cx="24407191" cy="934413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6B0C46C-DE15-372E-71EA-742AB1DA505A}"/>
              </a:ext>
            </a:extLst>
          </p:cNvPr>
          <p:cNvSpPr/>
          <p:nvPr/>
        </p:nvSpPr>
        <p:spPr>
          <a:xfrm>
            <a:off x="3962400" y="12313920"/>
            <a:ext cx="12954000" cy="85119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292C61-3235-92F7-348C-C0DCAF3ABC6A}"/>
              </a:ext>
            </a:extLst>
          </p:cNvPr>
          <p:cNvSpPr/>
          <p:nvPr/>
        </p:nvSpPr>
        <p:spPr>
          <a:xfrm>
            <a:off x="17916938" y="12323858"/>
            <a:ext cx="6152321" cy="85119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FCD4E9-FAF4-3FDB-F667-0CDFEA0125D9}"/>
              </a:ext>
            </a:extLst>
          </p:cNvPr>
          <p:cNvSpPr/>
          <p:nvPr/>
        </p:nvSpPr>
        <p:spPr>
          <a:xfrm>
            <a:off x="12954000" y="7896211"/>
            <a:ext cx="1726096" cy="85119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2CF07F-2E70-93CB-5438-292C02261193}"/>
              </a:ext>
            </a:extLst>
          </p:cNvPr>
          <p:cNvSpPr/>
          <p:nvPr/>
        </p:nvSpPr>
        <p:spPr>
          <a:xfrm>
            <a:off x="3810000" y="6814525"/>
            <a:ext cx="13411200" cy="85119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A67C2A-8B4F-08A7-073A-CB1C54246109}"/>
              </a:ext>
            </a:extLst>
          </p:cNvPr>
          <p:cNvSpPr txBox="1"/>
          <p:nvPr/>
        </p:nvSpPr>
        <p:spPr>
          <a:xfrm>
            <a:off x="1827143" y="5773629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funct7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BB6A6-317A-820C-8309-F25557881346}"/>
              </a:ext>
            </a:extLst>
          </p:cNvPr>
          <p:cNvSpPr txBox="1"/>
          <p:nvPr/>
        </p:nvSpPr>
        <p:spPr>
          <a:xfrm>
            <a:off x="1827143" y="6863628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funct3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ADB293-11D3-F24B-FF71-EBE0B675B811}"/>
              </a:ext>
            </a:extLst>
          </p:cNvPr>
          <p:cNvSpPr txBox="1"/>
          <p:nvPr/>
        </p:nvSpPr>
        <p:spPr>
          <a:xfrm>
            <a:off x="1596887" y="7977965"/>
            <a:ext cx="2213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OPCODE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153A18-0932-0010-6FEA-11ED0183139A}"/>
              </a:ext>
            </a:extLst>
          </p:cNvPr>
          <p:cNvSpPr txBox="1"/>
          <p:nvPr/>
        </p:nvSpPr>
        <p:spPr>
          <a:xfrm>
            <a:off x="1467678" y="11711653"/>
            <a:ext cx="2213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ALU_Ctrl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CA3DC1A-9FC1-4868-C5AD-D7069777DB42}"/>
              </a:ext>
            </a:extLst>
          </p:cNvPr>
          <p:cNvCxnSpPr>
            <a:cxnSpLocks/>
          </p:cNvCxnSpPr>
          <p:nvPr/>
        </p:nvCxnSpPr>
        <p:spPr>
          <a:xfrm flipH="1">
            <a:off x="10896600" y="7698372"/>
            <a:ext cx="76200" cy="461554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CBB09D3-E196-4131-9616-9EE5FD9E7A98}"/>
              </a:ext>
            </a:extLst>
          </p:cNvPr>
          <p:cNvSpPr/>
          <p:nvPr/>
        </p:nvSpPr>
        <p:spPr>
          <a:xfrm>
            <a:off x="18059400" y="5821454"/>
            <a:ext cx="5867400" cy="181161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7080FB0-9FB9-EF9E-440A-CBC40F8C0669}"/>
              </a:ext>
            </a:extLst>
          </p:cNvPr>
          <p:cNvCxnSpPr>
            <a:cxnSpLocks/>
          </p:cNvCxnSpPr>
          <p:nvPr/>
        </p:nvCxnSpPr>
        <p:spPr>
          <a:xfrm flipH="1">
            <a:off x="20885522" y="7603418"/>
            <a:ext cx="76200" cy="461554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6A0B76D-6687-9773-7E75-D304DAB89203}"/>
              </a:ext>
            </a:extLst>
          </p:cNvPr>
          <p:cNvSpPr txBox="1"/>
          <p:nvPr/>
        </p:nvSpPr>
        <p:spPr>
          <a:xfrm>
            <a:off x="16746653" y="4420588"/>
            <a:ext cx="343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Funct7 [5] = 0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24F22D-D1C5-22B1-F71D-6581ADF97477}"/>
              </a:ext>
            </a:extLst>
          </p:cNvPr>
          <p:cNvSpPr txBox="1"/>
          <p:nvPr/>
        </p:nvSpPr>
        <p:spPr>
          <a:xfrm>
            <a:off x="21143550" y="4348039"/>
            <a:ext cx="343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Funct7 [5] = 1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CD52BA0-5FD0-676E-E9D4-FC6480B9D60D}"/>
              </a:ext>
            </a:extLst>
          </p:cNvPr>
          <p:cNvCxnSpPr>
            <a:cxnSpLocks/>
          </p:cNvCxnSpPr>
          <p:nvPr/>
        </p:nvCxnSpPr>
        <p:spPr>
          <a:xfrm>
            <a:off x="18665639" y="5273232"/>
            <a:ext cx="1070161" cy="411288"/>
          </a:xfrm>
          <a:prstGeom prst="straightConnector1">
            <a:avLst/>
          </a:prstGeom>
          <a:ln w="762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BDA4F3F-11EB-B2F2-509F-BB1B53FC4DC7}"/>
              </a:ext>
            </a:extLst>
          </p:cNvPr>
          <p:cNvCxnSpPr>
            <a:cxnSpLocks/>
          </p:cNvCxnSpPr>
          <p:nvPr/>
        </p:nvCxnSpPr>
        <p:spPr>
          <a:xfrm>
            <a:off x="23283948" y="5074863"/>
            <a:ext cx="0" cy="698766"/>
          </a:xfrm>
          <a:prstGeom prst="straightConnector1">
            <a:avLst/>
          </a:prstGeom>
          <a:ln w="762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068302"/>
              </p:ext>
            </p:extLst>
          </p:nvPr>
        </p:nvGraphicFramePr>
        <p:xfrm>
          <a:off x="11582403" y="2564148"/>
          <a:ext cx="11172906" cy="1464168"/>
        </p:xfrm>
        <a:graphic>
          <a:graphicData uri="http://schemas.openxmlformats.org/drawingml/2006/table">
            <a:tbl>
              <a:tblPr/>
              <a:tblGrid>
                <a:gridCol w="1523997">
                  <a:extLst>
                    <a:ext uri="{9D8B030D-6E8A-4147-A177-3AD203B41FA5}">
                      <a16:colId xmlns:a16="http://schemas.microsoft.com/office/drawing/2014/main" val="3082989500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521546800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7107126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865653831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550650611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735315067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934789092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899212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2973322959"/>
                    </a:ext>
                  </a:extLst>
                </a:gridCol>
                <a:gridCol w="1072101">
                  <a:extLst>
                    <a:ext uri="{9D8B030D-6E8A-4147-A177-3AD203B41FA5}">
                      <a16:colId xmlns:a16="http://schemas.microsoft.com/office/drawing/2014/main" val="3650379325"/>
                    </a:ext>
                  </a:extLst>
                </a:gridCol>
              </a:tblGrid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sng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75391"/>
                  </a:ext>
                </a:extLst>
              </a:tr>
              <a:tr h="4567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funct7[5]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x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0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x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13922"/>
                  </a:ext>
                </a:extLst>
              </a:tr>
              <a:tr h="5505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1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2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3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4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5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6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7</a:t>
                      </a:r>
                      <a:endParaRPr lang="ko-KR" altLang="en-US" sz="2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53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83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4738-E08F-B1E0-5768-B90D23F3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265AE37B-11A6-36F0-004B-88EA1187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66" y="3429000"/>
            <a:ext cx="24400565" cy="77724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F15E9751-3C33-595C-0FE1-ABB3465F9B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3A1B4982-D9DB-25B4-EECB-40039EF2B3D0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BB7C6-AFD5-2F31-0D90-6170055E35E4}"/>
              </a:ext>
            </a:extLst>
          </p:cNvPr>
          <p:cNvSpPr txBox="1"/>
          <p:nvPr/>
        </p:nvSpPr>
        <p:spPr>
          <a:xfrm>
            <a:off x="1305339" y="2426274"/>
            <a:ext cx="6695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en-US" altLang="ko-KR" sz="4400" dirty="0" err="1"/>
              <a:t>imm_extender</a:t>
            </a:r>
            <a:r>
              <a:rPr lang="en-US" altLang="ko-KR" sz="4400" dirty="0"/>
              <a:t>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AAA2D0-29D5-097B-2B2C-32BA08F2E4F7}"/>
              </a:ext>
            </a:extLst>
          </p:cNvPr>
          <p:cNvSpPr/>
          <p:nvPr/>
        </p:nvSpPr>
        <p:spPr>
          <a:xfrm>
            <a:off x="11430000" y="7620000"/>
            <a:ext cx="1371600" cy="10668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BCB02E8-74ED-5A64-0FAB-7D512F9367C0}"/>
              </a:ext>
            </a:extLst>
          </p:cNvPr>
          <p:cNvSpPr/>
          <p:nvPr/>
        </p:nvSpPr>
        <p:spPr>
          <a:xfrm>
            <a:off x="6629400" y="9525000"/>
            <a:ext cx="11277600" cy="10668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40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D8659-DD9B-D4CE-083A-E2CEB942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30C864C2-4882-7E97-1720-C4E605153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D96C1E1A-6302-4B92-DB25-673D73495448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8C469-D146-449F-87DA-3C09B0263243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simulation(ALU)</a:t>
            </a:r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1D0C6B07-1A69-B16E-0246-36D59716D267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4114800"/>
          <a:ext cx="4648201" cy="7991181"/>
        </p:xfrm>
        <a:graphic>
          <a:graphicData uri="http://schemas.openxmlformats.org/drawingml/2006/table">
            <a:tbl>
              <a:tblPr/>
              <a:tblGrid>
                <a:gridCol w="5333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2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</a:tblGrid>
              <a:tr h="537190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Result(DEX)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ADDI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100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SLTUI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XORI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-172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0885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ORI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307821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ANDI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136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467206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SRLI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1073741799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7081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SRAI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-25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7147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FCD16C80-2F38-818D-ED68-1FE4B3B91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434" y="2895620"/>
            <a:ext cx="18074765" cy="4678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DB7F37-0858-2CB3-33C3-EAF183A52FF2}"/>
              </a:ext>
            </a:extLst>
          </p:cNvPr>
          <p:cNvSpPr txBox="1"/>
          <p:nvPr/>
        </p:nvSpPr>
        <p:spPr>
          <a:xfrm>
            <a:off x="6004435" y="2144665"/>
            <a:ext cx="540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 ADD ~ SLTU</a:t>
            </a:r>
            <a:endParaRPr lang="ko-KR" altLang="en-US" sz="4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02699A5-4830-4AF3-9588-7812E96E0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99" y="8763000"/>
            <a:ext cx="18074765" cy="4495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532B81-9D3D-5494-A104-84D38CD8A9C6}"/>
              </a:ext>
            </a:extLst>
          </p:cNvPr>
          <p:cNvSpPr txBox="1"/>
          <p:nvPr/>
        </p:nvSpPr>
        <p:spPr>
          <a:xfrm>
            <a:off x="6004434" y="8103764"/>
            <a:ext cx="540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- AND ~ SRA</a:t>
            </a:r>
            <a:endParaRPr lang="ko-KR" altLang="en-US" sz="4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54ECF1-1DB8-63D6-2DC7-03BCE9BB7E34}"/>
              </a:ext>
            </a:extLst>
          </p:cNvPr>
          <p:cNvSpPr/>
          <p:nvPr/>
        </p:nvSpPr>
        <p:spPr>
          <a:xfrm>
            <a:off x="304800" y="5638800"/>
            <a:ext cx="4648201" cy="3124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AED674-569E-8EF6-06F7-1309E6F50519}"/>
              </a:ext>
            </a:extLst>
          </p:cNvPr>
          <p:cNvSpPr/>
          <p:nvPr/>
        </p:nvSpPr>
        <p:spPr>
          <a:xfrm>
            <a:off x="304800" y="8803006"/>
            <a:ext cx="4648200" cy="3302975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C3980CD-7647-201B-53E7-E172AA6368A3}"/>
              </a:ext>
            </a:extLst>
          </p:cNvPr>
          <p:cNvCxnSpPr>
            <a:cxnSpLocks/>
          </p:cNvCxnSpPr>
          <p:nvPr/>
        </p:nvCxnSpPr>
        <p:spPr>
          <a:xfrm flipV="1">
            <a:off x="4953001" y="5433955"/>
            <a:ext cx="1005052" cy="10430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B0157AD-8C69-06EF-5289-4E405BE0C818}"/>
              </a:ext>
            </a:extLst>
          </p:cNvPr>
          <p:cNvCxnSpPr>
            <a:cxnSpLocks/>
          </p:cNvCxnSpPr>
          <p:nvPr/>
        </p:nvCxnSpPr>
        <p:spPr>
          <a:xfrm>
            <a:off x="4966253" y="10439400"/>
            <a:ext cx="1005052" cy="57150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2F1C23-BB48-DC88-C28D-34E8EC509888}"/>
              </a:ext>
            </a:extLst>
          </p:cNvPr>
          <p:cNvSpPr/>
          <p:nvPr/>
        </p:nvSpPr>
        <p:spPr>
          <a:xfrm>
            <a:off x="10896600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796531-9127-BD29-F60F-D21808ED8EC8}"/>
              </a:ext>
            </a:extLst>
          </p:cNvPr>
          <p:cNvSpPr/>
          <p:nvPr/>
        </p:nvSpPr>
        <p:spPr>
          <a:xfrm>
            <a:off x="14173200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C746CD2-B4B6-3ECB-7B89-F04E1B4F448F}"/>
              </a:ext>
            </a:extLst>
          </p:cNvPr>
          <p:cNvSpPr/>
          <p:nvPr/>
        </p:nvSpPr>
        <p:spPr>
          <a:xfrm>
            <a:off x="16764000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2B54E8-7A18-307A-F3AB-EB3C70585A67}"/>
              </a:ext>
            </a:extLst>
          </p:cNvPr>
          <p:cNvSpPr/>
          <p:nvPr/>
        </p:nvSpPr>
        <p:spPr>
          <a:xfrm>
            <a:off x="19507200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28D8B63-6FE1-A625-61FC-9D85CA0496C4}"/>
              </a:ext>
            </a:extLst>
          </p:cNvPr>
          <p:cNvSpPr/>
          <p:nvPr/>
        </p:nvSpPr>
        <p:spPr>
          <a:xfrm>
            <a:off x="12192000" y="11010900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5D3F88-61F5-C94B-49FF-4CC5FC33B226}"/>
              </a:ext>
            </a:extLst>
          </p:cNvPr>
          <p:cNvSpPr/>
          <p:nvPr/>
        </p:nvSpPr>
        <p:spPr>
          <a:xfrm>
            <a:off x="22148895" y="5213202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F10647-C3CA-9264-E08C-C8763480C30B}"/>
              </a:ext>
            </a:extLst>
          </p:cNvPr>
          <p:cNvSpPr/>
          <p:nvPr/>
        </p:nvSpPr>
        <p:spPr>
          <a:xfrm>
            <a:off x="17472991" y="4422490"/>
            <a:ext cx="1371600" cy="5555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0BC338-1EB4-55B5-5B4F-77C3EE27B0B9}"/>
              </a:ext>
            </a:extLst>
          </p:cNvPr>
          <p:cNvSpPr/>
          <p:nvPr/>
        </p:nvSpPr>
        <p:spPr>
          <a:xfrm>
            <a:off x="15392400" y="11004274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5AFF15F-66F4-A244-B0DA-4687335E1705}"/>
              </a:ext>
            </a:extLst>
          </p:cNvPr>
          <p:cNvSpPr/>
          <p:nvPr/>
        </p:nvSpPr>
        <p:spPr>
          <a:xfrm>
            <a:off x="18592800" y="11004274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0552BB2-0254-8C44-F21C-DC331A28597F}"/>
              </a:ext>
            </a:extLst>
          </p:cNvPr>
          <p:cNvSpPr/>
          <p:nvPr/>
        </p:nvSpPr>
        <p:spPr>
          <a:xfrm>
            <a:off x="21793200" y="10995991"/>
            <a:ext cx="1371600" cy="126379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53DA94-407C-FA34-9846-1BD1DE5634EA}"/>
              </a:ext>
            </a:extLst>
          </p:cNvPr>
          <p:cNvSpPr/>
          <p:nvPr/>
        </p:nvSpPr>
        <p:spPr>
          <a:xfrm>
            <a:off x="11658600" y="10264789"/>
            <a:ext cx="1371600" cy="5555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9222A9-9A23-6975-B4A7-E2E5E831D666}"/>
              </a:ext>
            </a:extLst>
          </p:cNvPr>
          <p:cNvSpPr/>
          <p:nvPr/>
        </p:nvSpPr>
        <p:spPr>
          <a:xfrm>
            <a:off x="16941705" y="10264789"/>
            <a:ext cx="1371600" cy="5555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FB63DA-C018-8949-59BA-31A338D1748E}"/>
              </a:ext>
            </a:extLst>
          </p:cNvPr>
          <p:cNvSpPr txBox="1"/>
          <p:nvPr/>
        </p:nvSpPr>
        <p:spPr>
          <a:xfrm>
            <a:off x="17500695" y="3707845"/>
            <a:ext cx="1777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</a:rPr>
              <a:t>imm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54F5D6-8518-943C-9CE7-D4E3AD628786}"/>
              </a:ext>
            </a:extLst>
          </p:cNvPr>
          <p:cNvSpPr txBox="1"/>
          <p:nvPr/>
        </p:nvSpPr>
        <p:spPr>
          <a:xfrm>
            <a:off x="11779069" y="9520495"/>
            <a:ext cx="1777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</a:rPr>
              <a:t>imm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BDCDB-9EDE-E59B-62E9-86F106CDD882}"/>
              </a:ext>
            </a:extLst>
          </p:cNvPr>
          <p:cNvSpPr txBox="1"/>
          <p:nvPr/>
        </p:nvSpPr>
        <p:spPr>
          <a:xfrm>
            <a:off x="19807630" y="8668004"/>
            <a:ext cx="2142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Shift = 2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120BB8-3A5D-3A95-215D-DFE956E970EF}"/>
              </a:ext>
            </a:extLst>
          </p:cNvPr>
          <p:cNvSpPr/>
          <p:nvPr/>
        </p:nvSpPr>
        <p:spPr>
          <a:xfrm>
            <a:off x="21793200" y="10289936"/>
            <a:ext cx="1371600" cy="5555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7616DD-44AC-042A-7A12-D296B1609103}"/>
              </a:ext>
            </a:extLst>
          </p:cNvPr>
          <p:cNvSpPr txBox="1"/>
          <p:nvPr/>
        </p:nvSpPr>
        <p:spPr>
          <a:xfrm>
            <a:off x="22274790" y="9445263"/>
            <a:ext cx="2142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</a:rPr>
              <a:t>32’h42</a:t>
            </a:r>
            <a:endParaRPr lang="ko-KR" altLang="en-US" sz="4400" b="1" dirty="0">
              <a:solidFill>
                <a:schemeClr val="bg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BB45776-5F43-A6C4-34CC-9B2E03767B15}"/>
              </a:ext>
            </a:extLst>
          </p:cNvPr>
          <p:cNvCxnSpPr>
            <a:cxnSpLocks/>
          </p:cNvCxnSpPr>
          <p:nvPr/>
        </p:nvCxnSpPr>
        <p:spPr>
          <a:xfrm flipH="1">
            <a:off x="18363001" y="9445263"/>
            <a:ext cx="2134799" cy="84467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D8B9B25-AA4F-4084-AEC8-47784BF91DAC}"/>
              </a:ext>
            </a:extLst>
          </p:cNvPr>
          <p:cNvCxnSpPr>
            <a:cxnSpLocks/>
          </p:cNvCxnSpPr>
          <p:nvPr/>
        </p:nvCxnSpPr>
        <p:spPr>
          <a:xfrm>
            <a:off x="20726400" y="9445263"/>
            <a:ext cx="1066800" cy="81952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1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E2C0-00E8-9385-2ECF-AF53A0EE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E76403BF-8869-1A71-60DB-94388A7D7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5DF862C-AFD5-6D21-B12E-06A048692ACE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CB6A1-6D4A-EB17-DBC6-82EC8F1C4FD8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685EBC-909D-3C6F-0EE7-E2623EACC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1434"/>
            <a:ext cx="24384000" cy="1004784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6C8B21B-B562-A009-1086-F75EB82B4254}"/>
              </a:ext>
            </a:extLst>
          </p:cNvPr>
          <p:cNvSpPr/>
          <p:nvPr/>
        </p:nvSpPr>
        <p:spPr>
          <a:xfrm>
            <a:off x="3505202" y="5761629"/>
            <a:ext cx="20497798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1B1636-AD59-C905-C59A-699B78BC461F}"/>
              </a:ext>
            </a:extLst>
          </p:cNvPr>
          <p:cNvSpPr/>
          <p:nvPr/>
        </p:nvSpPr>
        <p:spPr>
          <a:xfrm>
            <a:off x="3505201" y="11643558"/>
            <a:ext cx="20497797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13BF51B-C44E-E7E1-7579-2EC909DBA73F}"/>
              </a:ext>
            </a:extLst>
          </p:cNvPr>
          <p:cNvCxnSpPr>
            <a:cxnSpLocks/>
          </p:cNvCxnSpPr>
          <p:nvPr/>
        </p:nvCxnSpPr>
        <p:spPr>
          <a:xfrm>
            <a:off x="10020300" y="9531647"/>
            <a:ext cx="0" cy="21119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1FAC88-1D88-F658-0325-FBF1CEF4B823}"/>
              </a:ext>
            </a:extLst>
          </p:cNvPr>
          <p:cNvSpPr txBox="1"/>
          <p:nvPr/>
        </p:nvSpPr>
        <p:spPr>
          <a:xfrm>
            <a:off x="13030200" y="4047193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+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r>
              <a:rPr lang="ko-KR" altLang="en-US" sz="4000" dirty="0">
                <a:highlight>
                  <a:srgbClr val="FFFF00"/>
                </a:highlight>
              </a:rPr>
              <a:t>씩 증가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704FFEA-64D8-B6F4-94D2-E3EADAED97EC}"/>
              </a:ext>
            </a:extLst>
          </p:cNvPr>
          <p:cNvCxnSpPr>
            <a:cxnSpLocks/>
          </p:cNvCxnSpPr>
          <p:nvPr/>
        </p:nvCxnSpPr>
        <p:spPr>
          <a:xfrm flipV="1">
            <a:off x="13868400" y="6400800"/>
            <a:ext cx="115126" cy="524275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D63B544-2DD3-A611-E818-C928F4C98DDD}"/>
              </a:ext>
            </a:extLst>
          </p:cNvPr>
          <p:cNvCxnSpPr>
            <a:cxnSpLocks/>
          </p:cNvCxnSpPr>
          <p:nvPr/>
        </p:nvCxnSpPr>
        <p:spPr>
          <a:xfrm flipH="1">
            <a:off x="13983526" y="4506644"/>
            <a:ext cx="265874" cy="125498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AB5FF4-0620-6713-0F66-6516B65876F5}"/>
              </a:ext>
            </a:extLst>
          </p:cNvPr>
          <p:cNvSpPr txBox="1"/>
          <p:nvPr/>
        </p:nvSpPr>
        <p:spPr>
          <a:xfrm>
            <a:off x="14178998" y="8651360"/>
            <a:ext cx="2319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O_pc</a:t>
            </a:r>
            <a:r>
              <a:rPr lang="en-US" altLang="ko-KR" sz="4000" dirty="0">
                <a:highlight>
                  <a:srgbClr val="FFFF00"/>
                </a:highlight>
              </a:rPr>
              <a:t>[31:2]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C1F218-63FE-BCD9-AB38-B75AA41882DE}"/>
              </a:ext>
            </a:extLst>
          </p:cNvPr>
          <p:cNvSpPr txBox="1"/>
          <p:nvPr/>
        </p:nvSpPr>
        <p:spPr>
          <a:xfrm>
            <a:off x="8686800" y="8823761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PC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+ 4 </a:t>
            </a:r>
            <a:r>
              <a:rPr lang="ko-KR" altLang="en-US" sz="4000" dirty="0">
                <a:highlight>
                  <a:srgbClr val="FFFF00"/>
                </a:highlight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396585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6F64F-A03B-C986-5E03-BBFC236A3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13099073-8AFB-79F5-A992-252AC2AB0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26274"/>
            <a:ext cx="11734800" cy="1015684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DCC336CC-CC80-8192-D3A3-49FCFD024C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BE57E3B9-D1FC-216A-33AD-B56ABC7E80A9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84683-34E3-486C-FF16-63A09985D023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F05F21D-C85E-2F32-AC75-9428FB904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79717"/>
              </p:ext>
            </p:extLst>
          </p:nvPr>
        </p:nvGraphicFramePr>
        <p:xfrm>
          <a:off x="16230600" y="3810000"/>
          <a:ext cx="5486400" cy="7619997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609078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31568788"/>
                    </a:ext>
                  </a:extLst>
                </a:gridCol>
              </a:tblGrid>
              <a:tr h="69272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09729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090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5422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106649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997995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78223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381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10095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8267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595360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2148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1940E2E-B9C2-6003-6DA0-0F94FB3E7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422984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OPCODE(S-type)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2E13426-6665-6B74-8836-8DFDCA47F152}"/>
              </a:ext>
            </a:extLst>
          </p:cNvPr>
          <p:cNvSpPr txBox="1"/>
          <p:nvPr/>
        </p:nvSpPr>
        <p:spPr>
          <a:xfrm>
            <a:off x="3657600" y="96012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7DEB9-D382-E6E7-3DCE-3DACDF79D248}"/>
              </a:ext>
            </a:extLst>
          </p:cNvPr>
          <p:cNvSpPr txBox="1"/>
          <p:nvPr/>
        </p:nvSpPr>
        <p:spPr>
          <a:xfrm>
            <a:off x="10733585" y="6769456"/>
            <a:ext cx="121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rs2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2A36F1-6047-498C-D03B-EC86C9032C5B}"/>
              </a:ext>
            </a:extLst>
          </p:cNvPr>
          <p:cNvSpPr txBox="1"/>
          <p:nvPr/>
        </p:nvSpPr>
        <p:spPr>
          <a:xfrm>
            <a:off x="9563100" y="5389253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Imm+rs1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4617D6-3829-250B-4E27-B89C9C380682}"/>
              </a:ext>
            </a:extLst>
          </p:cNvPr>
          <p:cNvSpPr txBox="1"/>
          <p:nvPr/>
        </p:nvSpPr>
        <p:spPr>
          <a:xfrm>
            <a:off x="7934739" y="434340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FAF72F-6984-2207-C246-84687E82733E}"/>
              </a:ext>
            </a:extLst>
          </p:cNvPr>
          <p:cNvSpPr txBox="1"/>
          <p:nvPr/>
        </p:nvSpPr>
        <p:spPr>
          <a:xfrm>
            <a:off x="6248399" y="4320209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0B416A-6DE8-D45E-203B-D1BBD2B4B7AF}"/>
              </a:ext>
            </a:extLst>
          </p:cNvPr>
          <p:cNvSpPr txBox="1"/>
          <p:nvPr/>
        </p:nvSpPr>
        <p:spPr>
          <a:xfrm>
            <a:off x="12192000" y="2801055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A01821-A9C3-90F1-230E-5BEA18389511}"/>
              </a:ext>
            </a:extLst>
          </p:cNvPr>
          <p:cNvSpPr txBox="1"/>
          <p:nvPr/>
        </p:nvSpPr>
        <p:spPr>
          <a:xfrm>
            <a:off x="10349944" y="4104250"/>
            <a:ext cx="1765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funct3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2883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ECC2A-5E15-B8F7-2C99-99E33B67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4A72E527-EAF7-EC49-9F75-806E172B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26274"/>
            <a:ext cx="11734800" cy="1015684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9BA85CE9-F427-AD70-461D-C911D924D8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3470EDED-88CE-9783-D190-1C89D7652B0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39BB2-3E0A-2CBB-7B18-208B8EB08E10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EC91592-B107-1FC1-16EE-C2F70F35A09F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OPCODE(S-type)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55EC3EF-49D8-7434-EA80-DA97852B16CC}"/>
              </a:ext>
            </a:extLst>
          </p:cNvPr>
          <p:cNvSpPr txBox="1"/>
          <p:nvPr/>
        </p:nvSpPr>
        <p:spPr>
          <a:xfrm>
            <a:off x="3657600" y="96012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2FE0C6-9315-5502-98C4-77844EE20CB8}"/>
              </a:ext>
            </a:extLst>
          </p:cNvPr>
          <p:cNvSpPr txBox="1"/>
          <p:nvPr/>
        </p:nvSpPr>
        <p:spPr>
          <a:xfrm>
            <a:off x="10733585" y="6769456"/>
            <a:ext cx="121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rs2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7B52E6-4F89-E071-58A4-15F58A9175C4}"/>
              </a:ext>
            </a:extLst>
          </p:cNvPr>
          <p:cNvSpPr txBox="1"/>
          <p:nvPr/>
        </p:nvSpPr>
        <p:spPr>
          <a:xfrm>
            <a:off x="9563100" y="5389253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Imm+rs1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5E4BA-B58C-7291-27B6-A6CC80F5CD72}"/>
              </a:ext>
            </a:extLst>
          </p:cNvPr>
          <p:cNvSpPr txBox="1"/>
          <p:nvPr/>
        </p:nvSpPr>
        <p:spPr>
          <a:xfrm>
            <a:off x="7934739" y="434340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28D6F0-EB9C-141A-E0E2-BE8A53F58883}"/>
              </a:ext>
            </a:extLst>
          </p:cNvPr>
          <p:cNvSpPr txBox="1"/>
          <p:nvPr/>
        </p:nvSpPr>
        <p:spPr>
          <a:xfrm>
            <a:off x="6248399" y="4320209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6605B9-6D96-35BF-0BF2-45CBBBACF50E}"/>
              </a:ext>
            </a:extLst>
          </p:cNvPr>
          <p:cNvSpPr txBox="1"/>
          <p:nvPr/>
        </p:nvSpPr>
        <p:spPr>
          <a:xfrm>
            <a:off x="12192000" y="2801055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30CE3B-5AA6-50AA-B86F-64825133EA45}"/>
              </a:ext>
            </a:extLst>
          </p:cNvPr>
          <p:cNvSpPr txBox="1"/>
          <p:nvPr/>
        </p:nvSpPr>
        <p:spPr>
          <a:xfrm>
            <a:off x="10349944" y="4104250"/>
            <a:ext cx="1765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funct3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8" name="Table 12">
            <a:extLst>
              <a:ext uri="{FF2B5EF4-FFF2-40B4-BE49-F238E27FC236}">
                <a16:creationId xmlns:a16="http://schemas.microsoft.com/office/drawing/2014/main" id="{ED9DA823-CE20-339A-B31D-ED8390B74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477962"/>
              </p:ext>
            </p:extLst>
          </p:nvPr>
        </p:nvGraphicFramePr>
        <p:xfrm>
          <a:off x="14706600" y="4614977"/>
          <a:ext cx="8153400" cy="5117756"/>
        </p:xfrm>
        <a:graphic>
          <a:graphicData uri="http://schemas.openxmlformats.org/drawingml/2006/table">
            <a:tbl>
              <a:tblPr/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804381092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3181337078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3815376222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443255725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 smtClean="0"/>
                        <a:t>설계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Write </a:t>
                      </a:r>
                      <a:r>
                        <a:rPr lang="ko-KR" altLang="en-US" sz="3600" dirty="0"/>
                        <a:t>조건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Funct3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r>
                        <a:rPr lang="en-US" sz="3600" dirty="0"/>
                        <a:t> scale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smtClean="0"/>
                        <a:t>SL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/>
                        <a:t>word</a:t>
                      </a:r>
                      <a:r>
                        <a:rPr lang="en-US" altLang="ko-KR" sz="2400" baseline="0" dirty="0" smtClean="0"/>
                        <a:t> addressing</a:t>
                      </a:r>
                      <a:endParaRPr lang="en-US" altLang="ko-KR" sz="24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dwe</a:t>
                      </a:r>
                      <a:r>
                        <a:rPr lang="en-US" sz="3600" dirty="0"/>
                        <a:t> = 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3’h0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Byte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Half 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322434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02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47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5F67C-89D0-102B-4A06-433201C4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C58BC366-AB67-DDCC-A1F2-3B91CC5782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F9CB3957-7D0E-6791-29FF-70F0A8DDBAC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4F4A8E-3AE9-D4AA-4D0D-2D3DC15EAF56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596760"/>
              </p:ext>
            </p:extLst>
          </p:nvPr>
        </p:nvGraphicFramePr>
        <p:xfrm>
          <a:off x="2362200" y="4497606"/>
          <a:ext cx="7401272" cy="4720788"/>
        </p:xfrm>
        <a:graphic>
          <a:graphicData uri="http://schemas.openxmlformats.org/drawingml/2006/table">
            <a:tbl>
              <a:tblPr/>
              <a:tblGrid>
                <a:gridCol w="1000472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2499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name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Store Data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25469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7006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30084"/>
                  </a:ext>
                </a:extLst>
              </a:tr>
            </a:tbl>
          </a:graphicData>
        </a:graphic>
      </p:graphicFrame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619945"/>
              </p:ext>
            </p:extLst>
          </p:nvPr>
        </p:nvGraphicFramePr>
        <p:xfrm>
          <a:off x="11797750" y="2057400"/>
          <a:ext cx="11277598" cy="11597669"/>
        </p:xfrm>
        <a:graphic>
          <a:graphicData uri="http://schemas.openxmlformats.org/drawingml/2006/table">
            <a:tbl>
              <a:tblPr/>
              <a:tblGrid>
                <a:gridCol w="1079992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934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796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809998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95384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36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36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36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36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36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</a:t>
                      </a:r>
                      <a:r>
                        <a:rPr lang="en-US" sz="3600" dirty="0" smtClean="0"/>
                        <a:t>]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smtClean="0"/>
                        <a:t>(32’hx </a:t>
                      </a:r>
                      <a:r>
                        <a:rPr lang="ko-KR" altLang="en-US" sz="3600" dirty="0" smtClean="0"/>
                        <a:t>초기화</a:t>
                      </a:r>
                      <a:r>
                        <a:rPr lang="en-US" sz="3600" dirty="0" smtClean="0"/>
                        <a:t>)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[0+0] = </a:t>
                      </a:r>
                      <a:r>
                        <a:rPr lang="en-US" altLang="ko-KR" sz="3600" dirty="0"/>
                        <a:t>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smtClean="0"/>
                        <a:t>xx_xx_xx_</a:t>
                      </a:r>
                      <a:r>
                        <a:rPr lang="en-US" sz="3600" dirty="0" smtClean="0">
                          <a:highlight>
                            <a:srgbClr val="FFFF00"/>
                          </a:highlight>
                        </a:rPr>
                        <a:t>44</a:t>
                      </a:r>
                      <a:endParaRPr lang="en-US" sz="3600" dirty="0">
                        <a:highlight>
                          <a:srgbClr val="FFFF00"/>
                        </a:highlight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[0+1] = 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smtClean="0"/>
                        <a:t>xx_xx_</a:t>
                      </a:r>
                      <a:r>
                        <a:rPr lang="en-US" sz="3600" dirty="0" smtClean="0">
                          <a:highlight>
                            <a:srgbClr val="FFFF00"/>
                          </a:highlight>
                        </a:rPr>
                        <a:t>33</a:t>
                      </a:r>
                      <a:r>
                        <a:rPr lang="en-US" sz="3600" dirty="0" smtClean="0"/>
                        <a:t>_44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[0+2] = 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smtClean="0"/>
                        <a:t>xx_</a:t>
                      </a:r>
                      <a:r>
                        <a:rPr lang="en-US" sz="3600" dirty="0" smtClean="0">
                          <a:highlight>
                            <a:srgbClr val="FFFF00"/>
                          </a:highlight>
                        </a:rPr>
                        <a:t>22</a:t>
                      </a:r>
                      <a:r>
                        <a:rPr lang="en-US" sz="3600" dirty="0" smtClean="0"/>
                        <a:t>_33_44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[0+3] = 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11</a:t>
                      </a:r>
                      <a:r>
                        <a:rPr lang="en-US" sz="3600" dirty="0"/>
                        <a:t>_22_33_44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[0+0] = 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11_22_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[0+1] = 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11_22_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[0+2] = 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00_22</a:t>
                      </a:r>
                      <a:r>
                        <a:rPr lang="en-US" sz="3600" dirty="0"/>
                        <a:t>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[0+3] = 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0_11</a:t>
                      </a:r>
                      <a:r>
                        <a:rPr lang="en-US" sz="3600" dirty="0"/>
                        <a:t>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[0+0] = 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[0+1] = 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>
                          <a:highlight>
                            <a:srgbClr val="FFFF00"/>
                          </a:highlight>
                        </a:rPr>
                        <a:t>00_00_00_33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6409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[0+2] = 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>
                          <a:highlight>
                            <a:srgbClr val="FFFF00"/>
                          </a:highlight>
                        </a:rPr>
                        <a:t>00_00_00_22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99839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 err="1"/>
                        <a:t>Dmem</a:t>
                      </a:r>
                      <a:r>
                        <a:rPr lang="en-US" altLang="ko-KR" sz="3600" dirty="0"/>
                        <a:t>[0+3] = 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>
                          <a:highlight>
                            <a:srgbClr val="FFFF00"/>
                          </a:highlight>
                        </a:rPr>
                        <a:t>00_00_00_11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393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2819400" y="9753600"/>
            <a:ext cx="609600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잉크 7"/>
              <p14:cNvContentPartPr/>
              <p14:nvPr/>
            </p14:nvContentPartPr>
            <p14:xfrm>
              <a:off x="19968548" y="10058342"/>
              <a:ext cx="346320" cy="29880"/>
            </p14:xfrm>
          </p:contentPart>
        </mc:Choice>
        <mc:Fallback>
          <p:pic>
            <p:nvPicPr>
              <p:cNvPr id="8" name="잉크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20668" y="9962222"/>
                <a:ext cx="442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잉크 8"/>
              <p14:cNvContentPartPr/>
              <p14:nvPr/>
            </p14:nvContentPartPr>
            <p14:xfrm>
              <a:off x="19919588" y="9897782"/>
              <a:ext cx="358200" cy="37440"/>
            </p14:xfrm>
          </p:contentPart>
        </mc:Choice>
        <mc:Fallback>
          <p:pic>
            <p:nvPicPr>
              <p:cNvPr id="9" name="잉크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71348" y="9801662"/>
                <a:ext cx="4543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잉크 9"/>
              <p14:cNvContentPartPr/>
              <p14:nvPr/>
            </p14:nvContentPartPr>
            <p14:xfrm>
              <a:off x="19956668" y="9835502"/>
              <a:ext cx="555480" cy="272520"/>
            </p14:xfrm>
          </p:contentPart>
        </mc:Choice>
        <mc:Fallback>
          <p:pic>
            <p:nvPicPr>
              <p:cNvPr id="10" name="잉크 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908428" y="9739742"/>
                <a:ext cx="651960" cy="46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344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FBCC-7349-DE03-1F78-98AC458E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85B7FFC9-68C2-D12F-E036-3039BA2C49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8082E95C-CABE-BF06-C94A-088A91DFD4F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7D721F-7390-E3C4-34C5-DFABA36A307A}"/>
              </a:ext>
            </a:extLst>
          </p:cNvPr>
          <p:cNvSpPr txBox="1"/>
          <p:nvPr/>
        </p:nvSpPr>
        <p:spPr>
          <a:xfrm>
            <a:off x="1305339" y="2426274"/>
            <a:ext cx="6924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simulation(Control </a:t>
            </a:r>
            <a:r>
              <a:rPr lang="en-US" altLang="ko-KR" sz="4400" dirty="0" err="1"/>
              <a:t>Uint</a:t>
            </a:r>
            <a:r>
              <a:rPr lang="en-US" altLang="ko-KR" sz="4400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2DBA08-5E41-E44F-9871-5878AFA45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553522"/>
            <a:ext cx="18211800" cy="9171877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BB2B52-9F45-51AB-1EBB-890283F23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485197"/>
              </p:ext>
            </p:extLst>
          </p:nvPr>
        </p:nvGraphicFramePr>
        <p:xfrm>
          <a:off x="18726150" y="3886200"/>
          <a:ext cx="5486400" cy="7619997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609078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31568788"/>
                    </a:ext>
                  </a:extLst>
                </a:gridCol>
              </a:tblGrid>
              <a:tr h="69272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09729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090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5422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106649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997995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78223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3812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10095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82672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595360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0214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2590800" y="7444826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432F0-D4D4-AB93-B20F-CAA4A713488D}"/>
              </a:ext>
            </a:extLst>
          </p:cNvPr>
          <p:cNvSpPr txBox="1"/>
          <p:nvPr/>
        </p:nvSpPr>
        <p:spPr>
          <a:xfrm>
            <a:off x="2590800" y="8055114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42AB0-6589-AE8E-EE2D-871E684D8E7A}"/>
              </a:ext>
            </a:extLst>
          </p:cNvPr>
          <p:cNvSpPr txBox="1"/>
          <p:nvPr/>
        </p:nvSpPr>
        <p:spPr>
          <a:xfrm>
            <a:off x="2590800" y="8708886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56468F-03C6-C4CE-6679-2EE7815057EC}"/>
              </a:ext>
            </a:extLst>
          </p:cNvPr>
          <p:cNvSpPr/>
          <p:nvPr/>
        </p:nvSpPr>
        <p:spPr>
          <a:xfrm>
            <a:off x="381001" y="7444826"/>
            <a:ext cx="1752600" cy="50519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4ADCA-392C-D7FF-3F04-7D2D93A7E773}"/>
              </a:ext>
            </a:extLst>
          </p:cNvPr>
          <p:cNvSpPr txBox="1"/>
          <p:nvPr/>
        </p:nvSpPr>
        <p:spPr>
          <a:xfrm>
            <a:off x="2914650" y="9416772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ADD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53A03-6D6D-705C-9852-389288F7460F}"/>
              </a:ext>
            </a:extLst>
          </p:cNvPr>
          <p:cNvSpPr txBox="1"/>
          <p:nvPr/>
        </p:nvSpPr>
        <p:spPr>
          <a:xfrm>
            <a:off x="2590800" y="10009256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D5066-DA47-EDEA-8D1B-D6E5A2AFB467}"/>
              </a:ext>
            </a:extLst>
          </p:cNvPr>
          <p:cNvSpPr txBox="1"/>
          <p:nvPr/>
        </p:nvSpPr>
        <p:spPr>
          <a:xfrm>
            <a:off x="2590800" y="11973053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DD842-A0C9-A831-8DAE-E38ADB6F1D80}"/>
              </a:ext>
            </a:extLst>
          </p:cNvPr>
          <p:cNvSpPr txBox="1"/>
          <p:nvPr/>
        </p:nvSpPr>
        <p:spPr>
          <a:xfrm>
            <a:off x="2590800" y="10581840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41A6B2-F001-04D8-604C-99C93B36ED35}"/>
              </a:ext>
            </a:extLst>
          </p:cNvPr>
          <p:cNvSpPr/>
          <p:nvPr/>
        </p:nvSpPr>
        <p:spPr>
          <a:xfrm>
            <a:off x="18726148" y="5322423"/>
            <a:ext cx="5486401" cy="618377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4793972" y="11265165"/>
            <a:ext cx="12274827" cy="70788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4561FDD-B05C-D6E2-F096-A0F417032240}"/>
              </a:ext>
            </a:extLst>
          </p:cNvPr>
          <p:cNvSpPr/>
          <p:nvPr/>
        </p:nvSpPr>
        <p:spPr>
          <a:xfrm>
            <a:off x="5257800" y="6150113"/>
            <a:ext cx="12274827" cy="70788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0020300" y="6858000"/>
            <a:ext cx="0" cy="440716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23155E-4A95-6952-3D94-FEC444753CB3}"/>
              </a:ext>
            </a:extLst>
          </p:cNvPr>
          <p:cNvSpPr txBox="1"/>
          <p:nvPr/>
        </p:nvSpPr>
        <p:spPr>
          <a:xfrm>
            <a:off x="10229849" y="7701171"/>
            <a:ext cx="4476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o_funct3 = funct3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6BA0E43-5684-2764-5CB6-DE8F897B843E}"/>
              </a:ext>
            </a:extLst>
          </p:cNvPr>
          <p:cNvCxnSpPr>
            <a:cxnSpLocks/>
          </p:cNvCxnSpPr>
          <p:nvPr/>
        </p:nvCxnSpPr>
        <p:spPr>
          <a:xfrm flipH="1">
            <a:off x="3695700" y="7162800"/>
            <a:ext cx="15030448" cy="70788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71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55BD-C4A6-9F08-046D-3E2EA9D9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F0A990EB-F54B-0120-A272-9A95629589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E11B2971-057A-7466-0E10-9E2BC0112C0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E39AC8-E492-B32F-C5F1-399357194085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en-US" altLang="ko-KR" sz="4400" dirty="0" err="1"/>
              <a:t>imm_extender</a:t>
            </a:r>
            <a:r>
              <a:rPr lang="en-US" altLang="ko-KR" sz="4400" dirty="0"/>
              <a:t> &amp; ALU)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66CC8D6-C784-F0AB-9751-34FADF6A6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513766"/>
            <a:ext cx="21412200" cy="282607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3468097-5564-E0B0-7098-172239376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85" y="7276409"/>
            <a:ext cx="21412200" cy="5129104"/>
          </a:xfrm>
          <a:prstGeom prst="rect">
            <a:avLst/>
          </a:prstGeom>
        </p:spPr>
      </p:pic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1B7324BE-8817-5491-6BB4-04163410FD4C}"/>
              </a:ext>
            </a:extLst>
          </p:cNvPr>
          <p:cNvSpPr/>
          <p:nvPr/>
        </p:nvSpPr>
        <p:spPr>
          <a:xfrm>
            <a:off x="11000285" y="6350157"/>
            <a:ext cx="190500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4495800" y="8686800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rs1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466DE-1D72-5590-BCB9-28CBDF6035E1}"/>
              </a:ext>
            </a:extLst>
          </p:cNvPr>
          <p:cNvSpPr txBox="1"/>
          <p:nvPr/>
        </p:nvSpPr>
        <p:spPr>
          <a:xfrm>
            <a:off x="4495800" y="9456241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0C280D-4F02-2577-BBA0-8F3600A07486}"/>
              </a:ext>
            </a:extLst>
          </p:cNvPr>
          <p:cNvSpPr txBox="1"/>
          <p:nvPr/>
        </p:nvSpPr>
        <p:spPr>
          <a:xfrm>
            <a:off x="4343400" y="11167020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daddr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34B7EDE-72E8-A0A4-B96E-2C13B97A4AD2}"/>
              </a:ext>
            </a:extLst>
          </p:cNvPr>
          <p:cNvSpPr/>
          <p:nvPr/>
        </p:nvSpPr>
        <p:spPr>
          <a:xfrm>
            <a:off x="4953000" y="12410739"/>
            <a:ext cx="64008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SB</a:t>
            </a:r>
            <a:endParaRPr lang="ko-KR" altLang="en-US" sz="4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C2C9D6E-F915-C6A8-DB48-390454D7CAD9}"/>
              </a:ext>
            </a:extLst>
          </p:cNvPr>
          <p:cNvSpPr/>
          <p:nvPr/>
        </p:nvSpPr>
        <p:spPr>
          <a:xfrm>
            <a:off x="11353800" y="12417365"/>
            <a:ext cx="61722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SH</a:t>
            </a:r>
            <a:endParaRPr lang="ko-KR" altLang="en-US" sz="44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467081-96F2-36B0-57C8-62776180090E}"/>
              </a:ext>
            </a:extLst>
          </p:cNvPr>
          <p:cNvSpPr/>
          <p:nvPr/>
        </p:nvSpPr>
        <p:spPr>
          <a:xfrm>
            <a:off x="17549191" y="12405513"/>
            <a:ext cx="5109694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SW</a:t>
            </a:r>
            <a:endParaRPr lang="ko-KR" altLang="en-US" sz="4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273584" y="0"/>
            <a:ext cx="60960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80268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C75FF-11A5-AB2E-32A0-FFDAA34E3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0A35628-03F0-9ECF-FFDD-5812D2DD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349312"/>
            <a:ext cx="23452834" cy="838548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8722DBB9-ADFC-FD04-2D64-AB93D2558E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0ABF691-5663-7194-B2E6-F8C396D12FE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4D748A-38BD-03FE-FFBC-E894F6959F00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simulation(Register File)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FC6F67-5BEB-41DA-8197-FE14DCC4F782}"/>
              </a:ext>
            </a:extLst>
          </p:cNvPr>
          <p:cNvSpPr txBox="1"/>
          <p:nvPr/>
        </p:nvSpPr>
        <p:spPr>
          <a:xfrm>
            <a:off x="3124200" y="9246877"/>
            <a:ext cx="175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solidFill>
                  <a:schemeClr val="bg1"/>
                </a:solidFill>
                <a:highlight>
                  <a:srgbClr val="808080"/>
                </a:highlight>
              </a:rPr>
              <a:t>rs2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F4B39E-0201-9488-D071-ACE87B7A319B}"/>
              </a:ext>
            </a:extLst>
          </p:cNvPr>
          <p:cNvSpPr txBox="1"/>
          <p:nvPr/>
        </p:nvSpPr>
        <p:spPr>
          <a:xfrm>
            <a:off x="2514600" y="10101329"/>
            <a:ext cx="220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solidFill>
                  <a:schemeClr val="bg1"/>
                </a:solidFill>
                <a:highlight>
                  <a:srgbClr val="808080"/>
                </a:highlight>
              </a:rPr>
              <a:t>dwdata</a:t>
            </a:r>
            <a:endParaRPr lang="ko-KR" altLang="en-US" sz="44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7CB980-C68D-6978-6304-2CAFAC575B91}"/>
              </a:ext>
            </a:extLst>
          </p:cNvPr>
          <p:cNvSpPr/>
          <p:nvPr/>
        </p:nvSpPr>
        <p:spPr>
          <a:xfrm>
            <a:off x="4457700" y="11656810"/>
            <a:ext cx="68961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SB</a:t>
            </a:r>
            <a:endParaRPr lang="ko-KR" altLang="en-US" sz="4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1F6032E-2DCD-F0D3-CB08-07622DE8EF87}"/>
              </a:ext>
            </a:extLst>
          </p:cNvPr>
          <p:cNvSpPr/>
          <p:nvPr/>
        </p:nvSpPr>
        <p:spPr>
          <a:xfrm>
            <a:off x="11353800" y="11656810"/>
            <a:ext cx="64008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SH</a:t>
            </a:r>
            <a:endParaRPr lang="ko-KR" altLang="en-US" sz="44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D31F25-7F24-A18D-C4DA-9392E364A401}"/>
              </a:ext>
            </a:extLst>
          </p:cNvPr>
          <p:cNvSpPr/>
          <p:nvPr/>
        </p:nvSpPr>
        <p:spPr>
          <a:xfrm>
            <a:off x="17754600" y="11656810"/>
            <a:ext cx="6079234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SW</a:t>
            </a:r>
            <a:endParaRPr lang="ko-KR" altLang="en-US" sz="4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BF17A9-E142-1DF9-9228-C33DF9C17490}"/>
              </a:ext>
            </a:extLst>
          </p:cNvPr>
          <p:cNvSpPr/>
          <p:nvPr/>
        </p:nvSpPr>
        <p:spPr>
          <a:xfrm>
            <a:off x="4474265" y="9144000"/>
            <a:ext cx="19359569" cy="1905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99268"/>
              </p:ext>
            </p:extLst>
          </p:nvPr>
        </p:nvGraphicFramePr>
        <p:xfrm>
          <a:off x="17754600" y="0"/>
          <a:ext cx="6629400" cy="4720788"/>
        </p:xfrm>
        <a:graphic>
          <a:graphicData uri="http://schemas.openxmlformats.org/drawingml/2006/table">
            <a:tbl>
              <a:tblPr/>
              <a:tblGrid>
                <a:gridCol w="896134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593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646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24990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Register File</a:t>
                      </a: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dirty="0" err="1"/>
                        <a:t>addr</a:t>
                      </a:r>
                      <a:endParaRPr lang="en-US" sz="32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name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Store Data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32’h44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32’h33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25469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32’h22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47006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32’h11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30084"/>
                  </a:ext>
                </a:extLst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>
          <a:xfrm flipH="1">
            <a:off x="11430000" y="3349312"/>
            <a:ext cx="76200" cy="8361358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H="1">
            <a:off x="17754600" y="3195715"/>
            <a:ext cx="76200" cy="8361358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36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E416-FD34-84B8-ED51-4426D924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4C68AD4-C444-8615-9C4D-A3028F4F6D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E8ADDB4-1766-C702-E695-176D1DD1528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70CFE-A3FD-F471-BA09-9C4596F93114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mem)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1E801510-1C87-CBF1-42CF-7EB7707CB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71430"/>
              </p:ext>
            </p:extLst>
          </p:nvPr>
        </p:nvGraphicFramePr>
        <p:xfrm>
          <a:off x="18592800" y="4866727"/>
          <a:ext cx="5042451" cy="5078397"/>
        </p:xfrm>
        <a:graphic>
          <a:graphicData uri="http://schemas.openxmlformats.org/drawingml/2006/table">
            <a:tbl>
              <a:tblPr/>
              <a:tblGrid>
                <a:gridCol w="92765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1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95384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[0] = Result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00_00_00_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00_00_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33</a:t>
                      </a:r>
                      <a:r>
                        <a:rPr lang="en-US" sz="3600" dirty="0"/>
                        <a:t>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00_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22</a:t>
                      </a:r>
                      <a:r>
                        <a:rPr lang="en-US" sz="3600" dirty="0"/>
                        <a:t>_33_44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11</a:t>
                      </a:r>
                      <a:r>
                        <a:rPr lang="en-US" sz="3600" dirty="0"/>
                        <a:t>_22_33_44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D229823B-0C77-3A68-21BB-CD89E9B3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339" y="3748325"/>
            <a:ext cx="16306800" cy="90075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687B54-F674-A397-E20D-448165F29936}"/>
              </a:ext>
            </a:extLst>
          </p:cNvPr>
          <p:cNvSpPr txBox="1"/>
          <p:nvPr/>
        </p:nvSpPr>
        <p:spPr>
          <a:xfrm>
            <a:off x="10399719" y="5085068"/>
            <a:ext cx="1352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DCDF6-1EC1-6038-871D-0113CA2D880D}"/>
              </a:ext>
            </a:extLst>
          </p:cNvPr>
          <p:cNvSpPr txBox="1"/>
          <p:nvPr/>
        </p:nvSpPr>
        <p:spPr>
          <a:xfrm>
            <a:off x="10399719" y="6655301"/>
            <a:ext cx="19446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dwe</a:t>
            </a:r>
            <a:r>
              <a:rPr lang="en-US" altLang="ko-KR" sz="4000" dirty="0">
                <a:highlight>
                  <a:srgbClr val="FFFF00"/>
                </a:highlight>
              </a:rPr>
              <a:t> =1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6843920" y="7620000"/>
            <a:ext cx="1995280" cy="169536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77CF31A-0D4C-136C-A4DA-C4AD4C1DCF3A}"/>
              </a:ext>
            </a:extLst>
          </p:cNvPr>
          <p:cNvCxnSpPr>
            <a:cxnSpLocks/>
          </p:cNvCxnSpPr>
          <p:nvPr/>
        </p:nvCxnSpPr>
        <p:spPr>
          <a:xfrm>
            <a:off x="8686800" y="9315362"/>
            <a:ext cx="685800" cy="19743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2DB30FB-4172-DE37-A450-D11C131F08E1}"/>
              </a:ext>
            </a:extLst>
          </p:cNvPr>
          <p:cNvCxnSpPr>
            <a:cxnSpLocks/>
          </p:cNvCxnSpPr>
          <p:nvPr/>
        </p:nvCxnSpPr>
        <p:spPr>
          <a:xfrm>
            <a:off x="10539619" y="9315362"/>
            <a:ext cx="1413166" cy="19743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5DECCEC-863A-791E-A4B6-ABE6A13C0D90}"/>
              </a:ext>
            </a:extLst>
          </p:cNvPr>
          <p:cNvCxnSpPr>
            <a:cxnSpLocks/>
          </p:cNvCxnSpPr>
          <p:nvPr/>
        </p:nvCxnSpPr>
        <p:spPr>
          <a:xfrm>
            <a:off x="12609028" y="9315362"/>
            <a:ext cx="1716572" cy="19743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B1BBE2D-4990-B4D6-A973-243A30F92D77}"/>
              </a:ext>
            </a:extLst>
          </p:cNvPr>
          <p:cNvCxnSpPr>
            <a:cxnSpLocks/>
          </p:cNvCxnSpPr>
          <p:nvPr/>
        </p:nvCxnSpPr>
        <p:spPr>
          <a:xfrm>
            <a:off x="14572159" y="9315362"/>
            <a:ext cx="1902930" cy="19743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9819861" y="7620000"/>
            <a:ext cx="1531040" cy="169536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3783123" y="7620000"/>
            <a:ext cx="1531040" cy="169536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1752270" y="7620000"/>
            <a:ext cx="1531040" cy="169536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8707970" y="11317331"/>
            <a:ext cx="1531040" cy="72226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1752270" y="11317330"/>
            <a:ext cx="1531040" cy="72226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3806639" y="11317330"/>
            <a:ext cx="1531040" cy="72226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11A384-8AFB-B33D-884F-950D284D7EFA}"/>
              </a:ext>
            </a:extLst>
          </p:cNvPr>
          <p:cNvSpPr/>
          <p:nvPr/>
        </p:nvSpPr>
        <p:spPr>
          <a:xfrm>
            <a:off x="15805910" y="11317330"/>
            <a:ext cx="1531040" cy="72226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288000" y="0"/>
            <a:ext cx="60960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  <p:sp>
        <p:nvSpPr>
          <p:cNvPr id="25" name="직사각형 24"/>
          <p:cNvSpPr/>
          <p:nvPr/>
        </p:nvSpPr>
        <p:spPr>
          <a:xfrm>
            <a:off x="16628321" y="10481258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@(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posedge</a:t>
            </a:r>
            <a:r>
              <a:rPr lang="en-US" altLang="ko-KR" sz="4400" dirty="0" smtClean="0">
                <a:solidFill>
                  <a:schemeClr val="tx1"/>
                </a:solidFill>
              </a:rPr>
              <a:t> 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clk</a:t>
            </a:r>
            <a:r>
              <a:rPr lang="en-US" altLang="ko-KR" sz="4400" dirty="0" smtClean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58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C63E-A35E-240E-F3F0-BF7B8F34D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15E2D93-2437-9878-84D2-74E58B665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517080"/>
            <a:ext cx="17754600" cy="936072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CBD0E2E5-C4FD-C576-1E49-7D6C0A1AC5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DB7BFBE-ECD9-6000-D519-10A83338C840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EF3408-16A0-98E5-A98D-056D4420597F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mem)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F3B7F824-2B4C-6F3F-5FC4-D324D3C4D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238008"/>
              </p:ext>
            </p:extLst>
          </p:nvPr>
        </p:nvGraphicFramePr>
        <p:xfrm>
          <a:off x="18592800" y="4866727"/>
          <a:ext cx="5042451" cy="5078397"/>
        </p:xfrm>
        <a:graphic>
          <a:graphicData uri="http://schemas.openxmlformats.org/drawingml/2006/table">
            <a:tbl>
              <a:tblPr/>
              <a:tblGrid>
                <a:gridCol w="92765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1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95384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[0] = Result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11_22_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11_22_</a:t>
                      </a: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00_22</a:t>
                      </a:r>
                      <a:r>
                        <a:rPr lang="en-US" sz="3600" dirty="0"/>
                        <a:t>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00_11</a:t>
                      </a:r>
                      <a:r>
                        <a:rPr lang="en-US" sz="3600" dirty="0"/>
                        <a:t>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7774961" y="7489071"/>
            <a:ext cx="1521439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AC2CFB-5517-6B60-DE7F-0CA068AE3079}"/>
              </a:ext>
            </a:extLst>
          </p:cNvPr>
          <p:cNvSpPr txBox="1"/>
          <p:nvPr/>
        </p:nvSpPr>
        <p:spPr>
          <a:xfrm>
            <a:off x="11132239" y="4806821"/>
            <a:ext cx="1352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SH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2AF86-A7A2-69FE-66E5-8443E03802A8}"/>
              </a:ext>
            </a:extLst>
          </p:cNvPr>
          <p:cNvSpPr txBox="1"/>
          <p:nvPr/>
        </p:nvSpPr>
        <p:spPr>
          <a:xfrm>
            <a:off x="10744200" y="6514003"/>
            <a:ext cx="21286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dwe</a:t>
            </a:r>
            <a:r>
              <a:rPr lang="en-US" altLang="ko-KR" sz="4000" dirty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F0B6BAC-0F0F-0CCE-8D6E-EF117450231E}"/>
              </a:ext>
            </a:extLst>
          </p:cNvPr>
          <p:cNvCxnSpPr>
            <a:cxnSpLocks/>
          </p:cNvCxnSpPr>
          <p:nvPr/>
        </p:nvCxnSpPr>
        <p:spPr>
          <a:xfrm>
            <a:off x="8839200" y="9463435"/>
            <a:ext cx="1676400" cy="219337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3793A6A-C2FF-1F24-12A1-4EB219524B12}"/>
              </a:ext>
            </a:extLst>
          </p:cNvPr>
          <p:cNvCxnSpPr>
            <a:cxnSpLocks/>
          </p:cNvCxnSpPr>
          <p:nvPr/>
        </p:nvCxnSpPr>
        <p:spPr>
          <a:xfrm>
            <a:off x="10859780" y="9446014"/>
            <a:ext cx="1789420" cy="221079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EE2C683-0DFD-D817-4EAB-BB2B85656317}"/>
              </a:ext>
            </a:extLst>
          </p:cNvPr>
          <p:cNvCxnSpPr>
            <a:cxnSpLocks/>
          </p:cNvCxnSpPr>
          <p:nvPr/>
        </p:nvCxnSpPr>
        <p:spPr>
          <a:xfrm>
            <a:off x="13113026" y="9463435"/>
            <a:ext cx="1789420" cy="221079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65A99DA-5BBD-50AE-6A2D-F9A6284B304D}"/>
              </a:ext>
            </a:extLst>
          </p:cNvPr>
          <p:cNvCxnSpPr>
            <a:cxnSpLocks/>
          </p:cNvCxnSpPr>
          <p:nvPr/>
        </p:nvCxnSpPr>
        <p:spPr>
          <a:xfrm>
            <a:off x="15018026" y="9463435"/>
            <a:ext cx="1898374" cy="219337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9954899" y="7524448"/>
            <a:ext cx="1521439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2117081" y="7484296"/>
            <a:ext cx="1521439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4141726" y="7474476"/>
            <a:ext cx="1521439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9983481" y="11644164"/>
            <a:ext cx="1521439" cy="70023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2117081" y="11671405"/>
            <a:ext cx="1521439" cy="70023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4176863" y="11679006"/>
            <a:ext cx="1521439" cy="70023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5ED995-CED4-E936-EAF1-F393BE9D11C2}"/>
              </a:ext>
            </a:extLst>
          </p:cNvPr>
          <p:cNvSpPr/>
          <p:nvPr/>
        </p:nvSpPr>
        <p:spPr>
          <a:xfrm>
            <a:off x="16425582" y="11628057"/>
            <a:ext cx="1521439" cy="70023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288000" y="0"/>
            <a:ext cx="60960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  <p:sp>
        <p:nvSpPr>
          <p:cNvPr id="25" name="직사각형 24"/>
          <p:cNvSpPr/>
          <p:nvPr/>
        </p:nvSpPr>
        <p:spPr>
          <a:xfrm>
            <a:off x="16949842" y="10665666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@(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posedge</a:t>
            </a:r>
            <a:r>
              <a:rPr lang="en-US" altLang="ko-KR" sz="4400" dirty="0" smtClean="0">
                <a:solidFill>
                  <a:schemeClr val="tx1"/>
                </a:solidFill>
              </a:rPr>
              <a:t> 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clk</a:t>
            </a:r>
            <a:r>
              <a:rPr lang="en-US" altLang="ko-KR" sz="4400" dirty="0" smtClean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20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D72A-3A76-50C2-1B35-D2D6F4CE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944A383-8B18-8279-D551-BC6100162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114800"/>
            <a:ext cx="18064065" cy="88392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AEB1C82-0FF1-659D-1795-2A3B5E8A9A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D214F7F-B00D-CB2A-07EC-F649AFFB62B6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C3142-75B1-6522-83AF-BE922A4C5B06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simulation(Data mem)</a:t>
            </a:r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965EC0E6-3168-F170-5DEC-271D63F66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21809"/>
              </p:ext>
            </p:extLst>
          </p:nvPr>
        </p:nvGraphicFramePr>
        <p:xfrm>
          <a:off x="18592800" y="4866727"/>
          <a:ext cx="5042451" cy="5078397"/>
        </p:xfrm>
        <a:graphic>
          <a:graphicData uri="http://schemas.openxmlformats.org/drawingml/2006/table">
            <a:tbl>
              <a:tblPr/>
              <a:tblGrid>
                <a:gridCol w="92765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1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95384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Dmem</a:t>
                      </a:r>
                      <a:r>
                        <a:rPr lang="en-US" sz="3600" dirty="0"/>
                        <a:t>[0] = Result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00_00_00_44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00_00_00_33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00_00_00_22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highlight>
                            <a:srgbClr val="FFFF00"/>
                          </a:highlight>
                        </a:rPr>
                        <a:t>00_00_00_11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4483790" y="7913910"/>
            <a:ext cx="1536010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4A451C-D37A-F8C4-741D-75573A1E0F88}"/>
              </a:ext>
            </a:extLst>
          </p:cNvPr>
          <p:cNvSpPr txBox="1"/>
          <p:nvPr/>
        </p:nvSpPr>
        <p:spPr>
          <a:xfrm>
            <a:off x="7090119" y="5366138"/>
            <a:ext cx="1352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SW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F9FBCC-67A5-E42D-89A6-04003A0467FD}"/>
              </a:ext>
            </a:extLst>
          </p:cNvPr>
          <p:cNvSpPr txBox="1"/>
          <p:nvPr/>
        </p:nvSpPr>
        <p:spPr>
          <a:xfrm>
            <a:off x="6858000" y="7051982"/>
            <a:ext cx="21286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dwe</a:t>
            </a:r>
            <a:r>
              <a:rPr lang="en-US" altLang="ko-KR" sz="4000" dirty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1E0C252-86B1-5332-B043-26B389057B91}"/>
              </a:ext>
            </a:extLst>
          </p:cNvPr>
          <p:cNvCxnSpPr>
            <a:cxnSpLocks/>
          </p:cNvCxnSpPr>
          <p:nvPr/>
        </p:nvCxnSpPr>
        <p:spPr>
          <a:xfrm>
            <a:off x="5292515" y="9888274"/>
            <a:ext cx="1413085" cy="204606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00FC6F6-E81E-EF40-3217-4B978C08DC6B}"/>
              </a:ext>
            </a:extLst>
          </p:cNvPr>
          <p:cNvCxnSpPr>
            <a:cxnSpLocks/>
          </p:cNvCxnSpPr>
          <p:nvPr/>
        </p:nvCxnSpPr>
        <p:spPr>
          <a:xfrm>
            <a:off x="6904383" y="9853812"/>
            <a:ext cx="1630017" cy="204435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F027490-BFC8-F6DE-3307-E7DE9D976F85}"/>
              </a:ext>
            </a:extLst>
          </p:cNvPr>
          <p:cNvCxnSpPr>
            <a:cxnSpLocks/>
          </p:cNvCxnSpPr>
          <p:nvPr/>
        </p:nvCxnSpPr>
        <p:spPr>
          <a:xfrm>
            <a:off x="8524461" y="9853812"/>
            <a:ext cx="1729221" cy="20718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54CA9FC-1595-7EDF-F7C9-CB01B2173F53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199530" y="9844200"/>
            <a:ext cx="6356218" cy="211924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6136378" y="7879448"/>
            <a:ext cx="1536010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7788966" y="7880843"/>
            <a:ext cx="1536010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9431525" y="7869836"/>
            <a:ext cx="1536010" cy="197436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6096000" y="11912026"/>
            <a:ext cx="1536010" cy="5847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7788966" y="11895949"/>
            <a:ext cx="1536010" cy="5847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9385222" y="11885074"/>
            <a:ext cx="1536010" cy="5847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140C987-3C49-588E-FFCB-403903C0F249}"/>
              </a:ext>
            </a:extLst>
          </p:cNvPr>
          <p:cNvSpPr/>
          <p:nvPr/>
        </p:nvSpPr>
        <p:spPr>
          <a:xfrm>
            <a:off x="16629999" y="11873262"/>
            <a:ext cx="1536010" cy="58477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288000" y="0"/>
            <a:ext cx="6096000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err="1"/>
              <a:t>Dmem</a:t>
            </a:r>
            <a:r>
              <a:rPr lang="en-US" altLang="ko-KR" sz="4400" dirty="0"/>
              <a:t>[Rs1+imm] = Rs2</a:t>
            </a:r>
          </a:p>
          <a:p>
            <a:endParaRPr lang="en-US" altLang="ko-KR" sz="4400" dirty="0"/>
          </a:p>
          <a:p>
            <a:r>
              <a:rPr lang="en-US" altLang="ko-KR" sz="4400" dirty="0"/>
              <a:t>Rs1 : 0</a:t>
            </a:r>
          </a:p>
          <a:p>
            <a:r>
              <a:rPr lang="en-US" altLang="ko-KR" sz="4400" dirty="0"/>
              <a:t>Imm : 0~3</a:t>
            </a:r>
          </a:p>
          <a:p>
            <a:r>
              <a:rPr lang="en-US" altLang="ko-KR" sz="4400" dirty="0"/>
              <a:t>Rs2 : x28 ~ x31</a:t>
            </a:r>
            <a:endParaRPr lang="ko-KR" altLang="en-US" sz="4400" dirty="0"/>
          </a:p>
        </p:txBody>
      </p:sp>
      <p:sp>
        <p:nvSpPr>
          <p:cNvPr id="25" name="직사각형 24"/>
          <p:cNvSpPr/>
          <p:nvPr/>
        </p:nvSpPr>
        <p:spPr>
          <a:xfrm>
            <a:off x="11917787" y="9688818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@(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posedge</a:t>
            </a:r>
            <a:r>
              <a:rPr lang="en-US" altLang="ko-KR" sz="4400" dirty="0" smtClean="0">
                <a:solidFill>
                  <a:schemeClr val="tx1"/>
                </a:solidFill>
              </a:rPr>
              <a:t> 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clk</a:t>
            </a:r>
            <a:r>
              <a:rPr lang="en-US" altLang="ko-KR" sz="4400" dirty="0" smtClean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28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A41A-51F1-9178-9A16-D58F1120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EE691C21-90A2-D126-6B77-C06313846A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EEB9807-1DE1-179A-3FE8-FC21785D8AA6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(S-type)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94AFEC-9291-D475-7AA8-8AAFDDA11F31}"/>
              </a:ext>
            </a:extLst>
          </p:cNvPr>
          <p:cNvSpPr txBox="1"/>
          <p:nvPr/>
        </p:nvSpPr>
        <p:spPr>
          <a:xfrm>
            <a:off x="1305339" y="2426274"/>
            <a:ext cx="8372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simulation(PC)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41A406-03A3-2259-12B2-02EFA7201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93934"/>
            <a:ext cx="23469600" cy="958596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9903A6-CE36-09B9-6F24-41143B9A2C2C}"/>
              </a:ext>
            </a:extLst>
          </p:cNvPr>
          <p:cNvSpPr/>
          <p:nvPr/>
        </p:nvSpPr>
        <p:spPr>
          <a:xfrm>
            <a:off x="5486400" y="3957333"/>
            <a:ext cx="18364200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55092B-8602-EA3C-89EB-75DB9A64F3BD}"/>
              </a:ext>
            </a:extLst>
          </p:cNvPr>
          <p:cNvSpPr/>
          <p:nvPr/>
        </p:nvSpPr>
        <p:spPr>
          <a:xfrm>
            <a:off x="5516217" y="11044178"/>
            <a:ext cx="18364201" cy="63917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38E6CD3-11FD-2EE9-0FCB-580115362678}"/>
              </a:ext>
            </a:extLst>
          </p:cNvPr>
          <p:cNvCxnSpPr>
            <a:cxnSpLocks/>
          </p:cNvCxnSpPr>
          <p:nvPr/>
        </p:nvCxnSpPr>
        <p:spPr>
          <a:xfrm>
            <a:off x="10172700" y="8839200"/>
            <a:ext cx="0" cy="21119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C49BF8B-23FD-1C4B-B347-C48B0654D525}"/>
              </a:ext>
            </a:extLst>
          </p:cNvPr>
          <p:cNvSpPr txBox="1"/>
          <p:nvPr/>
        </p:nvSpPr>
        <p:spPr>
          <a:xfrm>
            <a:off x="15621000" y="5761629"/>
            <a:ext cx="342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+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r>
              <a:rPr lang="ko-KR" altLang="en-US" sz="4000" dirty="0">
                <a:highlight>
                  <a:srgbClr val="FFFF00"/>
                </a:highlight>
              </a:rPr>
              <a:t>씩 증가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BD719BF-5016-5AAB-F1F0-3C8A1D084E05}"/>
              </a:ext>
            </a:extLst>
          </p:cNvPr>
          <p:cNvCxnSpPr>
            <a:cxnSpLocks/>
          </p:cNvCxnSpPr>
          <p:nvPr/>
        </p:nvCxnSpPr>
        <p:spPr>
          <a:xfrm flipV="1">
            <a:off x="13792200" y="4593724"/>
            <a:ext cx="76200" cy="635738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7795E90-32D8-C8FA-EBCB-1A76948B5B2B}"/>
              </a:ext>
            </a:extLst>
          </p:cNvPr>
          <p:cNvCxnSpPr>
            <a:cxnSpLocks/>
          </p:cNvCxnSpPr>
          <p:nvPr/>
        </p:nvCxnSpPr>
        <p:spPr>
          <a:xfrm flipH="1" flipV="1">
            <a:off x="15338562" y="4593724"/>
            <a:ext cx="815838" cy="139180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42EA5DA-9ABC-8B4B-7908-9BA638B87035}"/>
              </a:ext>
            </a:extLst>
          </p:cNvPr>
          <p:cNvSpPr txBox="1"/>
          <p:nvPr/>
        </p:nvSpPr>
        <p:spPr>
          <a:xfrm>
            <a:off x="14063872" y="7762938"/>
            <a:ext cx="2319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>
                <a:highlight>
                  <a:srgbClr val="FFFF00"/>
                </a:highlight>
              </a:rPr>
              <a:t>O_pc</a:t>
            </a:r>
            <a:r>
              <a:rPr lang="en-US" altLang="ko-KR" sz="4000" dirty="0">
                <a:highlight>
                  <a:srgbClr val="FFFF00"/>
                </a:highlight>
              </a:rPr>
              <a:t>[31:2]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11FB8A-C069-C0A7-D909-FA95210EBAFB}"/>
              </a:ext>
            </a:extLst>
          </p:cNvPr>
          <p:cNvSpPr txBox="1"/>
          <p:nvPr/>
        </p:nvSpPr>
        <p:spPr>
          <a:xfrm>
            <a:off x="8839200" y="8084781"/>
            <a:ext cx="266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PC</a:t>
            </a:r>
            <a:r>
              <a:rPr lang="ko-KR" altLang="en-US" sz="4000" dirty="0">
                <a:highlight>
                  <a:srgbClr val="FFFF00"/>
                </a:highlight>
              </a:rPr>
              <a:t> </a:t>
            </a:r>
            <a:r>
              <a:rPr lang="en-US" altLang="ko-KR" sz="4000" dirty="0">
                <a:highlight>
                  <a:srgbClr val="FFFF00"/>
                </a:highlight>
              </a:rPr>
              <a:t>+ 4 </a:t>
            </a:r>
            <a:r>
              <a:rPr lang="ko-KR" altLang="en-US" sz="4000" dirty="0">
                <a:highlight>
                  <a:srgbClr val="FFFF00"/>
                </a:highlight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421214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0331-ECB4-7C75-82F3-68FCFE0D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215E8B6E-5FCF-3108-5CB9-C38EAFFCF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43519"/>
            <a:ext cx="11688417" cy="10191436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AF2A8D3C-6671-987C-FF53-3793F3DD85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8B730CAA-49E5-F04F-0713-8ECE3492830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42A84-83AC-54B1-062F-FBB512C162B4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FCD32E9-10F4-6A90-F100-B2A962068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082985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1EC8397-EEA9-0E91-14E7-B007CBE1A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439973"/>
              </p:ext>
            </p:extLst>
          </p:nvPr>
        </p:nvGraphicFramePr>
        <p:xfrm>
          <a:off x="17068800" y="3352800"/>
          <a:ext cx="4400550" cy="7802883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53702253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670880419"/>
                    </a:ext>
                  </a:extLst>
                </a:gridCol>
              </a:tblGrid>
              <a:tr h="70935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1202258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391757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54840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38010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13158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24607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184728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31749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334389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60465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7804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3E51D20-14D3-A95D-0F55-D94AC283879B}"/>
              </a:ext>
            </a:extLst>
          </p:cNvPr>
          <p:cNvSpPr txBox="1"/>
          <p:nvPr/>
        </p:nvSpPr>
        <p:spPr>
          <a:xfrm>
            <a:off x="3657600" y="96012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DF4D3D-D49D-6E85-8C47-2CB09F095475}"/>
              </a:ext>
            </a:extLst>
          </p:cNvPr>
          <p:cNvSpPr txBox="1"/>
          <p:nvPr/>
        </p:nvSpPr>
        <p:spPr>
          <a:xfrm>
            <a:off x="9829801" y="6294564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Imm+rs1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F09DD0-CEA7-49C6-A84D-8FBF26EFEBC8}"/>
              </a:ext>
            </a:extLst>
          </p:cNvPr>
          <p:cNvSpPr txBox="1"/>
          <p:nvPr/>
        </p:nvSpPr>
        <p:spPr>
          <a:xfrm>
            <a:off x="7934739" y="434340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37F46D-2F98-EE7C-9BA0-D1E0805D2387}"/>
              </a:ext>
            </a:extLst>
          </p:cNvPr>
          <p:cNvSpPr txBox="1"/>
          <p:nvPr/>
        </p:nvSpPr>
        <p:spPr>
          <a:xfrm>
            <a:off x="6248399" y="4320209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285D6A-E599-DAE2-8845-7543F786CC87}"/>
              </a:ext>
            </a:extLst>
          </p:cNvPr>
          <p:cNvSpPr txBox="1"/>
          <p:nvPr/>
        </p:nvSpPr>
        <p:spPr>
          <a:xfrm>
            <a:off x="11506200" y="2824679"/>
            <a:ext cx="1765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funct3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505605-7EC4-C67A-F385-F7F5C5D1CCAE}"/>
              </a:ext>
            </a:extLst>
          </p:cNvPr>
          <p:cNvSpPr txBox="1"/>
          <p:nvPr/>
        </p:nvSpPr>
        <p:spPr>
          <a:xfrm>
            <a:off x="7162800" y="8218439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Drdata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1087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E16D-3533-8794-466D-FCE2B366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8110268-BF47-998D-77F7-6950646E1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43519"/>
            <a:ext cx="11688417" cy="10191436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A0C16722-01EF-69BF-C2BD-1C1A74AF8E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8CEB8E16-43B1-34DD-CB6E-C8648274EAC1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B74557-69E4-1132-7876-C398A024DA76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1DFBA2F-3B79-672B-8454-A753FD04E622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OPCODE(I-type)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D4F65D3-A36B-9140-6780-896C8F2C0B0B}"/>
              </a:ext>
            </a:extLst>
          </p:cNvPr>
          <p:cNvSpPr txBox="1"/>
          <p:nvPr/>
        </p:nvSpPr>
        <p:spPr>
          <a:xfrm>
            <a:off x="3657600" y="9601200"/>
            <a:ext cx="1412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747992-6B50-2C1B-A656-B8A782D85292}"/>
              </a:ext>
            </a:extLst>
          </p:cNvPr>
          <p:cNvSpPr txBox="1"/>
          <p:nvPr/>
        </p:nvSpPr>
        <p:spPr>
          <a:xfrm>
            <a:off x="9829801" y="6294564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Imm+rs1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296A1A-B88B-464C-B5D8-A741AE452D92}"/>
              </a:ext>
            </a:extLst>
          </p:cNvPr>
          <p:cNvSpPr txBox="1"/>
          <p:nvPr/>
        </p:nvSpPr>
        <p:spPr>
          <a:xfrm>
            <a:off x="7934739" y="4343400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3CBE1-ED02-6D9F-FA44-318B08FD6DF3}"/>
              </a:ext>
            </a:extLst>
          </p:cNvPr>
          <p:cNvSpPr txBox="1"/>
          <p:nvPr/>
        </p:nvSpPr>
        <p:spPr>
          <a:xfrm>
            <a:off x="6248399" y="4320209"/>
            <a:ext cx="5632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8127EC-B7F8-5690-D857-9F94BC1045FD}"/>
              </a:ext>
            </a:extLst>
          </p:cNvPr>
          <p:cNvSpPr txBox="1"/>
          <p:nvPr/>
        </p:nvSpPr>
        <p:spPr>
          <a:xfrm>
            <a:off x="11506200" y="2824679"/>
            <a:ext cx="1765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funct3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B23494-0958-6210-9483-CD8A0611A991}"/>
              </a:ext>
            </a:extLst>
          </p:cNvPr>
          <p:cNvSpPr txBox="1"/>
          <p:nvPr/>
        </p:nvSpPr>
        <p:spPr>
          <a:xfrm>
            <a:off x="7162800" y="8218439"/>
            <a:ext cx="2362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Drdata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FD0C6899-B568-AE83-BD00-DE31DCC72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380386"/>
              </p:ext>
            </p:extLst>
          </p:nvPr>
        </p:nvGraphicFramePr>
        <p:xfrm>
          <a:off x="14706600" y="3276600"/>
          <a:ext cx="9144000" cy="735889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8133707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537622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4325572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66265829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>
                          <a:solidFill>
                            <a:schemeClr val="bg1"/>
                          </a:solidFill>
                        </a:rPr>
                        <a:t>DATA MEM</a:t>
                      </a: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600" dirty="0" smtClean="0"/>
                        <a:t>설계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Funct3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Addr</a:t>
                      </a:r>
                      <a:r>
                        <a:rPr lang="en-US" sz="3600" dirty="0"/>
                        <a:t> scale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smtClean="0"/>
                        <a:t>CL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/>
                        <a:t>word</a:t>
                      </a:r>
                      <a:r>
                        <a:rPr lang="en-US" sz="2400" baseline="0" dirty="0" smtClean="0"/>
                        <a:t> addressing</a:t>
                      </a:r>
                      <a:endParaRPr 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3’h0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Byte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LH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Half 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322434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LW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024723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LBU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Byte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Unsigned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312889"/>
                  </a:ext>
                </a:extLst>
              </a:tr>
              <a:tr h="110088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LHU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3600" dirty="0"/>
                        <a:t>3’h4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Half word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600" dirty="0"/>
                        <a:t>Unsigned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971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6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1B23-336A-2A5F-D763-D1990561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3D705CF-E48A-44FB-7BAD-6AE63D4E4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865CDA9-E8A4-47D2-6512-E77D6BD9ABD3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B2F3A-98AC-6384-07F0-31C021C67634}"/>
              </a:ext>
            </a:extLst>
          </p:cNvPr>
          <p:cNvSpPr txBox="1"/>
          <p:nvPr/>
        </p:nvSpPr>
        <p:spPr>
          <a:xfrm>
            <a:off x="0" y="2286000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054231"/>
              </p:ext>
            </p:extLst>
          </p:nvPr>
        </p:nvGraphicFramePr>
        <p:xfrm>
          <a:off x="6129131" y="2819400"/>
          <a:ext cx="9034669" cy="8948423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18481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reg</a:t>
                      </a:r>
                      <a:r>
                        <a:rPr lang="en-US" sz="2800" baseline="0" dirty="0" smtClean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</a:t>
                      </a:r>
                      <a:r>
                        <a:rPr lang="en-US" sz="2800" dirty="0" smtClean="0"/>
                        <a:t>B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/>
                        <a:t>Dmem</a:t>
                      </a:r>
                      <a:r>
                        <a:rPr lang="en-US" sz="2800" dirty="0" smtClean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ff_ff_ff_f2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ff_ff_ff_f3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00_00_00_04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</a:t>
                      </a:r>
                      <a:r>
                        <a:rPr lang="en-US" sz="2800" dirty="0" smtClean="0"/>
                        <a:t>H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ff_ff_f2_01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00_00_04_f3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</a:t>
                      </a:r>
                      <a:r>
                        <a:rPr lang="en-US" sz="2800" dirty="0" smtClean="0"/>
                        <a:t>W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04_f3_f2_01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6409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998393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39349"/>
                  </a:ext>
                </a:extLst>
              </a:tr>
            </a:tbl>
          </a:graphicData>
        </a:graphic>
      </p:graphicFrame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242546"/>
              </p:ext>
            </p:extLst>
          </p:nvPr>
        </p:nvGraphicFramePr>
        <p:xfrm>
          <a:off x="15273131" y="2819400"/>
          <a:ext cx="9034669" cy="6369167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reg</a:t>
                      </a:r>
                      <a:r>
                        <a:rPr lang="en-US" sz="2800" baseline="0" dirty="0" smtClean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LBU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Dmem</a:t>
                      </a:r>
                      <a:r>
                        <a:rPr lang="en-US" sz="2800" dirty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00_00_00_f2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00_00_00_f3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15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00_00_00_04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16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LHU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00_00_f2_01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17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18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00_00_04_f3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19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</a:tbl>
          </a:graphicData>
        </a:graphic>
      </p:graphicFrame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872501"/>
              </p:ext>
            </p:extLst>
          </p:nvPr>
        </p:nvGraphicFramePr>
        <p:xfrm>
          <a:off x="1313509" y="11951430"/>
          <a:ext cx="3173289" cy="1046562"/>
        </p:xfrm>
        <a:graphic>
          <a:graphicData uri="http://schemas.openxmlformats.org/drawingml/2006/table">
            <a:tbl>
              <a:tblPr/>
              <a:tblGrid>
                <a:gridCol w="90446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2268829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328781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Register </a:t>
                      </a: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1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x1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load data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</a:tbl>
          </a:graphicData>
        </a:graphic>
      </p:graphicFrame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87039"/>
              </p:ext>
            </p:extLst>
          </p:nvPr>
        </p:nvGraphicFramePr>
        <p:xfrm>
          <a:off x="703909" y="8192102"/>
          <a:ext cx="4714461" cy="1569843"/>
        </p:xfrm>
        <a:graphic>
          <a:graphicData uri="http://schemas.openxmlformats.org/drawingml/2006/table">
            <a:tbl>
              <a:tblPr/>
              <a:tblGrid>
                <a:gridCol w="134372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3370732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328781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DATA MEM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7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51201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32’h04_f3_f2_01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</a:tbl>
          </a:graphicData>
        </a:graphic>
      </p:graphicFrame>
      <p:sp>
        <p:nvSpPr>
          <p:cNvPr id="10" name="화살표: 아래쪽 22">
            <a:extLst>
              <a:ext uri="{FF2B5EF4-FFF2-40B4-BE49-F238E27FC236}">
                <a16:creationId xmlns:a16="http://schemas.microsoft.com/office/drawing/2014/main" id="{1B7324BE-8817-5491-6BB4-04163410FD4C}"/>
              </a:ext>
            </a:extLst>
          </p:cNvPr>
          <p:cNvSpPr/>
          <p:nvPr/>
        </p:nvSpPr>
        <p:spPr>
          <a:xfrm>
            <a:off x="2108639" y="10275030"/>
            <a:ext cx="1905000" cy="9144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93725" y="3962400"/>
            <a:ext cx="5597475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Rd </a:t>
            </a:r>
            <a:r>
              <a:rPr lang="en-US" altLang="ko-KR" sz="4400" dirty="0" smtClean="0"/>
              <a:t>= </a:t>
            </a:r>
            <a:r>
              <a:rPr lang="en-US" altLang="ko-KR" sz="4400" dirty="0" err="1" smtClean="0"/>
              <a:t>Dmem</a:t>
            </a:r>
            <a:r>
              <a:rPr lang="en-US" altLang="ko-KR" sz="4400" dirty="0" smtClean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 smtClean="0"/>
              <a:t>Rs1 </a:t>
            </a:r>
            <a:r>
              <a:rPr lang="en-US" altLang="ko-KR" sz="4400" dirty="0"/>
              <a:t>: 0</a:t>
            </a:r>
          </a:p>
          <a:p>
            <a:r>
              <a:rPr lang="en-US" altLang="ko-KR" sz="4400" dirty="0"/>
              <a:t>Imm : </a:t>
            </a:r>
            <a:r>
              <a:rPr lang="en-US" altLang="ko-KR" sz="4400" dirty="0" smtClean="0"/>
              <a:t>0~3</a:t>
            </a:r>
            <a:endParaRPr lang="en-US" altLang="ko-KR" sz="4400" dirty="0"/>
          </a:p>
          <a:p>
            <a:r>
              <a:rPr lang="en-US" altLang="ko-KR" sz="4400" dirty="0" smtClean="0"/>
              <a:t>Rd </a:t>
            </a:r>
            <a:r>
              <a:rPr lang="en-US" altLang="ko-KR" sz="4400" dirty="0"/>
              <a:t>: </a:t>
            </a:r>
            <a:r>
              <a:rPr lang="en-US" altLang="ko-KR" sz="4400" dirty="0" smtClean="0"/>
              <a:t>x1	</a:t>
            </a:r>
            <a:endParaRPr lang="ko-KR" altLang="en-US" sz="4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7" name="잉크 36"/>
              <p14:cNvContentPartPr/>
              <p14:nvPr/>
            </p14:nvContentPartPr>
            <p14:xfrm>
              <a:off x="12715628" y="4271099"/>
              <a:ext cx="1396800" cy="720"/>
            </p14:xfrm>
          </p:contentPart>
        </mc:Choice>
        <mc:Fallback>
          <p:pic>
            <p:nvPicPr>
              <p:cNvPr id="37" name="잉크 3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67748" y="4174979"/>
                <a:ext cx="14925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8" name="잉크 37"/>
              <p14:cNvContentPartPr/>
              <p14:nvPr/>
            </p14:nvContentPartPr>
            <p14:xfrm>
              <a:off x="12900308" y="4979822"/>
              <a:ext cx="988560" cy="51120"/>
            </p14:xfrm>
          </p:contentPart>
        </mc:Choice>
        <mc:Fallback>
          <p:pic>
            <p:nvPicPr>
              <p:cNvPr id="38" name="잉크 3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52428" y="4883702"/>
                <a:ext cx="10846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9" name="잉크 38"/>
              <p14:cNvContentPartPr/>
              <p14:nvPr/>
            </p14:nvContentPartPr>
            <p14:xfrm>
              <a:off x="12962228" y="5634662"/>
              <a:ext cx="976680" cy="360"/>
            </p14:xfrm>
          </p:contentPart>
        </mc:Choice>
        <mc:Fallback>
          <p:pic>
            <p:nvPicPr>
              <p:cNvPr id="39" name="잉크 3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14348" y="5538542"/>
                <a:ext cx="10724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0" name="잉크 39"/>
              <p14:cNvContentPartPr/>
              <p14:nvPr/>
            </p14:nvContentPartPr>
            <p14:xfrm>
              <a:off x="12715628" y="6252062"/>
              <a:ext cx="1309680" cy="13680"/>
            </p14:xfrm>
          </p:contentPart>
        </mc:Choice>
        <mc:Fallback>
          <p:pic>
            <p:nvPicPr>
              <p:cNvPr id="40" name="잉크 3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667388" y="6156302"/>
                <a:ext cx="14058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1" name="잉크 40"/>
              <p14:cNvContentPartPr/>
              <p14:nvPr/>
            </p14:nvContentPartPr>
            <p14:xfrm>
              <a:off x="12863228" y="7240622"/>
              <a:ext cx="618480" cy="29880"/>
            </p14:xfrm>
          </p:contentPart>
        </mc:Choice>
        <mc:Fallback>
          <p:pic>
            <p:nvPicPr>
              <p:cNvPr id="41" name="잉크 4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15348" y="7144862"/>
                <a:ext cx="7142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2" name="잉크 41"/>
              <p14:cNvContentPartPr/>
              <p14:nvPr/>
            </p14:nvContentPartPr>
            <p14:xfrm>
              <a:off x="12739748" y="8496662"/>
              <a:ext cx="803160" cy="22680"/>
            </p14:xfrm>
          </p:contentPart>
        </mc:Choice>
        <mc:Fallback>
          <p:pic>
            <p:nvPicPr>
              <p:cNvPr id="42" name="잉크 4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691868" y="8400902"/>
                <a:ext cx="8992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3" name="잉크 42"/>
              <p14:cNvContentPartPr/>
              <p14:nvPr/>
            </p14:nvContentPartPr>
            <p14:xfrm>
              <a:off x="21834428" y="4250822"/>
              <a:ext cx="1359720" cy="20160"/>
            </p14:xfrm>
          </p:contentPart>
        </mc:Choice>
        <mc:Fallback>
          <p:pic>
            <p:nvPicPr>
              <p:cNvPr id="43" name="잉크 4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786548" y="4154702"/>
                <a:ext cx="14554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4" name="잉크 43"/>
              <p14:cNvContentPartPr/>
              <p14:nvPr/>
            </p14:nvContentPartPr>
            <p14:xfrm>
              <a:off x="21883748" y="4967582"/>
              <a:ext cx="1396800" cy="720"/>
            </p14:xfrm>
          </p:contentPart>
        </mc:Choice>
        <mc:Fallback>
          <p:pic>
            <p:nvPicPr>
              <p:cNvPr id="44" name="잉크 43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835868" y="4871462"/>
                <a:ext cx="14925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5" name="잉크 44"/>
              <p14:cNvContentPartPr/>
              <p14:nvPr/>
            </p14:nvContentPartPr>
            <p14:xfrm>
              <a:off x="21859628" y="5609462"/>
              <a:ext cx="1395720" cy="720"/>
            </p14:xfrm>
          </p:contentPart>
        </mc:Choice>
        <mc:Fallback>
          <p:pic>
            <p:nvPicPr>
              <p:cNvPr id="45" name="잉크 4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811388" y="5513702"/>
                <a:ext cx="14922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6" name="잉크 45"/>
              <p14:cNvContentPartPr/>
              <p14:nvPr/>
            </p14:nvContentPartPr>
            <p14:xfrm>
              <a:off x="21772508" y="6227942"/>
              <a:ext cx="1433880" cy="13320"/>
            </p14:xfrm>
          </p:contentPart>
        </mc:Choice>
        <mc:Fallback>
          <p:pic>
            <p:nvPicPr>
              <p:cNvPr id="46" name="잉크 45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724628" y="6131822"/>
                <a:ext cx="15296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7" name="잉크 46"/>
              <p14:cNvContentPartPr/>
              <p14:nvPr/>
            </p14:nvContentPartPr>
            <p14:xfrm>
              <a:off x="21883748" y="7194542"/>
              <a:ext cx="840240" cy="59760"/>
            </p14:xfrm>
          </p:contentPart>
        </mc:Choice>
        <mc:Fallback>
          <p:pic>
            <p:nvPicPr>
              <p:cNvPr id="47" name="잉크 4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1835868" y="7098782"/>
                <a:ext cx="9363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8" name="잉크 47"/>
              <p14:cNvContentPartPr/>
              <p14:nvPr/>
            </p14:nvContentPartPr>
            <p14:xfrm>
              <a:off x="21834428" y="8460662"/>
              <a:ext cx="865440" cy="102960"/>
            </p14:xfrm>
          </p:contentPart>
        </mc:Choice>
        <mc:Fallback>
          <p:pic>
            <p:nvPicPr>
              <p:cNvPr id="48" name="잉크 47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1786548" y="8364902"/>
                <a:ext cx="961200" cy="29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502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simulation(ALU)</a:t>
            </a:r>
            <a:endParaRPr lang="en-US" altLang="ko-KR" sz="4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517080"/>
            <a:ext cx="17754600" cy="897972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1EC8397-EEA9-0E91-14E7-B007CBE1A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49032"/>
              </p:ext>
            </p:extLst>
          </p:nvPr>
        </p:nvGraphicFramePr>
        <p:xfrm>
          <a:off x="19050000" y="3886200"/>
          <a:ext cx="4400550" cy="7802883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537022533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670880419"/>
                    </a:ext>
                  </a:extLst>
                </a:gridCol>
              </a:tblGrid>
              <a:tr h="709353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1202258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391757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54840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38010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13158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24607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184728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317491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334389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60465"/>
                  </a:ext>
                </a:extLst>
              </a:tr>
              <a:tr h="7093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780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2362200" y="6477000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432F0-D4D4-AB93-B20F-CAA4A713488D}"/>
              </a:ext>
            </a:extLst>
          </p:cNvPr>
          <p:cNvSpPr txBox="1"/>
          <p:nvPr/>
        </p:nvSpPr>
        <p:spPr>
          <a:xfrm>
            <a:off x="2333884" y="7127185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42AB0-6589-AE8E-EE2D-871E684D8E7A}"/>
              </a:ext>
            </a:extLst>
          </p:cNvPr>
          <p:cNvSpPr txBox="1"/>
          <p:nvPr/>
        </p:nvSpPr>
        <p:spPr>
          <a:xfrm>
            <a:off x="2339035" y="7860334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56468F-03C6-C4CE-6679-2EE7815057EC}"/>
              </a:ext>
            </a:extLst>
          </p:cNvPr>
          <p:cNvSpPr/>
          <p:nvPr/>
        </p:nvSpPr>
        <p:spPr>
          <a:xfrm>
            <a:off x="381001" y="6477000"/>
            <a:ext cx="1752600" cy="60198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4ADCA-392C-D7FF-3F04-7D2D93A7E773}"/>
              </a:ext>
            </a:extLst>
          </p:cNvPr>
          <p:cNvSpPr txBox="1"/>
          <p:nvPr/>
        </p:nvSpPr>
        <p:spPr>
          <a:xfrm>
            <a:off x="2647951" y="8601721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ADD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53A03-6D6D-705C-9852-389288F7460F}"/>
              </a:ext>
            </a:extLst>
          </p:cNvPr>
          <p:cNvSpPr txBox="1"/>
          <p:nvPr/>
        </p:nvSpPr>
        <p:spPr>
          <a:xfrm>
            <a:off x="2365806" y="9327069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D5066-DA47-EDEA-8D1B-D6E5A2AFB467}"/>
              </a:ext>
            </a:extLst>
          </p:cNvPr>
          <p:cNvSpPr txBox="1"/>
          <p:nvPr/>
        </p:nvSpPr>
        <p:spPr>
          <a:xfrm>
            <a:off x="2378676" y="11622547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DD842-A0C9-A831-8DAE-E38ADB6F1D80}"/>
              </a:ext>
            </a:extLst>
          </p:cNvPr>
          <p:cNvSpPr txBox="1"/>
          <p:nvPr/>
        </p:nvSpPr>
        <p:spPr>
          <a:xfrm>
            <a:off x="2351391" y="10129039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3886200" y="10836925"/>
            <a:ext cx="13470919" cy="70788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4561FDD-B05C-D6E2-F096-A0F417032240}"/>
              </a:ext>
            </a:extLst>
          </p:cNvPr>
          <p:cNvSpPr/>
          <p:nvPr/>
        </p:nvSpPr>
        <p:spPr>
          <a:xfrm>
            <a:off x="3674081" y="4989272"/>
            <a:ext cx="13470919" cy="70788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8436581" y="5697159"/>
            <a:ext cx="21619" cy="504704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E23155E-4A95-6952-3D94-FEC444753CB3}"/>
              </a:ext>
            </a:extLst>
          </p:cNvPr>
          <p:cNvSpPr txBox="1"/>
          <p:nvPr/>
        </p:nvSpPr>
        <p:spPr>
          <a:xfrm>
            <a:off x="8646130" y="6540330"/>
            <a:ext cx="4912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o_funct3 = funct3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648200" y="7787641"/>
            <a:ext cx="14401800" cy="120395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104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simulation(ALU)</a:t>
            </a:r>
            <a:endParaRPr lang="en-US" altLang="ko-KR" sz="44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67200"/>
            <a:ext cx="23317200" cy="731520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3200400" y="6844150"/>
            <a:ext cx="1371600" cy="68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 smtClean="0">
                <a:solidFill>
                  <a:schemeClr val="tx1"/>
                </a:solidFill>
              </a:rPr>
              <a:t>imm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124200" y="5750011"/>
            <a:ext cx="1371600" cy="68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rs1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Rd </a:t>
            </a:r>
            <a:r>
              <a:rPr lang="en-US" altLang="ko-KR" sz="4400" dirty="0" smtClean="0"/>
              <a:t>= </a:t>
            </a:r>
            <a:r>
              <a:rPr lang="en-US" altLang="ko-KR" sz="4400" dirty="0" err="1" smtClean="0"/>
              <a:t>Dmem</a:t>
            </a:r>
            <a:r>
              <a:rPr lang="en-US" altLang="ko-KR" sz="4400" dirty="0" smtClean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 smtClean="0"/>
              <a:t>Rs1 </a:t>
            </a:r>
            <a:r>
              <a:rPr lang="en-US" altLang="ko-KR" sz="4400" dirty="0"/>
              <a:t>: 0</a:t>
            </a:r>
          </a:p>
          <a:p>
            <a:r>
              <a:rPr lang="en-US" altLang="ko-KR" sz="4400" dirty="0"/>
              <a:t>Imm : </a:t>
            </a:r>
            <a:r>
              <a:rPr lang="en-US" altLang="ko-KR" sz="4400" dirty="0" smtClean="0"/>
              <a:t>0~3</a:t>
            </a:r>
            <a:endParaRPr lang="en-US" altLang="ko-KR" sz="4400" dirty="0"/>
          </a:p>
          <a:p>
            <a:r>
              <a:rPr lang="en-US" altLang="ko-KR" sz="4400" dirty="0" smtClean="0"/>
              <a:t>Rd </a:t>
            </a:r>
            <a:r>
              <a:rPr lang="en-US" altLang="ko-KR" sz="4400" dirty="0"/>
              <a:t>: </a:t>
            </a:r>
            <a:r>
              <a:rPr lang="en-US" altLang="ko-KR" sz="4400" dirty="0" smtClean="0"/>
              <a:t>x1	</a:t>
            </a:r>
            <a:endParaRPr lang="ko-KR" altLang="en-US" sz="4400" dirty="0"/>
          </a:p>
        </p:txBody>
      </p:sp>
      <p:sp>
        <p:nvSpPr>
          <p:cNvPr id="21" name="직사각형 20"/>
          <p:cNvSpPr/>
          <p:nvPr/>
        </p:nvSpPr>
        <p:spPr>
          <a:xfrm>
            <a:off x="2963563" y="9213275"/>
            <a:ext cx="1530178" cy="68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err="1" smtClean="0">
                <a:solidFill>
                  <a:schemeClr val="tx1"/>
                </a:solidFill>
              </a:rPr>
              <a:t>daddr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7CB980-C68D-6978-6304-2CAFAC575B91}"/>
              </a:ext>
            </a:extLst>
          </p:cNvPr>
          <p:cNvSpPr/>
          <p:nvPr/>
        </p:nvSpPr>
        <p:spPr>
          <a:xfrm>
            <a:off x="4343401" y="11582400"/>
            <a:ext cx="43434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L</a:t>
            </a:r>
            <a:r>
              <a:rPr lang="en-US" altLang="ko-KR" sz="4400" dirty="0" smtClean="0"/>
              <a:t>B</a:t>
            </a:r>
            <a:endParaRPr lang="ko-KR" altLang="en-US" sz="4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F6032E-2DCD-F0D3-CB08-07622DE8EF87}"/>
              </a:ext>
            </a:extLst>
          </p:cNvPr>
          <p:cNvSpPr/>
          <p:nvPr/>
        </p:nvSpPr>
        <p:spPr>
          <a:xfrm>
            <a:off x="8686801" y="11582400"/>
            <a:ext cx="3657599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/>
              <a:t>LH</a:t>
            </a:r>
            <a:endParaRPr lang="ko-KR" altLang="en-US" sz="4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D31F25-7F24-A18D-C4DA-9392E364A401}"/>
              </a:ext>
            </a:extLst>
          </p:cNvPr>
          <p:cNvSpPr/>
          <p:nvPr/>
        </p:nvSpPr>
        <p:spPr>
          <a:xfrm>
            <a:off x="12344400" y="11594757"/>
            <a:ext cx="3886200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/>
              <a:t>L</a:t>
            </a:r>
            <a:r>
              <a:rPr lang="en-US" altLang="ko-KR" sz="4400" dirty="0" smtClean="0"/>
              <a:t>W</a:t>
            </a:r>
            <a:endParaRPr lang="ko-KR" altLang="en-US" sz="44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D31F25-7F24-A18D-C4DA-9392E364A401}"/>
              </a:ext>
            </a:extLst>
          </p:cNvPr>
          <p:cNvSpPr/>
          <p:nvPr/>
        </p:nvSpPr>
        <p:spPr>
          <a:xfrm>
            <a:off x="16230600" y="11582400"/>
            <a:ext cx="3886197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/>
              <a:t>LBU</a:t>
            </a:r>
            <a:endParaRPr lang="ko-KR" altLang="en-US" sz="44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7D31F25-7F24-A18D-C4DA-9392E364A401}"/>
              </a:ext>
            </a:extLst>
          </p:cNvPr>
          <p:cNvSpPr/>
          <p:nvPr/>
        </p:nvSpPr>
        <p:spPr>
          <a:xfrm>
            <a:off x="20116799" y="11570043"/>
            <a:ext cx="3657599" cy="814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/>
              <a:t>LHU</a:t>
            </a:r>
            <a:endParaRPr lang="ko-KR" altLang="en-US" sz="4400" dirty="0"/>
          </a:p>
        </p:txBody>
      </p:sp>
      <p:cxnSp>
        <p:nvCxnSpPr>
          <p:cNvPr id="27" name="직선 연결선 26"/>
          <p:cNvCxnSpPr/>
          <p:nvPr/>
        </p:nvCxnSpPr>
        <p:spPr>
          <a:xfrm>
            <a:off x="8648700" y="4267200"/>
            <a:ext cx="26773" cy="7327557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2317626" y="4269260"/>
            <a:ext cx="26773" cy="7327557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6222878" y="4248664"/>
            <a:ext cx="26773" cy="7327557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20070975" y="4254843"/>
            <a:ext cx="26773" cy="7327557"/>
          </a:xfrm>
          <a:prstGeom prst="line">
            <a:avLst/>
          </a:prstGeom>
          <a:ln w="7620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4679868" y="9103840"/>
            <a:ext cx="18942132" cy="10307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4816434" y="5641978"/>
            <a:ext cx="18942132" cy="220662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7000104" y="7848599"/>
            <a:ext cx="0" cy="125524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4076699" y="8055879"/>
            <a:ext cx="1371600" cy="68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ADD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19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92534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simulation(Data mem &amp; register file)</a:t>
            </a:r>
            <a:endParaRPr lang="en-US" altLang="ko-KR" sz="4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Rd </a:t>
            </a:r>
            <a:r>
              <a:rPr lang="en-US" altLang="ko-KR" sz="4400" dirty="0" smtClean="0"/>
              <a:t>= </a:t>
            </a:r>
            <a:r>
              <a:rPr lang="en-US" altLang="ko-KR" sz="4400" dirty="0" err="1" smtClean="0"/>
              <a:t>Dmem</a:t>
            </a:r>
            <a:r>
              <a:rPr lang="en-US" altLang="ko-KR" sz="4400" dirty="0" smtClean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 smtClean="0"/>
              <a:t>Rs1 </a:t>
            </a:r>
            <a:r>
              <a:rPr lang="en-US" altLang="ko-KR" sz="4400" dirty="0"/>
              <a:t>: 0</a:t>
            </a:r>
          </a:p>
          <a:p>
            <a:r>
              <a:rPr lang="en-US" altLang="ko-KR" sz="4400" dirty="0"/>
              <a:t>Imm : </a:t>
            </a:r>
            <a:r>
              <a:rPr lang="en-US" altLang="ko-KR" sz="4400" dirty="0" smtClean="0"/>
              <a:t>0~3</a:t>
            </a:r>
            <a:endParaRPr lang="en-US" altLang="ko-KR" sz="4400" dirty="0"/>
          </a:p>
          <a:p>
            <a:r>
              <a:rPr lang="en-US" altLang="ko-KR" sz="4400" dirty="0" smtClean="0"/>
              <a:t>Rd </a:t>
            </a:r>
            <a:r>
              <a:rPr lang="en-US" altLang="ko-KR" sz="4400" dirty="0"/>
              <a:t>: </a:t>
            </a:r>
            <a:r>
              <a:rPr lang="en-US" altLang="ko-KR" sz="4400" dirty="0" smtClean="0"/>
              <a:t>x1	</a:t>
            </a:r>
            <a:endParaRPr lang="ko-KR" altLang="en-US" sz="4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92483"/>
            <a:ext cx="14020800" cy="9085441"/>
          </a:xfrm>
          <a:prstGeom prst="rect">
            <a:avLst/>
          </a:prstGeom>
        </p:spPr>
      </p:pic>
      <p:graphicFrame>
        <p:nvGraphicFramePr>
          <p:cNvPr id="28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679290"/>
              </p:ext>
            </p:extLst>
          </p:nvPr>
        </p:nvGraphicFramePr>
        <p:xfrm>
          <a:off x="14815931" y="5867400"/>
          <a:ext cx="9034669" cy="3789911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18481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reg</a:t>
                      </a:r>
                      <a:r>
                        <a:rPr lang="en-US" sz="2800" baseline="0" dirty="0" smtClean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</a:t>
                      </a:r>
                      <a:r>
                        <a:rPr lang="en-US" sz="2800" dirty="0" smtClean="0"/>
                        <a:t>B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/>
                        <a:t>Dmem</a:t>
                      </a:r>
                      <a:r>
                        <a:rPr lang="en-US" sz="2800" dirty="0" smtClean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ff_ff_ff_f2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ff_ff_ff_f3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00_00_00_04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>
          <a:xfrm>
            <a:off x="4572000" y="5266751"/>
            <a:ext cx="12192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read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9051324" y="4215811"/>
            <a:ext cx="10668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LB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477000" y="6705600"/>
            <a:ext cx="6215962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491331" y="11811000"/>
            <a:ext cx="1263298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9935952" y="11788346"/>
            <a:ext cx="1263298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1429664" y="11811000"/>
            <a:ext cx="1263298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874285" y="11811000"/>
            <a:ext cx="1263298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7391400" y="7280189"/>
            <a:ext cx="1676400" cy="45081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9019403" y="7321378"/>
            <a:ext cx="1676400" cy="45081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2236792" y="7321377"/>
            <a:ext cx="1676400" cy="45081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0558802" y="7356389"/>
            <a:ext cx="1676400" cy="450815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591300" y="5760576"/>
            <a:ext cx="59817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4419600" y="9277961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write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4419600" y="9843719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716034" y="8989735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@(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posedge</a:t>
            </a:r>
            <a:r>
              <a:rPr lang="en-US" altLang="ko-KR" sz="4400" dirty="0" smtClean="0">
                <a:solidFill>
                  <a:schemeClr val="tx1"/>
                </a:solidFill>
              </a:rPr>
              <a:t> 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clk</a:t>
            </a:r>
            <a:r>
              <a:rPr lang="en-US" altLang="ko-KR" sz="4400" dirty="0" smtClean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30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8905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/>
              <a:t>simulation(Data mem &amp; register file)</a:t>
            </a:r>
            <a:endParaRPr lang="en-US" altLang="ko-KR" sz="4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Rd </a:t>
            </a:r>
            <a:r>
              <a:rPr lang="en-US" altLang="ko-KR" sz="4400" dirty="0" smtClean="0"/>
              <a:t>= </a:t>
            </a:r>
            <a:r>
              <a:rPr lang="en-US" altLang="ko-KR" sz="4400" dirty="0" err="1" smtClean="0"/>
              <a:t>Dmem</a:t>
            </a:r>
            <a:r>
              <a:rPr lang="en-US" altLang="ko-KR" sz="4400" dirty="0" smtClean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 smtClean="0"/>
              <a:t>Rs1 </a:t>
            </a:r>
            <a:r>
              <a:rPr lang="en-US" altLang="ko-KR" sz="4400" dirty="0"/>
              <a:t>: 0</a:t>
            </a:r>
          </a:p>
          <a:p>
            <a:r>
              <a:rPr lang="en-US" altLang="ko-KR" sz="4400" dirty="0"/>
              <a:t>Imm : </a:t>
            </a:r>
            <a:r>
              <a:rPr lang="en-US" altLang="ko-KR" sz="4400" dirty="0" smtClean="0"/>
              <a:t>0~3</a:t>
            </a:r>
            <a:endParaRPr lang="en-US" altLang="ko-KR" sz="4400" dirty="0"/>
          </a:p>
          <a:p>
            <a:r>
              <a:rPr lang="en-US" altLang="ko-KR" sz="4400" dirty="0" smtClean="0"/>
              <a:t>Rd </a:t>
            </a:r>
            <a:r>
              <a:rPr lang="en-US" altLang="ko-KR" sz="4400" dirty="0"/>
              <a:t>: </a:t>
            </a:r>
            <a:r>
              <a:rPr lang="en-US" altLang="ko-KR" sz="4400" dirty="0" smtClean="0"/>
              <a:t>x1	</a:t>
            </a:r>
            <a:endParaRPr lang="ko-KR" altLang="en-US" sz="4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417404"/>
            <a:ext cx="14312215" cy="9536596"/>
          </a:xfrm>
          <a:prstGeom prst="rect">
            <a:avLst/>
          </a:prstGeom>
        </p:spPr>
      </p:pic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918048"/>
              </p:ext>
            </p:extLst>
          </p:nvPr>
        </p:nvGraphicFramePr>
        <p:xfrm>
          <a:off x="14927006" y="4495800"/>
          <a:ext cx="9034669" cy="6335119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218481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reg</a:t>
                      </a:r>
                      <a:r>
                        <a:rPr lang="en-US" sz="2800" baseline="0" dirty="0" smtClean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</a:t>
                      </a:r>
                      <a:r>
                        <a:rPr lang="en-US" sz="2800" dirty="0" smtClean="0"/>
                        <a:t>H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ff_ff_f2_01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5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6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00_00_04_f3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L</a:t>
                      </a:r>
                      <a:r>
                        <a:rPr lang="en-US" sz="2800" dirty="0" smtClean="0"/>
                        <a:t>W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04_f3_f2_01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44518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9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6409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998393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11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39349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3352800" y="5176632"/>
            <a:ext cx="12192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read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553200" y="4009962"/>
            <a:ext cx="10668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LH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00400" y="9601200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write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200400" y="10155389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885985" y="4009961"/>
            <a:ext cx="10668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LW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410200" y="6781799"/>
            <a:ext cx="1143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181600" y="5689243"/>
            <a:ext cx="1524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7418886" y="5689243"/>
            <a:ext cx="1496514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7619999" y="6808571"/>
            <a:ext cx="1143001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9552486" y="5689242"/>
            <a:ext cx="3706314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0885985" y="6794410"/>
            <a:ext cx="10668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515100" y="12268200"/>
            <a:ext cx="1143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610600" y="12284676"/>
            <a:ext cx="1143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1904071" y="12288795"/>
            <a:ext cx="11430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5943599" y="7327811"/>
            <a:ext cx="1195201" cy="491361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8121992" y="7327811"/>
            <a:ext cx="1195201" cy="491361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1253597" y="7327811"/>
            <a:ext cx="1195201" cy="491361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7658100" y="9348432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@(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posedge</a:t>
            </a:r>
            <a:r>
              <a:rPr lang="en-US" altLang="ko-KR" sz="4400" dirty="0" smtClean="0">
                <a:solidFill>
                  <a:schemeClr val="tx1"/>
                </a:solidFill>
              </a:rPr>
              <a:t> 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clk</a:t>
            </a:r>
            <a:r>
              <a:rPr lang="en-US" altLang="ko-KR" sz="4400" dirty="0" smtClean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47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Rd </a:t>
            </a:r>
            <a:r>
              <a:rPr lang="en-US" altLang="ko-KR" sz="4400" dirty="0" smtClean="0"/>
              <a:t>= </a:t>
            </a:r>
            <a:r>
              <a:rPr lang="en-US" altLang="ko-KR" sz="4400" dirty="0" err="1" smtClean="0"/>
              <a:t>Dmem</a:t>
            </a:r>
            <a:r>
              <a:rPr lang="en-US" altLang="ko-KR" sz="4400" dirty="0" smtClean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 smtClean="0"/>
              <a:t>Rs1 </a:t>
            </a:r>
            <a:r>
              <a:rPr lang="en-US" altLang="ko-KR" sz="4400" dirty="0"/>
              <a:t>: 0</a:t>
            </a:r>
          </a:p>
          <a:p>
            <a:r>
              <a:rPr lang="en-US" altLang="ko-KR" sz="4400" dirty="0"/>
              <a:t>Imm : </a:t>
            </a:r>
            <a:r>
              <a:rPr lang="en-US" altLang="ko-KR" sz="4400" dirty="0" smtClean="0"/>
              <a:t>0~3</a:t>
            </a:r>
            <a:endParaRPr lang="en-US" altLang="ko-KR" sz="4400" dirty="0"/>
          </a:p>
          <a:p>
            <a:r>
              <a:rPr lang="en-US" altLang="ko-KR" sz="4400" dirty="0" smtClean="0"/>
              <a:t>Rd </a:t>
            </a:r>
            <a:r>
              <a:rPr lang="en-US" altLang="ko-KR" sz="4400" dirty="0"/>
              <a:t>: </a:t>
            </a:r>
            <a:r>
              <a:rPr lang="en-US" altLang="ko-KR" sz="4400" dirty="0" smtClean="0"/>
              <a:t>x1	</a:t>
            </a:r>
            <a:endParaRPr lang="ko-KR" altLang="en-US" sz="44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482187"/>
              </p:ext>
            </p:extLst>
          </p:nvPr>
        </p:nvGraphicFramePr>
        <p:xfrm>
          <a:off x="14554200" y="6400800"/>
          <a:ext cx="9034669" cy="3789911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161180630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1239179837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300614534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197241173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5416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reg</a:t>
                      </a:r>
                      <a:r>
                        <a:rPr lang="en-US" sz="2800" baseline="0" dirty="0" smtClean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33304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LBU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Dmem</a:t>
                      </a:r>
                      <a:r>
                        <a:rPr lang="en-US" sz="2800" dirty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36817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00_00_00_f2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2191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00_00_00_f3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7267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15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00_00_00_04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60425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76" y="3199834"/>
            <a:ext cx="14031124" cy="102023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8905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/>
              <a:t>simulation(Data mem &amp; register file)</a:t>
            </a:r>
            <a:endParaRPr lang="en-US" altLang="ko-KR" sz="4400" dirty="0"/>
          </a:p>
        </p:txBody>
      </p:sp>
      <p:sp>
        <p:nvSpPr>
          <p:cNvPr id="11" name="직사각형 10"/>
          <p:cNvSpPr/>
          <p:nvPr/>
        </p:nvSpPr>
        <p:spPr>
          <a:xfrm>
            <a:off x="4572000" y="5181600"/>
            <a:ext cx="12192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read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419600" y="9606168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write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419600" y="10160357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9043443" y="3820726"/>
            <a:ext cx="1572715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LBU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7048500" y="5562600"/>
            <a:ext cx="55245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858000" y="6704341"/>
            <a:ext cx="57912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305800" y="12573000"/>
            <a:ext cx="58674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9536999" y="7325264"/>
            <a:ext cx="1213379" cy="522920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7846271" y="7946156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@(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posedge</a:t>
            </a:r>
            <a:r>
              <a:rPr lang="en-US" altLang="ko-KR" sz="4400" dirty="0" smtClean="0">
                <a:solidFill>
                  <a:schemeClr val="tx1"/>
                </a:solidFill>
              </a:rPr>
              <a:t> 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clk</a:t>
            </a:r>
            <a:r>
              <a:rPr lang="en-US" altLang="ko-KR" sz="4400" dirty="0" smtClean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6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B27BC-C03B-77DE-B546-6125862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76697B6-ACA4-D854-120D-DA9C0B4FB9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CF1F27C7-7508-3E3F-BA3F-C6466C7F2AEF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(IL-type)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8364200" y="457200"/>
            <a:ext cx="5597475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Rd </a:t>
            </a:r>
            <a:r>
              <a:rPr lang="en-US" altLang="ko-KR" sz="4400" dirty="0" smtClean="0"/>
              <a:t>= </a:t>
            </a:r>
            <a:r>
              <a:rPr lang="en-US" altLang="ko-KR" sz="4400" dirty="0" err="1" smtClean="0"/>
              <a:t>Dmem</a:t>
            </a:r>
            <a:r>
              <a:rPr lang="en-US" altLang="ko-KR" sz="4400" dirty="0" smtClean="0"/>
              <a:t>[Rs1+imm] </a:t>
            </a:r>
          </a:p>
          <a:p>
            <a:endParaRPr lang="en-US" altLang="ko-KR" sz="4400" dirty="0"/>
          </a:p>
          <a:p>
            <a:r>
              <a:rPr lang="en-US" altLang="ko-KR" sz="4400" dirty="0" smtClean="0"/>
              <a:t>Rs1 </a:t>
            </a:r>
            <a:r>
              <a:rPr lang="en-US" altLang="ko-KR" sz="4400" dirty="0"/>
              <a:t>: 0</a:t>
            </a:r>
          </a:p>
          <a:p>
            <a:r>
              <a:rPr lang="en-US" altLang="ko-KR" sz="4400" dirty="0"/>
              <a:t>Imm : </a:t>
            </a:r>
            <a:r>
              <a:rPr lang="en-US" altLang="ko-KR" sz="4400" dirty="0" smtClean="0"/>
              <a:t>0~3</a:t>
            </a:r>
            <a:endParaRPr lang="en-US" altLang="ko-KR" sz="4400" dirty="0"/>
          </a:p>
          <a:p>
            <a:r>
              <a:rPr lang="en-US" altLang="ko-KR" sz="4400" dirty="0" smtClean="0"/>
              <a:t>Rd </a:t>
            </a:r>
            <a:r>
              <a:rPr lang="en-US" altLang="ko-KR" sz="4400" dirty="0"/>
              <a:t>: </a:t>
            </a:r>
            <a:r>
              <a:rPr lang="en-US" altLang="ko-KR" sz="4400" dirty="0" smtClean="0"/>
              <a:t>x1	</a:t>
            </a:r>
            <a:endParaRPr lang="ko-KR" altLang="en-US" sz="44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26127"/>
              </p:ext>
            </p:extLst>
          </p:nvPr>
        </p:nvGraphicFramePr>
        <p:xfrm>
          <a:off x="14892131" y="6705600"/>
          <a:ext cx="9034669" cy="3755863"/>
        </p:xfrm>
        <a:graphic>
          <a:graphicData uri="http://schemas.openxmlformats.org/drawingml/2006/table">
            <a:tbl>
              <a:tblPr/>
              <a:tblGrid>
                <a:gridCol w="865199">
                  <a:extLst>
                    <a:ext uri="{9D8B030D-6E8A-4147-A177-3AD203B41FA5}">
                      <a16:colId xmlns:a16="http://schemas.microsoft.com/office/drawing/2014/main" val="1161180630"/>
                    </a:ext>
                  </a:extLst>
                </a:gridCol>
                <a:gridCol w="1550010">
                  <a:extLst>
                    <a:ext uri="{9D8B030D-6E8A-4147-A177-3AD203B41FA5}">
                      <a16:colId xmlns:a16="http://schemas.microsoft.com/office/drawing/2014/main" val="1239179837"/>
                    </a:ext>
                  </a:extLst>
                </a:gridCol>
                <a:gridCol w="3567208">
                  <a:extLst>
                    <a:ext uri="{9D8B030D-6E8A-4147-A177-3AD203B41FA5}">
                      <a16:colId xmlns:a16="http://schemas.microsoft.com/office/drawing/2014/main" val="300614534"/>
                    </a:ext>
                  </a:extLst>
                </a:gridCol>
                <a:gridCol w="3052252">
                  <a:extLst>
                    <a:ext uri="{9D8B030D-6E8A-4147-A177-3AD203B41FA5}">
                      <a16:colId xmlns:a16="http://schemas.microsoft.com/office/drawing/2014/main" val="197241173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5416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(</a:t>
                      </a:r>
                      <a:r>
                        <a:rPr lang="en-US" sz="2800" dirty="0" err="1">
                          <a:solidFill>
                            <a:srgbClr val="FFFF00"/>
                          </a:solidFill>
                        </a:rPr>
                        <a:t>byte_addr</a:t>
                      </a:r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ko-KR" altLang="en-US" sz="2800" dirty="0">
                          <a:solidFill>
                            <a:srgbClr val="FFFF00"/>
                          </a:solidFill>
                        </a:rPr>
                        <a:t>기준</a:t>
                      </a:r>
                      <a:r>
                        <a:rPr lang="en-US" altLang="ko-KR" sz="2800" dirty="0">
                          <a:solidFill>
                            <a:srgbClr val="FFFF00"/>
                          </a:solidFill>
                        </a:rPr>
                        <a:t>)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reg</a:t>
                      </a:r>
                      <a:r>
                        <a:rPr lang="en-US" sz="2800" baseline="0" dirty="0" smtClean="0"/>
                        <a:t> file[x1]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33304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16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LHU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[0+0] = </a:t>
                      </a:r>
                      <a:r>
                        <a:rPr lang="en-US" altLang="ko-KR" sz="2800" dirty="0" smtClean="0"/>
                        <a:t>32’h01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00_00_f2_01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10891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17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[0+1] = </a:t>
                      </a:r>
                      <a:r>
                        <a:rPr lang="en-US" altLang="ko-KR" sz="2800" dirty="0" smtClean="0"/>
                        <a:t>32’hf2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35884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18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[0+2] = </a:t>
                      </a:r>
                      <a:r>
                        <a:rPr lang="en-US" altLang="ko-KR" sz="2800" dirty="0" smtClean="0"/>
                        <a:t>32’hf3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00_00_04_f3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757368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19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err="1"/>
                        <a:t>Dmem</a:t>
                      </a:r>
                      <a:r>
                        <a:rPr lang="en-US" altLang="ko-KR" sz="2800" dirty="0"/>
                        <a:t>[0+3] = </a:t>
                      </a:r>
                      <a:r>
                        <a:rPr lang="en-US" altLang="ko-KR" sz="2800" dirty="0" smtClean="0"/>
                        <a:t>32’h04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25947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195715"/>
            <a:ext cx="14554200" cy="102154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91069C-EB74-2BDA-0C30-A81AA27F67AC}"/>
              </a:ext>
            </a:extLst>
          </p:cNvPr>
          <p:cNvSpPr txBox="1"/>
          <p:nvPr/>
        </p:nvSpPr>
        <p:spPr>
          <a:xfrm>
            <a:off x="1305339" y="2426274"/>
            <a:ext cx="8905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/>
              <a:t>simulation(Data mem &amp; register file)</a:t>
            </a:r>
            <a:endParaRPr lang="en-US" altLang="ko-KR" sz="4400" dirty="0"/>
          </a:p>
        </p:txBody>
      </p:sp>
      <p:sp>
        <p:nvSpPr>
          <p:cNvPr id="11" name="직사각형 10"/>
          <p:cNvSpPr/>
          <p:nvPr/>
        </p:nvSpPr>
        <p:spPr>
          <a:xfrm>
            <a:off x="6019800" y="3826502"/>
            <a:ext cx="1572715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LHU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667000" y="4878247"/>
            <a:ext cx="12192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read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514600" y="9726035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write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514600" y="10280224"/>
            <a:ext cx="1524000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1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4953000" y="5560943"/>
            <a:ext cx="16764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915149" y="5596128"/>
            <a:ext cx="1543051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019800" y="12596940"/>
            <a:ext cx="14478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5933437" y="7367739"/>
            <a:ext cx="1213379" cy="522920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086349" y="6796560"/>
            <a:ext cx="1543051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6921719" y="6796560"/>
            <a:ext cx="1543051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652380" y="12621654"/>
            <a:ext cx="1447800" cy="53340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7592515" y="7313979"/>
            <a:ext cx="5513885" cy="530767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5628036" y="7996992"/>
            <a:ext cx="3928957" cy="5126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400" dirty="0" smtClean="0">
                <a:solidFill>
                  <a:schemeClr val="tx1"/>
                </a:solidFill>
              </a:rPr>
              <a:t>@(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posedge</a:t>
            </a:r>
            <a:r>
              <a:rPr lang="en-US" altLang="ko-KR" sz="4400" dirty="0" smtClean="0">
                <a:solidFill>
                  <a:schemeClr val="tx1"/>
                </a:solidFill>
              </a:rPr>
              <a:t> </a:t>
            </a:r>
            <a:r>
              <a:rPr lang="en-US" altLang="ko-KR" sz="4400" dirty="0" err="1" smtClean="0">
                <a:solidFill>
                  <a:schemeClr val="tx1"/>
                </a:solidFill>
              </a:rPr>
              <a:t>clk</a:t>
            </a:r>
            <a:r>
              <a:rPr lang="en-US" altLang="ko-KR" sz="4400" dirty="0" smtClean="0">
                <a:solidFill>
                  <a:schemeClr val="tx1"/>
                </a:solidFill>
              </a:rPr>
              <a:t>)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54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2A485-5AF9-2E1E-3C18-DCF730B0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AD24264D-4DB1-A1DE-43C5-3306F34F4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67571"/>
            <a:ext cx="11340162" cy="9842842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E7144D76-CF71-0610-FEB1-20177809D2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6E0C66C4-FF7C-EF64-A2C1-B99D33A029F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(B-type)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41A1F-F777-F3F0-08C1-A30418EF4E2A}"/>
              </a:ext>
            </a:extLst>
          </p:cNvPr>
          <p:cNvSpPr txBox="1"/>
          <p:nvPr/>
        </p:nvSpPr>
        <p:spPr>
          <a:xfrm>
            <a:off x="529701" y="2337778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C30D347-B937-D5C9-3563-7C53B77F2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02762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Imm[12,10:5]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Imm[4:1,11]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OPCODE(B-type)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99E9E69-5CAE-889A-86E6-92514C09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95636"/>
              </p:ext>
            </p:extLst>
          </p:nvPr>
        </p:nvGraphicFramePr>
        <p:xfrm>
          <a:off x="13516025" y="3282813"/>
          <a:ext cx="5257800" cy="848867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9793437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7030382"/>
                    </a:ext>
                  </a:extLst>
                </a:gridCol>
              </a:tblGrid>
              <a:tr h="77169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95235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460802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7220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58412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299413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980171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0869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89775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719301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90034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77522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73C8B0B-BB54-4777-2F16-7DBEF541B892}"/>
              </a:ext>
            </a:extLst>
          </p:cNvPr>
          <p:cNvSpPr txBox="1"/>
          <p:nvPr/>
        </p:nvSpPr>
        <p:spPr>
          <a:xfrm>
            <a:off x="2508002" y="9436504"/>
            <a:ext cx="2174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highlight>
                  <a:srgbClr val="FFFF00"/>
                </a:highlight>
              </a:rPr>
              <a:t>PC+imm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A847F8-49D1-F66A-81DF-E63D8460ACDD}"/>
              </a:ext>
            </a:extLst>
          </p:cNvPr>
          <p:cNvSpPr txBox="1"/>
          <p:nvPr/>
        </p:nvSpPr>
        <p:spPr>
          <a:xfrm>
            <a:off x="7834962" y="4254904"/>
            <a:ext cx="1184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E97F6-048A-8681-3F7F-22C64DEF8BB4}"/>
              </a:ext>
            </a:extLst>
          </p:cNvPr>
          <p:cNvSpPr txBox="1"/>
          <p:nvPr/>
        </p:nvSpPr>
        <p:spPr>
          <a:xfrm>
            <a:off x="5756027" y="4254903"/>
            <a:ext cx="1452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B9951-248A-9156-7EB0-E2044BDEB4EA}"/>
              </a:ext>
            </a:extLst>
          </p:cNvPr>
          <p:cNvSpPr txBox="1"/>
          <p:nvPr/>
        </p:nvSpPr>
        <p:spPr>
          <a:xfrm>
            <a:off x="5985256" y="8826904"/>
            <a:ext cx="17035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 or 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619665"/>
              </p:ext>
            </p:extLst>
          </p:nvPr>
        </p:nvGraphicFramePr>
        <p:xfrm>
          <a:off x="19120888" y="3282813"/>
          <a:ext cx="4876800" cy="45462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46726060"/>
                    </a:ext>
                  </a:extLst>
                </a:gridCol>
                <a:gridCol w="1655379">
                  <a:extLst>
                    <a:ext uri="{9D8B030D-6E8A-4147-A177-3AD203B41FA5}">
                      <a16:colId xmlns:a16="http://schemas.microsoft.com/office/drawing/2014/main" val="14753855"/>
                    </a:ext>
                  </a:extLst>
                </a:gridCol>
                <a:gridCol w="1849821">
                  <a:extLst>
                    <a:ext uri="{9D8B030D-6E8A-4147-A177-3AD203B41FA5}">
                      <a16:colId xmlns:a16="http://schemas.microsoft.com/office/drawing/2014/main" val="2471372114"/>
                    </a:ext>
                  </a:extLst>
                </a:gridCol>
              </a:tblGrid>
              <a:tr h="544601">
                <a:tc gridSpan="3"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endParaRPr lang="ko-KR" alt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81305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403361"/>
                  </a:ext>
                </a:extLst>
              </a:tr>
              <a:tr h="54460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Case</a:t>
                      </a:r>
                      <a:r>
                        <a:rPr lang="ko-KR" alt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문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OUTPUT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0887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j_event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b_src_sel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pc_next</a:t>
                      </a:r>
                      <a:r>
                        <a:rPr lang="en-US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63352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49617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baseline="0" dirty="0" err="1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43192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rs1 + </a:t>
                      </a:r>
                      <a:r>
                        <a:rPr lang="en-US" sz="2800" dirty="0" err="1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9302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9120887" y="6051568"/>
            <a:ext cx="4876801" cy="9650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61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2A485-5AF9-2E1E-3C18-DCF730B0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AD24264D-4DB1-A1DE-43C5-3306F34F4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94469"/>
            <a:ext cx="11340162" cy="9842842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E7144D76-CF71-0610-FEB1-20177809D2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6E0C66C4-FF7C-EF64-A2C1-B99D33A029FD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(B-type)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41A1F-F777-F3F0-08C1-A30418EF4E2A}"/>
              </a:ext>
            </a:extLst>
          </p:cNvPr>
          <p:cNvSpPr txBox="1"/>
          <p:nvPr/>
        </p:nvSpPr>
        <p:spPr>
          <a:xfrm>
            <a:off x="277145" y="2405679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C30D347-B937-D5C9-3563-7C53B77F25F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36293494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72205934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79840173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Imm[12,10:5]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Rs2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Imm[4:1,11]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OPCODE(B-type)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73C8B0B-BB54-4777-2F16-7DBEF541B892}"/>
              </a:ext>
            </a:extLst>
          </p:cNvPr>
          <p:cNvSpPr txBox="1"/>
          <p:nvPr/>
        </p:nvSpPr>
        <p:spPr>
          <a:xfrm>
            <a:off x="1676400" y="8702013"/>
            <a:ext cx="21748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 smtClean="0">
                <a:highlight>
                  <a:srgbClr val="FFFF00"/>
                </a:highlight>
              </a:rPr>
              <a:t>PC+imm</a:t>
            </a:r>
            <a:r>
              <a:rPr lang="en-US" altLang="ko-KR" sz="4400" b="1" dirty="0" smtClean="0">
                <a:highlight>
                  <a:srgbClr val="FFFF00"/>
                </a:highlight>
              </a:rPr>
              <a:t>,</a:t>
            </a:r>
          </a:p>
          <a:p>
            <a:pPr algn="ctr"/>
            <a:r>
              <a:rPr lang="en-US" altLang="ko-KR" sz="4400" b="1" dirty="0" smtClean="0">
                <a:highlight>
                  <a:srgbClr val="FFFF00"/>
                </a:highlight>
              </a:rPr>
              <a:t>Pc+4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A847F8-49D1-F66A-81DF-E63D8460ACDD}"/>
              </a:ext>
            </a:extLst>
          </p:cNvPr>
          <p:cNvSpPr txBox="1"/>
          <p:nvPr/>
        </p:nvSpPr>
        <p:spPr>
          <a:xfrm>
            <a:off x="7018475" y="4288146"/>
            <a:ext cx="1184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E97F6-048A-8681-3F7F-22C64DEF8BB4}"/>
              </a:ext>
            </a:extLst>
          </p:cNvPr>
          <p:cNvSpPr txBox="1"/>
          <p:nvPr/>
        </p:nvSpPr>
        <p:spPr>
          <a:xfrm>
            <a:off x="5059910" y="4300327"/>
            <a:ext cx="1452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ADD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B9951-248A-9156-7EB0-E2044BDEB4EA}"/>
              </a:ext>
            </a:extLst>
          </p:cNvPr>
          <p:cNvSpPr txBox="1"/>
          <p:nvPr/>
        </p:nvSpPr>
        <p:spPr>
          <a:xfrm>
            <a:off x="5067543" y="8734964"/>
            <a:ext cx="17035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 or 0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34084"/>
              </p:ext>
            </p:extLst>
          </p:nvPr>
        </p:nvGraphicFramePr>
        <p:xfrm>
          <a:off x="12760357" y="2543060"/>
          <a:ext cx="11263580" cy="5029053"/>
        </p:xfrm>
        <a:graphic>
          <a:graphicData uri="http://schemas.openxmlformats.org/drawingml/2006/table">
            <a:tbl>
              <a:tblPr/>
              <a:tblGrid>
                <a:gridCol w="672454">
                  <a:extLst>
                    <a:ext uri="{9D8B030D-6E8A-4147-A177-3AD203B41FA5}">
                      <a16:colId xmlns:a16="http://schemas.microsoft.com/office/drawing/2014/main" val="592431840"/>
                    </a:ext>
                  </a:extLst>
                </a:gridCol>
                <a:gridCol w="1370926">
                  <a:extLst>
                    <a:ext uri="{9D8B030D-6E8A-4147-A177-3AD203B41FA5}">
                      <a16:colId xmlns:a16="http://schemas.microsoft.com/office/drawing/2014/main" val="2793313128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4016463685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557485011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796022511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95049273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246243749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769496219"/>
                    </a:ext>
                  </a:extLst>
                </a:gridCol>
              </a:tblGrid>
              <a:tr h="520761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724875"/>
                  </a:ext>
                </a:extLst>
              </a:tr>
              <a:tr h="52076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</a:t>
                      </a:r>
                      <a:endParaRPr lang="ko-KR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396199"/>
                  </a:ext>
                </a:extLst>
              </a:tr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272984"/>
                  </a:ext>
                </a:extLst>
              </a:tr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[3]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Funct7</a:t>
                      </a:r>
                    </a:p>
                    <a:p>
                      <a:pPr algn="ctr" fontAlgn="ctr"/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[5]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463732"/>
                  </a:ext>
                </a:extLst>
              </a:tr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[2:0]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Funct3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582122"/>
                  </a:ext>
                </a:extLst>
              </a:tr>
              <a:tr h="520761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222001"/>
                  </a:ext>
                </a:extLst>
              </a:tr>
              <a:tr h="52076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==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!=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&lt;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</a:t>
                      </a: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&gt;= 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&lt;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</a:t>
                      </a: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&gt;= 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34986"/>
                  </a:ext>
                </a:extLst>
              </a:tr>
              <a:tr h="52076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</a:t>
                      </a:r>
                      <a:endParaRPr lang="ko-KR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657233"/>
                  </a:ext>
                </a:extLst>
              </a:tr>
              <a:tr h="52076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T/F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797348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563252"/>
              </p:ext>
            </p:extLst>
          </p:nvPr>
        </p:nvGraphicFramePr>
        <p:xfrm>
          <a:off x="15544800" y="7772400"/>
          <a:ext cx="4876800" cy="45462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46726060"/>
                    </a:ext>
                  </a:extLst>
                </a:gridCol>
                <a:gridCol w="1655379">
                  <a:extLst>
                    <a:ext uri="{9D8B030D-6E8A-4147-A177-3AD203B41FA5}">
                      <a16:colId xmlns:a16="http://schemas.microsoft.com/office/drawing/2014/main" val="14753855"/>
                    </a:ext>
                  </a:extLst>
                </a:gridCol>
                <a:gridCol w="1849821">
                  <a:extLst>
                    <a:ext uri="{9D8B030D-6E8A-4147-A177-3AD203B41FA5}">
                      <a16:colId xmlns:a16="http://schemas.microsoft.com/office/drawing/2014/main" val="2471372114"/>
                    </a:ext>
                  </a:extLst>
                </a:gridCol>
              </a:tblGrid>
              <a:tr h="544601">
                <a:tc gridSpan="3"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endParaRPr lang="ko-KR" alt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81305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403361"/>
                  </a:ext>
                </a:extLst>
              </a:tr>
              <a:tr h="54460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Case</a:t>
                      </a:r>
                      <a:r>
                        <a:rPr lang="ko-KR" alt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문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OUTPUT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0887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j_event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b_src_sel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pc_next</a:t>
                      </a:r>
                      <a:r>
                        <a:rPr lang="en-US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63352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49617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baseline="0" dirty="0" err="1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43192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rs1 + </a:t>
                      </a:r>
                      <a:r>
                        <a:rPr lang="en-US" sz="2800" dirty="0" err="1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9302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5544799" y="10541155"/>
            <a:ext cx="4876801" cy="9650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7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97B2-D3F0-894E-FA43-06835101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D83FEE47-DE52-2A9B-647D-4885A034CF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8A672D94-EEA7-0750-676E-C6258BBB6B86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(B-type)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2FCAC-71C1-473F-5A82-BFAD650D798D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124794"/>
              </p:ext>
            </p:extLst>
          </p:nvPr>
        </p:nvGraphicFramePr>
        <p:xfrm>
          <a:off x="8480675" y="3969122"/>
          <a:ext cx="6705602" cy="6966773"/>
        </p:xfrm>
        <a:graphic>
          <a:graphicData uri="http://schemas.openxmlformats.org/drawingml/2006/table">
            <a:tbl>
              <a:tblPr/>
              <a:tblGrid>
                <a:gridCol w="482588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864560">
                  <a:extLst>
                    <a:ext uri="{9D8B030D-6E8A-4147-A177-3AD203B41FA5}">
                      <a16:colId xmlns:a16="http://schemas.microsoft.com/office/drawing/2014/main" val="2346852202"/>
                    </a:ext>
                  </a:extLst>
                </a:gridCol>
                <a:gridCol w="86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235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282982">
                  <a:extLst>
                    <a:ext uri="{9D8B030D-6E8A-4147-A177-3AD203B41FA5}">
                      <a16:colId xmlns:a16="http://schemas.microsoft.com/office/drawing/2014/main" val="2507785383"/>
                    </a:ext>
                  </a:extLst>
                </a:gridCol>
                <a:gridCol w="1162253">
                  <a:extLst>
                    <a:ext uri="{9D8B030D-6E8A-4147-A177-3AD203B41FA5}">
                      <a16:colId xmlns:a16="http://schemas.microsoft.com/office/drawing/2014/main" val="2254191458"/>
                    </a:ext>
                  </a:extLst>
                </a:gridCol>
                <a:gridCol w="801712">
                  <a:extLst>
                    <a:ext uri="{9D8B030D-6E8A-4147-A177-3AD203B41FA5}">
                      <a16:colId xmlns:a16="http://schemas.microsoft.com/office/drawing/2014/main" val="401060558"/>
                    </a:ext>
                  </a:extLst>
                </a:gridCol>
                <a:gridCol w="801712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447081">
                <a:tc grid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imm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ALU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T/F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signed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2*4</a:t>
                      </a:r>
                      <a:endParaRPr lang="en-US" sz="28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BEQ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-1 == -1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T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</a:t>
                      </a:r>
                      <a:endParaRPr lang="en-US" sz="28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BNE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0 != -1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BLT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-1</a:t>
                      </a:r>
                      <a:r>
                        <a:rPr lang="en-US" altLang="ko-KR" sz="2800" baseline="0" dirty="0" smtClean="0"/>
                        <a:t> &lt; 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4907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6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BGE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0 &gt;= -1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&gt;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6*4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-1 &gt;= -1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==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-2*4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BLTU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0 &lt; |-1|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BGEU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|-1| &gt;=</a:t>
                      </a:r>
                      <a:r>
                        <a:rPr lang="en-US" altLang="ko-KR" sz="2800" baseline="0" dirty="0" smtClean="0"/>
                        <a:t>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&gt;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98416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8*4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|-1| &gt;=</a:t>
                      </a:r>
                      <a:r>
                        <a:rPr lang="en-US" altLang="ko-KR" sz="2800" baseline="0" dirty="0" smtClean="0"/>
                        <a:t> -1</a:t>
                      </a:r>
                      <a:endParaRPr lang="ko-KR" altLang="en-US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==</a:t>
                      </a:r>
                      <a:endParaRPr lang="ko-KR" altLang="en-US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</a:tbl>
          </a:graphicData>
        </a:graphic>
      </p:graphicFrame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299079"/>
              </p:ext>
            </p:extLst>
          </p:nvPr>
        </p:nvGraphicFramePr>
        <p:xfrm>
          <a:off x="16611600" y="3963406"/>
          <a:ext cx="7467599" cy="7272237"/>
        </p:xfrm>
        <a:graphic>
          <a:graphicData uri="http://schemas.openxmlformats.org/drawingml/2006/table">
            <a:tbl>
              <a:tblPr/>
              <a:tblGrid>
                <a:gridCol w="537427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962805">
                  <a:extLst>
                    <a:ext uri="{9D8B030D-6E8A-4147-A177-3AD203B41FA5}">
                      <a16:colId xmlns:a16="http://schemas.microsoft.com/office/drawing/2014/main" val="4048661089"/>
                    </a:ext>
                  </a:extLst>
                </a:gridCol>
                <a:gridCol w="962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466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1609466">
                  <a:extLst>
                    <a:ext uri="{9D8B030D-6E8A-4147-A177-3AD203B41FA5}">
                      <a16:colId xmlns:a16="http://schemas.microsoft.com/office/drawing/2014/main" val="1666516649"/>
                    </a:ext>
                  </a:extLst>
                </a:gridCol>
                <a:gridCol w="892815">
                  <a:extLst>
                    <a:ext uri="{9D8B030D-6E8A-4147-A177-3AD203B41FA5}">
                      <a16:colId xmlns:a16="http://schemas.microsoft.com/office/drawing/2014/main" val="3141909627"/>
                    </a:ext>
                  </a:extLst>
                </a:gridCol>
                <a:gridCol w="892815">
                  <a:extLst>
                    <a:ext uri="{9D8B030D-6E8A-4147-A177-3AD203B41FA5}">
                      <a16:colId xmlns:a16="http://schemas.microsoft.com/office/drawing/2014/main" val="3438463186"/>
                    </a:ext>
                  </a:extLst>
                </a:gridCol>
              </a:tblGrid>
              <a:tr h="371556">
                <a:tc gridSpan="7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imm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ALU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T/F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signed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18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30*4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BEQ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-1 == </a:t>
                      </a:r>
                      <a:r>
                        <a:rPr lang="en-US" altLang="ko-KR" sz="2800" dirty="0" smtClean="0"/>
                        <a:t>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F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</a:t>
                      </a:r>
                      <a:endParaRPr lang="en-US" sz="28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19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BNE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0 </a:t>
                      </a:r>
                      <a:r>
                        <a:rPr lang="en-US" altLang="ko-KR" sz="2800" baseline="0" dirty="0" smtClean="0"/>
                        <a:t>!= 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BLT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0 </a:t>
                      </a:r>
                      <a:r>
                        <a:rPr lang="en-US" altLang="ko-KR" sz="2800" baseline="0" dirty="0" smtClean="0"/>
                        <a:t>&lt; </a:t>
                      </a:r>
                      <a:r>
                        <a:rPr lang="en-US" altLang="ko-KR" sz="2800" baseline="0" dirty="0" smtClean="0"/>
                        <a:t>-1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&lt;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4907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0 &lt;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==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BGE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-1 &gt;= </a:t>
                      </a:r>
                      <a:r>
                        <a:rPr lang="en-US" altLang="ko-KR" sz="2800" dirty="0" smtClean="0"/>
                        <a:t>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BLTU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|-1| &lt;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&lt;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0</a:t>
                      </a:r>
                      <a:r>
                        <a:rPr lang="en-US" altLang="ko-KR" sz="2800" baseline="0" dirty="0" smtClean="0"/>
                        <a:t> </a:t>
                      </a:r>
                      <a:r>
                        <a:rPr lang="en-US" altLang="ko-KR" sz="2800" dirty="0" smtClean="0"/>
                        <a:t>&lt;</a:t>
                      </a:r>
                      <a:r>
                        <a:rPr lang="en-US" altLang="ko-KR" sz="2800" baseline="0" dirty="0" smtClean="0"/>
                        <a:t> 0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smtClean="0"/>
                        <a:t>==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25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BGEU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0 </a:t>
                      </a:r>
                      <a:r>
                        <a:rPr lang="en-US" altLang="ko-KR" sz="2800" dirty="0" smtClean="0"/>
                        <a:t>&gt;=</a:t>
                      </a:r>
                      <a:r>
                        <a:rPr lang="en-US" altLang="ko-KR" sz="2800" baseline="0" dirty="0" smtClean="0"/>
                        <a:t> </a:t>
                      </a:r>
                      <a:r>
                        <a:rPr lang="en-US" altLang="ko-KR" sz="2800" baseline="0" dirty="0" smtClean="0"/>
                        <a:t>|-1|</a:t>
                      </a:r>
                      <a:endParaRPr lang="ko-KR" altLang="en-US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26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SUB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x2 = (-1) – (-1)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98385"/>
                  </a:ext>
                </a:extLst>
              </a:tr>
            </a:tbl>
          </a:graphicData>
        </a:graphic>
      </p:graphicFrame>
      <p:sp>
        <p:nvSpPr>
          <p:cNvPr id="9" name="왼쪽 대괄호 8"/>
          <p:cNvSpPr/>
          <p:nvPr/>
        </p:nvSpPr>
        <p:spPr>
          <a:xfrm>
            <a:off x="7998761" y="5550112"/>
            <a:ext cx="457200" cy="2238709"/>
          </a:xfrm>
          <a:prstGeom prst="leftBracket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왼쪽 대괄호 9"/>
          <p:cNvSpPr/>
          <p:nvPr/>
        </p:nvSpPr>
        <p:spPr>
          <a:xfrm>
            <a:off x="7998761" y="8692848"/>
            <a:ext cx="457200" cy="1143000"/>
          </a:xfrm>
          <a:prstGeom prst="leftBracket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527230" y="8879627"/>
            <a:ext cx="2319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PC += -2</a:t>
            </a:r>
            <a:endParaRPr lang="ko-KR" altLang="en-US" sz="4400" dirty="0"/>
          </a:p>
        </p:txBody>
      </p:sp>
      <p:sp>
        <p:nvSpPr>
          <p:cNvPr id="12" name="TextBox 11"/>
          <p:cNvSpPr txBox="1"/>
          <p:nvPr/>
        </p:nvSpPr>
        <p:spPr>
          <a:xfrm>
            <a:off x="14325600" y="11582400"/>
            <a:ext cx="274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PC += 30*4</a:t>
            </a:r>
            <a:endParaRPr lang="ko-KR" altLang="en-US" sz="4400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7642475" y="8296124"/>
            <a:ext cx="805248" cy="15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15878" y="7900592"/>
            <a:ext cx="2319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PC  += 6</a:t>
            </a:r>
            <a:endParaRPr lang="ko-KR" altLang="en-US" sz="4400" dirty="0"/>
          </a:p>
        </p:txBody>
      </p:sp>
      <p:sp>
        <p:nvSpPr>
          <p:cNvPr id="18" name="TextBox 17"/>
          <p:cNvSpPr txBox="1"/>
          <p:nvPr/>
        </p:nvSpPr>
        <p:spPr>
          <a:xfrm>
            <a:off x="5669603" y="6379041"/>
            <a:ext cx="213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PC += 2</a:t>
            </a:r>
            <a:endParaRPr lang="ko-KR" altLang="en-US" sz="4400" dirty="0"/>
          </a:p>
        </p:txBody>
      </p:sp>
      <p:sp>
        <p:nvSpPr>
          <p:cNvPr id="19" name="왼쪽 대괄호 18"/>
          <p:cNvSpPr/>
          <p:nvPr/>
        </p:nvSpPr>
        <p:spPr>
          <a:xfrm>
            <a:off x="16136046" y="5546786"/>
            <a:ext cx="457200" cy="4742605"/>
          </a:xfrm>
          <a:prstGeom prst="leftBracket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7596137" y="10445116"/>
            <a:ext cx="805248" cy="15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76838" y="10068256"/>
            <a:ext cx="2319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PC  += 8</a:t>
            </a:r>
            <a:endParaRPr lang="ko-KR" altLang="en-US" sz="4400" dirty="0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5468600" y="7783105"/>
            <a:ext cx="660999" cy="15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5518027" y="7717190"/>
            <a:ext cx="26773" cy="386521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12">
            <a:extLst>
              <a:ext uri="{FF2B5EF4-FFF2-40B4-BE49-F238E27FC236}">
                <a16:creationId xmlns:a16="http://schemas.microsoft.com/office/drawing/2014/main" id="{8660673D-A839-8079-81F3-4FA2340F0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52489"/>
              </p:ext>
            </p:extLst>
          </p:nvPr>
        </p:nvGraphicFramePr>
        <p:xfrm>
          <a:off x="530446" y="7089566"/>
          <a:ext cx="4714461" cy="2616405"/>
        </p:xfrm>
        <a:graphic>
          <a:graphicData uri="http://schemas.openxmlformats.org/drawingml/2006/table">
            <a:tbl>
              <a:tblPr/>
              <a:tblGrid>
                <a:gridCol w="1343729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3370732">
                  <a:extLst>
                    <a:ext uri="{9D8B030D-6E8A-4147-A177-3AD203B41FA5}">
                      <a16:colId xmlns:a16="http://schemas.microsoft.com/office/drawing/2014/main" val="215250058"/>
                    </a:ext>
                  </a:extLst>
                </a:gridCol>
              </a:tblGrid>
              <a:tr h="506831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 smtClean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/>
                        <a:t>addr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value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68405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x0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x1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-1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7550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x2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SUB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ko-KR" altLang="en-US" sz="2800" baseline="0" dirty="0" smtClean="0"/>
                        <a:t>값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0834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1045570" y="3610318"/>
            <a:ext cx="6306700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if(rs1 </a:t>
            </a:r>
            <a:r>
              <a:rPr lang="ko-KR" altLang="en-US" sz="4400" dirty="0" smtClean="0"/>
              <a:t>비교 </a:t>
            </a:r>
            <a:r>
              <a:rPr lang="en-US" altLang="ko-KR" sz="4400" dirty="0" smtClean="0"/>
              <a:t>rs2) </a:t>
            </a:r>
            <a:r>
              <a:rPr lang="en-US" altLang="ko-KR" sz="4400" dirty="0" smtClean="0"/>
              <a:t>PC += </a:t>
            </a:r>
            <a:r>
              <a:rPr lang="en-US" altLang="ko-KR" sz="4400" dirty="0" err="1" smtClean="0"/>
              <a:t>imm</a:t>
            </a:r>
            <a:endParaRPr lang="ko-KR" altLang="en-US" sz="4400" dirty="0"/>
          </a:p>
        </p:txBody>
      </p:sp>
      <p:sp>
        <p:nvSpPr>
          <p:cNvPr id="30" name="TextBox 29"/>
          <p:cNvSpPr txBox="1"/>
          <p:nvPr/>
        </p:nvSpPr>
        <p:spPr>
          <a:xfrm>
            <a:off x="10756557" y="3056406"/>
            <a:ext cx="26014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True case </a:t>
            </a:r>
            <a:endParaRPr lang="ko-KR" altLang="en-US" sz="4400" dirty="0"/>
          </a:p>
        </p:txBody>
      </p:sp>
      <p:sp>
        <p:nvSpPr>
          <p:cNvPr id="31" name="TextBox 30"/>
          <p:cNvSpPr txBox="1"/>
          <p:nvPr/>
        </p:nvSpPr>
        <p:spPr>
          <a:xfrm>
            <a:off x="19126200" y="3038863"/>
            <a:ext cx="26014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false case 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11963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7DD8-2599-014D-1731-A28878F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36BD15C-E3B6-4470-F8C8-29C2B28B4F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60658B5-010C-9943-BE47-878C6E5F149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Type </a:t>
            </a:r>
            <a:r>
              <a:rPr lang="ko-KR" altLang="en-US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9C747-8EA3-E3DA-BEC9-D53919297417}"/>
              </a:ext>
            </a:extLst>
          </p:cNvPr>
          <p:cNvSpPr txBox="1"/>
          <p:nvPr/>
        </p:nvSpPr>
        <p:spPr>
          <a:xfrm>
            <a:off x="1305339" y="2426274"/>
            <a:ext cx="6695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simulation(Control Unit)</a:t>
            </a:r>
            <a:endParaRPr lang="en-US" altLang="ko-KR" sz="4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5715"/>
            <a:ext cx="19202400" cy="966552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9E9E69-5CAE-889A-86E6-92514C09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110839"/>
              </p:ext>
            </p:extLst>
          </p:nvPr>
        </p:nvGraphicFramePr>
        <p:xfrm>
          <a:off x="19354801" y="3258002"/>
          <a:ext cx="4876800" cy="8488678"/>
        </p:xfrm>
        <a:graphic>
          <a:graphicData uri="http://schemas.openxmlformats.org/drawingml/2006/table">
            <a:tbl>
              <a:tblPr/>
              <a:tblGrid>
                <a:gridCol w="3251200">
                  <a:extLst>
                    <a:ext uri="{9D8B030D-6E8A-4147-A177-3AD203B41FA5}">
                      <a16:colId xmlns:a16="http://schemas.microsoft.com/office/drawing/2014/main" val="39793437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7030382"/>
                    </a:ext>
                  </a:extLst>
                </a:gridCol>
              </a:tblGrid>
              <a:tr h="77169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95235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460802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7220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58412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299413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1,0,funct3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980171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50869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897757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719301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90034"/>
                  </a:ext>
                </a:extLst>
              </a:tr>
              <a:tr h="771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77522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3200400" y="8763000"/>
            <a:ext cx="14859000" cy="914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18173700" y="8763000"/>
            <a:ext cx="1066800" cy="9144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52600" y="6400800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52600" y="7984296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62897" y="7251022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62897" y="9563004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25827" y="10319790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52600" y="11139653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52600" y="11999507"/>
            <a:ext cx="110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02608"/>
              </p:ext>
            </p:extLst>
          </p:nvPr>
        </p:nvGraphicFramePr>
        <p:xfrm>
          <a:off x="15163800" y="9302"/>
          <a:ext cx="9220200" cy="2083044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1275849659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282483658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986841044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395630925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30296373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148120770"/>
                    </a:ext>
                  </a:extLst>
                </a:gridCol>
              </a:tblGrid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BEQ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BLTU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BGEU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033566"/>
                  </a:ext>
                </a:extLst>
              </a:tr>
              <a:tr h="520761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275995"/>
                  </a:ext>
                </a:extLst>
              </a:tr>
              <a:tr h="520761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71359"/>
                  </a:ext>
                </a:extLst>
              </a:tr>
              <a:tr h="5207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86799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3429000" y="4766168"/>
            <a:ext cx="14859000" cy="914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92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7DD8-2599-014D-1731-A28878F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36BD15C-E3B6-4470-F8C8-29C2B28B4F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60658B5-010C-9943-BE47-878C6E5F149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(B-type)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9C747-8EA3-E3DA-BEC9-D53919297417}"/>
              </a:ext>
            </a:extLst>
          </p:cNvPr>
          <p:cNvSpPr txBox="1"/>
          <p:nvPr/>
        </p:nvSpPr>
        <p:spPr>
          <a:xfrm>
            <a:off x="1305339" y="2426274"/>
            <a:ext cx="6695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simulation(ALU)</a:t>
            </a:r>
            <a:endParaRPr lang="en-US" altLang="ko-KR" sz="44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8" y="3657600"/>
            <a:ext cx="24361301" cy="75438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3868400" y="3657600"/>
            <a:ext cx="0" cy="7391400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7467600" y="10058400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 smtClean="0">
                <a:highlight>
                  <a:srgbClr val="FFFF00"/>
                </a:highlight>
              </a:rPr>
              <a:t>b_taken</a:t>
            </a:r>
            <a:r>
              <a:rPr lang="en-US" altLang="ko-KR" sz="4000" dirty="0" smtClean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886200" y="4038600"/>
            <a:ext cx="9753600" cy="52722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 smtClean="0">
                <a:solidFill>
                  <a:schemeClr val="tx1"/>
                </a:solidFill>
              </a:rPr>
              <a:t>True Case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4020800" y="4038600"/>
            <a:ext cx="8915400" cy="47573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 err="1" smtClean="0">
                <a:solidFill>
                  <a:schemeClr val="tx1"/>
                </a:solidFill>
              </a:rPr>
              <a:t>Falue</a:t>
            </a:r>
            <a:r>
              <a:rPr lang="en-US" altLang="ko-KR" sz="4000" dirty="0" smtClean="0">
                <a:solidFill>
                  <a:schemeClr val="tx1"/>
                </a:solidFill>
              </a:rPr>
              <a:t> Case</a:t>
            </a:r>
            <a:endParaRPr lang="ko-KR" altLang="en-US" sz="4000" dirty="0">
              <a:solidFill>
                <a:schemeClr val="tx1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23317200" y="3657600"/>
            <a:ext cx="0" cy="7543800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23393399" y="7466570"/>
            <a:ext cx="952499" cy="9144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89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7DD8-2599-014D-1731-A28878FA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8" y="3196266"/>
            <a:ext cx="21313302" cy="1013873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36BD15C-E3B6-4470-F8C8-29C2B28B4F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560658B5-010C-9943-BE47-878C6E5F149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(B-type)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9C747-8EA3-E3DA-BEC9-D53919297417}"/>
              </a:ext>
            </a:extLst>
          </p:cNvPr>
          <p:cNvSpPr txBox="1"/>
          <p:nvPr/>
        </p:nvSpPr>
        <p:spPr>
          <a:xfrm>
            <a:off x="1305339" y="2426274"/>
            <a:ext cx="6695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simulation(PC)</a:t>
            </a:r>
            <a:endParaRPr lang="en-US" altLang="ko-KR" sz="4400" dirty="0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873646"/>
              </p:ext>
            </p:extLst>
          </p:nvPr>
        </p:nvGraphicFramePr>
        <p:xfrm>
          <a:off x="21427654" y="4191000"/>
          <a:ext cx="2836901" cy="6704261"/>
        </p:xfrm>
        <a:graphic>
          <a:graphicData uri="http://schemas.openxmlformats.org/drawingml/2006/table">
            <a:tbl>
              <a:tblPr/>
              <a:tblGrid>
                <a:gridCol w="619003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08949">
                  <a:extLst>
                    <a:ext uri="{9D8B030D-6E8A-4147-A177-3AD203B41FA5}">
                      <a16:colId xmlns:a16="http://schemas.microsoft.com/office/drawing/2014/main" val="2346852202"/>
                    </a:ext>
                  </a:extLst>
                </a:gridCol>
                <a:gridCol w="1108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7081">
                <a:tc gridSpan="3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imm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0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2*4</a:t>
                      </a:r>
                      <a:endParaRPr lang="en-US" sz="28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BEQ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BNE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BLT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456246"/>
                  </a:ext>
                </a:extLst>
              </a:tr>
              <a:tr h="64907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6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BGE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44888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8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6*4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50522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-2*4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BLTU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092935"/>
                  </a:ext>
                </a:extLst>
              </a:tr>
              <a:tr h="64481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BGEU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89969"/>
                  </a:ext>
                </a:extLst>
              </a:tr>
              <a:tr h="98416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10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/>
                        <a:t>8*4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10985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3505556" y="9910403"/>
            <a:ext cx="4343044" cy="60519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312928" y="8232025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 smtClean="0">
                <a:highlight>
                  <a:srgbClr val="FFFF00"/>
                </a:highlight>
              </a:rPr>
              <a:t>b_taken</a:t>
            </a:r>
            <a:r>
              <a:rPr lang="en-US" altLang="ko-KR" sz="4000" dirty="0" smtClean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144986" y="7369314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branch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4842639" y="12627114"/>
            <a:ext cx="49880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 smtClean="0">
                <a:highlight>
                  <a:srgbClr val="FFFF00"/>
                </a:highlight>
              </a:rPr>
              <a:t>b_taken</a:t>
            </a:r>
            <a:r>
              <a:rPr lang="en-US" altLang="ko-KR" sz="4000" dirty="0" smtClean="0">
                <a:highlight>
                  <a:srgbClr val="FFFF00"/>
                </a:highlight>
              </a:rPr>
              <a:t> &amp;&amp; branch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12" name="직선 연결선 11"/>
          <p:cNvCxnSpPr/>
          <p:nvPr/>
        </p:nvCxnSpPr>
        <p:spPr>
          <a:xfrm flipH="1">
            <a:off x="12154931" y="3656378"/>
            <a:ext cx="32951" cy="9324679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H="1">
            <a:off x="20345400" y="3923628"/>
            <a:ext cx="32951" cy="9324679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334657" y="9947134"/>
            <a:ext cx="2520754" cy="64466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4192986" y="9071214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8++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9448726" y="9071214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8--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4053753" y="7320443"/>
            <a:ext cx="304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branch = 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3182600" y="11353800"/>
            <a:ext cx="7974214" cy="51944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279534" y="10640385"/>
            <a:ext cx="7974214" cy="519447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322709" y="11280634"/>
            <a:ext cx="7559059" cy="53378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아래로 구부러진 화살표 39"/>
          <p:cNvSpPr/>
          <p:nvPr/>
        </p:nvSpPr>
        <p:spPr>
          <a:xfrm>
            <a:off x="7315199" y="9021825"/>
            <a:ext cx="1425129" cy="685800"/>
          </a:xfrm>
          <a:prstGeom prst="curved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아래로 구부러진 화살표 40"/>
          <p:cNvSpPr/>
          <p:nvPr/>
        </p:nvSpPr>
        <p:spPr>
          <a:xfrm>
            <a:off x="10606199" y="9043365"/>
            <a:ext cx="1182166" cy="685800"/>
          </a:xfrm>
          <a:prstGeom prst="curved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7295659" y="8258798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24++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0517582" y="8265633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32++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5351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BABD7-9C5C-D946-352B-4917A6BCC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AE41AFD9-4D75-F123-3C7C-ACFB98D61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50" y="2675119"/>
            <a:ext cx="11430649" cy="990812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95B4746C-84EA-F66C-DE9B-AE3081D327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48977815-3C96-D78B-A856-1087AA5D7D8B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(U-type)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35D931-FAAF-B3CE-D7AC-DACB5A3B63FC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5F4E95A-7825-6ED0-40CD-24187BCE8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716835"/>
              </p:ext>
            </p:extLst>
          </p:nvPr>
        </p:nvGraphicFramePr>
        <p:xfrm>
          <a:off x="1600200" y="1265152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12017828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Imm[31:12]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OPCODE(U-type)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DD0B2BB-50C5-A227-2B66-77BFEA3C7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86579"/>
              </p:ext>
            </p:extLst>
          </p:nvPr>
        </p:nvGraphicFramePr>
        <p:xfrm>
          <a:off x="15316200" y="3197656"/>
          <a:ext cx="7848600" cy="7894263"/>
        </p:xfrm>
        <a:graphic>
          <a:graphicData uri="http://schemas.openxmlformats.org/drawingml/2006/table">
            <a:tbl>
              <a:tblPr/>
              <a:tblGrid>
                <a:gridCol w="3924300">
                  <a:extLst>
                    <a:ext uri="{9D8B030D-6E8A-4147-A177-3AD203B41FA5}">
                      <a16:colId xmlns:a16="http://schemas.microsoft.com/office/drawing/2014/main" val="3028895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4149388138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581514038"/>
                    </a:ext>
                  </a:extLst>
                </a:gridCol>
              </a:tblGrid>
              <a:tr h="685784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929627"/>
                  </a:ext>
                </a:extLst>
              </a:tr>
              <a:tr h="934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LUI_type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AUIPC_type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03969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614742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107086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15139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9586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57435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81558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376960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08961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45915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DD532A4-C100-8167-9769-93A1F9B3A0DE}"/>
              </a:ext>
            </a:extLst>
          </p:cNvPr>
          <p:cNvSpPr txBox="1"/>
          <p:nvPr/>
        </p:nvSpPr>
        <p:spPr>
          <a:xfrm>
            <a:off x="3283640" y="9525000"/>
            <a:ext cx="2174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PC+4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E7EAA-3DB3-F6FC-003C-79E109B72CEA}"/>
              </a:ext>
            </a:extLst>
          </p:cNvPr>
          <p:cNvSpPr txBox="1"/>
          <p:nvPr/>
        </p:nvSpPr>
        <p:spPr>
          <a:xfrm>
            <a:off x="5638800" y="4185901"/>
            <a:ext cx="106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1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6FB91-0942-1503-39A7-5BF2A64CF0A0}"/>
              </a:ext>
            </a:extLst>
          </p:cNvPr>
          <p:cNvSpPr txBox="1"/>
          <p:nvPr/>
        </p:nvSpPr>
        <p:spPr>
          <a:xfrm>
            <a:off x="10439400" y="4419600"/>
            <a:ext cx="213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</a:rPr>
              <a:t>2 or 3</a:t>
            </a:r>
            <a:endParaRPr lang="ko-KR" altLang="en-US" sz="44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2AFA2B-9B6E-EA38-B036-44DB529BA6AE}"/>
              </a:ext>
            </a:extLst>
          </p:cNvPr>
          <p:cNvSpPr txBox="1"/>
          <p:nvPr/>
        </p:nvSpPr>
        <p:spPr>
          <a:xfrm>
            <a:off x="6172200" y="8510035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PC + </a:t>
            </a:r>
            <a:r>
              <a:rPr lang="en-US" altLang="ko-KR" sz="3200" b="1" dirty="0" err="1">
                <a:highlight>
                  <a:srgbClr val="FFFF00"/>
                </a:highlight>
              </a:rPr>
              <a:t>imm</a:t>
            </a:r>
            <a:r>
              <a:rPr lang="en-US" altLang="ko-KR" sz="3200" b="1" dirty="0">
                <a:highlight>
                  <a:srgbClr val="FFFF00"/>
                </a:highlight>
              </a:rPr>
              <a:t> or </a:t>
            </a:r>
            <a:r>
              <a:rPr lang="en-US" altLang="ko-KR" sz="3200" b="1" dirty="0" err="1">
                <a:highlight>
                  <a:srgbClr val="FFFF00"/>
                </a:highlight>
              </a:rPr>
              <a:t>imm</a:t>
            </a:r>
            <a:r>
              <a:rPr lang="ko-KR" altLang="en-US" sz="3200" b="1" dirty="0">
                <a:highlight>
                  <a:srgbClr val="FFFF00"/>
                </a:highlight>
              </a:rPr>
              <a:t> </a:t>
            </a:r>
            <a:endParaRPr lang="en-US" altLang="ko-KR" sz="3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388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7ED1D-41B2-5D87-5C05-811E9451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F324235F-CFB3-9E39-362E-07CD31A992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AD5FE83-9DFB-C8B9-277E-D282DF1FC642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(U-type)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64BB57-C751-669A-2505-0C1C4E3ED717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852119" y="3554150"/>
            <a:ext cx="6306700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LUI      : </a:t>
            </a:r>
            <a:r>
              <a:rPr lang="en-US" altLang="ko-KR" sz="4400" dirty="0" err="1" smtClean="0"/>
              <a:t>rd</a:t>
            </a:r>
            <a:r>
              <a:rPr lang="en-US" altLang="ko-KR" sz="4400" dirty="0" smtClean="0"/>
              <a:t> = </a:t>
            </a:r>
            <a:r>
              <a:rPr lang="en-US" altLang="ko-KR" sz="4400" dirty="0" err="1" smtClean="0"/>
              <a:t>imm</a:t>
            </a:r>
            <a:endParaRPr lang="en-US" altLang="ko-KR" sz="4400" dirty="0" smtClean="0"/>
          </a:p>
          <a:p>
            <a:r>
              <a:rPr lang="en-US" altLang="ko-KR" sz="4400" dirty="0" smtClean="0"/>
              <a:t>AUIPC : </a:t>
            </a:r>
            <a:r>
              <a:rPr lang="en-US" altLang="ko-KR" sz="4400" dirty="0" err="1" smtClean="0"/>
              <a:t>rd</a:t>
            </a:r>
            <a:r>
              <a:rPr lang="en-US" altLang="ko-KR" sz="4400" dirty="0" smtClean="0"/>
              <a:t> = PC + </a:t>
            </a:r>
            <a:r>
              <a:rPr lang="en-US" altLang="ko-KR" sz="4400" dirty="0" err="1" smtClean="0"/>
              <a:t>imm</a:t>
            </a:r>
            <a:endParaRPr lang="ko-KR" altLang="en-US" sz="4400" dirty="0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29132"/>
              </p:ext>
            </p:extLst>
          </p:nvPr>
        </p:nvGraphicFramePr>
        <p:xfrm>
          <a:off x="13716000" y="6189054"/>
          <a:ext cx="7315201" cy="3399097"/>
        </p:xfrm>
        <a:graphic>
          <a:graphicData uri="http://schemas.openxmlformats.org/drawingml/2006/table">
            <a:tbl>
              <a:tblPr/>
              <a:tblGrid>
                <a:gridCol w="51348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89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4033683410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b="0" dirty="0" smtClean="0">
                          <a:solidFill>
                            <a:schemeClr val="tx1"/>
                          </a:solidFill>
                        </a:rPr>
                        <a:t>설명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 smtClean="0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BEQ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if(0 == 0)?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PC += 2*4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7085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LUI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x1</a:t>
                      </a:r>
                      <a:r>
                        <a:rPr lang="en-US" altLang="ko-KR" sz="2800" baseline="0" dirty="0" smtClean="0"/>
                        <a:t> = 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AUIPC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x1 = 3*4 + 10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409917"/>
              </p:ext>
            </p:extLst>
          </p:nvPr>
        </p:nvGraphicFramePr>
        <p:xfrm>
          <a:off x="3200400" y="6713276"/>
          <a:ext cx="5467865" cy="1604006"/>
        </p:xfrm>
        <a:graphic>
          <a:graphicData uri="http://schemas.openxmlformats.org/drawingml/2006/table">
            <a:tbl>
              <a:tblPr/>
              <a:tblGrid>
                <a:gridCol w="1558466">
                  <a:extLst>
                    <a:ext uri="{9D8B030D-6E8A-4147-A177-3AD203B41FA5}">
                      <a16:colId xmlns:a16="http://schemas.microsoft.com/office/drawing/2014/main" val="1874453295"/>
                    </a:ext>
                  </a:extLst>
                </a:gridCol>
                <a:gridCol w="3909399">
                  <a:extLst>
                    <a:ext uri="{9D8B030D-6E8A-4147-A177-3AD203B41FA5}">
                      <a16:colId xmlns:a16="http://schemas.microsoft.com/office/drawing/2014/main" val="20865125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 smtClean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1443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 smtClean="0"/>
                        <a:t>addr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 smtClean="0"/>
                        <a:t>용도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3858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 smtClean="0"/>
                        <a:t>x1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err="1" smtClean="0"/>
                        <a:t>rd</a:t>
                      </a:r>
                      <a:r>
                        <a:rPr lang="en-US" sz="2800" dirty="0" smtClean="0"/>
                        <a:t> (LUI, AUIPC </a:t>
                      </a:r>
                      <a:r>
                        <a:rPr lang="ko-KR" altLang="en-US" sz="2800" dirty="0" smtClean="0"/>
                        <a:t>저장소</a:t>
                      </a:r>
                      <a:r>
                        <a:rPr lang="en-US" sz="2800" dirty="0" smtClean="0"/>
                        <a:t>)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87086"/>
                  </a:ext>
                </a:extLst>
              </a:tr>
            </a:tbl>
          </a:graphicData>
        </a:graphic>
      </p:graphicFrame>
      <p:sp>
        <p:nvSpPr>
          <p:cNvPr id="8" name="오른쪽 화살표 7"/>
          <p:cNvSpPr/>
          <p:nvPr/>
        </p:nvSpPr>
        <p:spPr>
          <a:xfrm rot="10800000">
            <a:off x="9632091" y="7016312"/>
            <a:ext cx="3124200" cy="1143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3715999" y="8292189"/>
            <a:ext cx="7315201" cy="12959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1259800" y="8647782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/>
              <a:t>검증할 부분</a:t>
            </a:r>
            <a:endParaRPr lang="ko-KR" alt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5715000" y="11190216"/>
            <a:ext cx="11277600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3200" dirty="0" smtClean="0"/>
              <a:t>U-type</a:t>
            </a:r>
            <a:r>
              <a:rPr lang="ko-KR" altLang="en-US" sz="3200" dirty="0" smtClean="0"/>
              <a:t>는 </a:t>
            </a:r>
            <a:r>
              <a:rPr lang="en-US" altLang="ko-KR" sz="3200" dirty="0" smtClean="0"/>
              <a:t>0</a:t>
            </a:r>
            <a:r>
              <a:rPr lang="ko-KR" altLang="en-US" sz="3200" dirty="0" smtClean="0"/>
              <a:t>번 </a:t>
            </a:r>
            <a:r>
              <a:rPr lang="en-US" altLang="ko-KR" sz="3200" dirty="0" smtClean="0"/>
              <a:t>PC</a:t>
            </a:r>
            <a:r>
              <a:rPr lang="ko-KR" altLang="en-US" sz="3200" dirty="0" smtClean="0"/>
              <a:t>에서 </a:t>
            </a:r>
            <a:r>
              <a:rPr lang="en-US" altLang="ko-KR" sz="3200" dirty="0" smtClean="0"/>
              <a:t>simulation</a:t>
            </a:r>
            <a:r>
              <a:rPr lang="ko-KR" altLang="en-US" sz="3200" dirty="0" smtClean="0"/>
              <a:t>을 진행할 시</a:t>
            </a:r>
            <a:r>
              <a:rPr lang="en-US" altLang="ko-KR" sz="3200" dirty="0" smtClean="0"/>
              <a:t>,  </a:t>
            </a:r>
          </a:p>
          <a:p>
            <a:r>
              <a:rPr lang="en-US" altLang="ko-KR" sz="3200" dirty="0" err="1" smtClean="0"/>
              <a:t>imm</a:t>
            </a:r>
            <a:r>
              <a:rPr lang="ko-KR" altLang="en-US" sz="3200" dirty="0" smtClean="0"/>
              <a:t>과 </a:t>
            </a:r>
            <a:r>
              <a:rPr lang="en-US" altLang="ko-KR" sz="3200" dirty="0" err="1" smtClean="0"/>
              <a:t>imm+PC</a:t>
            </a:r>
            <a:r>
              <a:rPr lang="ko-KR" altLang="en-US" sz="3200" dirty="0" smtClean="0"/>
              <a:t>의 값이 동일하여 </a:t>
            </a:r>
            <a:r>
              <a:rPr lang="en-US" altLang="ko-KR" sz="3200" dirty="0" smtClean="0"/>
              <a:t>DATAFLOW </a:t>
            </a:r>
            <a:r>
              <a:rPr lang="ko-KR" altLang="en-US" sz="3200" dirty="0" smtClean="0"/>
              <a:t>명확하게 확인 불가</a:t>
            </a:r>
            <a:endParaRPr lang="en-US" altLang="ko-KR" sz="3200" dirty="0" smtClean="0"/>
          </a:p>
        </p:txBody>
      </p:sp>
      <p:cxnSp>
        <p:nvCxnSpPr>
          <p:cNvPr id="13" name="직선 화살표 연결선 12"/>
          <p:cNvCxnSpPr>
            <a:stCxn id="6" idx="1"/>
            <a:endCxn id="11" idx="0"/>
          </p:cNvCxnSpPr>
          <p:nvPr/>
        </p:nvCxnSpPr>
        <p:spPr>
          <a:xfrm flipH="1">
            <a:off x="11353800" y="7888602"/>
            <a:ext cx="2362200" cy="33016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32090" y="9876909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/>
              <a:t>추가한 이유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1893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CDAE-49E8-D07D-64B4-439A9F34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93" y="9132022"/>
            <a:ext cx="16208461" cy="4507777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94" y="3290885"/>
            <a:ext cx="16208461" cy="5630154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A5BFB16-77EA-E9AB-4B17-A8243E32E7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476057DB-8186-1DC6-EDA9-104CBB1ACB75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(U-type)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34105-4A6D-6FC5-02D6-222AC7B9CF82}"/>
              </a:ext>
            </a:extLst>
          </p:cNvPr>
          <p:cNvSpPr txBox="1"/>
          <p:nvPr/>
        </p:nvSpPr>
        <p:spPr>
          <a:xfrm>
            <a:off x="1305339" y="2426274"/>
            <a:ext cx="10277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simulation(control Unit &amp; RF </a:t>
            </a:r>
            <a:r>
              <a:rPr lang="en-US" altLang="ko-KR" sz="4400" dirty="0" err="1" smtClean="0"/>
              <a:t>Wdata</a:t>
            </a:r>
            <a:r>
              <a:rPr lang="en-US" altLang="ko-KR" sz="4400" dirty="0" smtClean="0"/>
              <a:t> MUX)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DD0B2BB-50C5-A227-2B66-77BFEA3C7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41934"/>
              </p:ext>
            </p:extLst>
          </p:nvPr>
        </p:nvGraphicFramePr>
        <p:xfrm>
          <a:off x="17290192" y="2602596"/>
          <a:ext cx="6705600" cy="7894263"/>
        </p:xfrm>
        <a:graphic>
          <a:graphicData uri="http://schemas.openxmlformats.org/drawingml/2006/table">
            <a:tbl>
              <a:tblPr/>
              <a:tblGrid>
                <a:gridCol w="2980267">
                  <a:extLst>
                    <a:ext uri="{9D8B030D-6E8A-4147-A177-3AD203B41FA5}">
                      <a16:colId xmlns:a16="http://schemas.microsoft.com/office/drawing/2014/main" val="30288951"/>
                    </a:ext>
                  </a:extLst>
                </a:gridCol>
                <a:gridCol w="1744133">
                  <a:extLst>
                    <a:ext uri="{9D8B030D-6E8A-4147-A177-3AD203B41FA5}">
                      <a16:colId xmlns:a16="http://schemas.microsoft.com/office/drawing/2014/main" val="414938813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025372252"/>
                    </a:ext>
                  </a:extLst>
                </a:gridCol>
              </a:tblGrid>
              <a:tr h="685784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929627"/>
                  </a:ext>
                </a:extLst>
              </a:tr>
              <a:tr h="9346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LUI_type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AUIPC_type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03969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614742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107086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15139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79586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[b_taken,ALU_ctrl]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57435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815585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76960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089613"/>
                  </a:ext>
                </a:extLst>
              </a:tr>
              <a:tr h="6970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459151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446497" y="5987690"/>
            <a:ext cx="1600200" cy="81646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468379" y="7111226"/>
            <a:ext cx="1600200" cy="177197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7146838" y="7784840"/>
            <a:ext cx="10128938" cy="60165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7290192" y="4304089"/>
            <a:ext cx="6705600" cy="12730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17275776" y="6276129"/>
            <a:ext cx="6705600" cy="422073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12420600" y="6629400"/>
            <a:ext cx="590293" cy="59876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1915646" y="12967097"/>
            <a:ext cx="1600200" cy="44833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4550080" y="12983572"/>
            <a:ext cx="1600200" cy="44215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1811000" y="10845729"/>
            <a:ext cx="1600200" cy="44833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4541842" y="11367221"/>
            <a:ext cx="1600200" cy="44833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64760" y="9607747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chemeClr val="bg1"/>
                </a:solidFill>
                <a:highlight>
                  <a:srgbClr val="808080"/>
                </a:highlight>
              </a:rPr>
              <a:t>alu_result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35411" y="1019042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chemeClr val="bg1"/>
                </a:solidFill>
                <a:highlight>
                  <a:srgbClr val="808080"/>
                </a:highlight>
              </a:rPr>
              <a:t>Drdata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76600" y="1075122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64760" y="11298999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PC + </a:t>
            </a:r>
            <a:r>
              <a:rPr lang="en-US" altLang="ko-KR" sz="3200" b="1" dirty="0" err="1" smtClean="0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graphicFrame>
        <p:nvGraphicFramePr>
          <p:cNvPr id="38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13085"/>
              </p:ext>
            </p:extLst>
          </p:nvPr>
        </p:nvGraphicFramePr>
        <p:xfrm>
          <a:off x="16869032" y="10839756"/>
          <a:ext cx="7315201" cy="2483259"/>
        </p:xfrm>
        <a:graphic>
          <a:graphicData uri="http://schemas.openxmlformats.org/drawingml/2006/table">
            <a:tbl>
              <a:tblPr/>
              <a:tblGrid>
                <a:gridCol w="51348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89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4033683410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register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</a:rPr>
                        <a:t> 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 smtClean="0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LUI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x1</a:t>
                      </a:r>
                      <a:r>
                        <a:rPr lang="en-US" altLang="ko-KR" sz="2800" baseline="0" dirty="0" smtClean="0"/>
                        <a:t> = 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AUIPC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x1 = 3*4 + 10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226660" y="11835825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PC + 4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15099184" y="6640232"/>
            <a:ext cx="590293" cy="59876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꺾인 연결선 56"/>
          <p:cNvCxnSpPr/>
          <p:nvPr/>
        </p:nvCxnSpPr>
        <p:spPr>
          <a:xfrm rot="10800000" flipV="1">
            <a:off x="7068579" y="4876800"/>
            <a:ext cx="10207198" cy="1524001"/>
          </a:xfrm>
          <a:prstGeom prst="bentConnector3">
            <a:avLst>
              <a:gd name="adj1" fmla="val 86681"/>
            </a:avLst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15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CDAE-49E8-D07D-64B4-439A9F34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74" y="3195715"/>
            <a:ext cx="15678626" cy="1023608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A5BFB16-77EA-E9AB-4B17-A8243E32E7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476057DB-8186-1DC6-EDA9-104CBB1ACB75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(U-type)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34105-4A6D-6FC5-02D6-222AC7B9CF82}"/>
              </a:ext>
            </a:extLst>
          </p:cNvPr>
          <p:cNvSpPr txBox="1"/>
          <p:nvPr/>
        </p:nvSpPr>
        <p:spPr>
          <a:xfrm>
            <a:off x="1305339" y="2426274"/>
            <a:ext cx="6238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simulation(Register File)</a:t>
            </a:r>
            <a:endParaRPr lang="en-US" altLang="ko-KR" sz="4400" dirty="0"/>
          </a:p>
        </p:txBody>
      </p:sp>
      <p:graphicFrame>
        <p:nvGraphicFramePr>
          <p:cNvPr id="38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308604"/>
              </p:ext>
            </p:extLst>
          </p:nvPr>
        </p:nvGraphicFramePr>
        <p:xfrm>
          <a:off x="16840200" y="6324600"/>
          <a:ext cx="7315201" cy="2483259"/>
        </p:xfrm>
        <a:graphic>
          <a:graphicData uri="http://schemas.openxmlformats.org/drawingml/2006/table">
            <a:tbl>
              <a:tblPr/>
              <a:tblGrid>
                <a:gridCol w="513485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189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2806275">
                  <a:extLst>
                    <a:ext uri="{9D8B030D-6E8A-4147-A177-3AD203B41FA5}">
                      <a16:colId xmlns:a16="http://schemas.microsoft.com/office/drawing/2014/main" val="4033683410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</a:rPr>
                        <a:t>register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</a:rPr>
                        <a:t> 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 smtClean="0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2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LUI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x1</a:t>
                      </a:r>
                      <a:r>
                        <a:rPr lang="en-US" altLang="ko-KR" sz="2800" baseline="0" dirty="0" smtClean="0"/>
                        <a:t> = 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-10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AUIPC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x1 = 3*4 + 10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10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3581400" y="12746389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x1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13049507" y="12725400"/>
            <a:ext cx="590293" cy="59876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15183107" y="12739393"/>
            <a:ext cx="590293" cy="598768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0352585" y="3200400"/>
            <a:ext cx="1600200" cy="57254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449046" y="3200400"/>
            <a:ext cx="1600200" cy="57254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11554210" y="8219511"/>
            <a:ext cx="1790444" cy="450588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13249146" y="8155180"/>
            <a:ext cx="2128774" cy="453421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0210800" y="7633844"/>
            <a:ext cx="1600200" cy="57254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449046" y="7582639"/>
            <a:ext cx="1600200" cy="57254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6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147E1-72DB-D61D-F642-9B4BFA9B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9981613B-D86E-25DF-3F78-F826D1F62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877" y="2673280"/>
            <a:ext cx="10821022" cy="9340733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88E14FEC-83CE-ADC9-FE80-D2A531153A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979ABB00-31EC-E677-DE0F-62290CBC5D6C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(J-type)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03935F-3B75-453B-DEA3-C1CEF53E56A4}"/>
              </a:ext>
            </a:extLst>
          </p:cNvPr>
          <p:cNvSpPr txBox="1"/>
          <p:nvPr/>
        </p:nvSpPr>
        <p:spPr>
          <a:xfrm>
            <a:off x="8238" y="2382676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err="1"/>
              <a:t>DataFolw</a:t>
            </a:r>
            <a:endParaRPr lang="en-US" altLang="ko-KR" sz="4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FF2F97A-659C-9518-2E0B-78C57C120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926490"/>
              </p:ext>
            </p:extLst>
          </p:nvPr>
        </p:nvGraphicFramePr>
        <p:xfrm>
          <a:off x="1437185" y="1218545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12017828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JAL </a:t>
                      </a:r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Imm[20,10:1,11,19:12]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OPCODE(JAL)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43700CA-E651-5F11-8B4A-D7F99DECF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603551"/>
              </p:ext>
            </p:extLst>
          </p:nvPr>
        </p:nvGraphicFramePr>
        <p:xfrm>
          <a:off x="1437185" y="12816840"/>
          <a:ext cx="21031199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>
                  <a:extLst>
                    <a:ext uri="{9D8B030D-6E8A-4147-A177-3AD203B41FA5}">
                      <a16:colId xmlns:a16="http://schemas.microsoft.com/office/drawing/2014/main" val="4932414"/>
                    </a:ext>
                  </a:extLst>
                </a:gridCol>
                <a:gridCol w="6008914">
                  <a:extLst>
                    <a:ext uri="{9D8B030D-6E8A-4147-A177-3AD203B41FA5}">
                      <a16:colId xmlns:a16="http://schemas.microsoft.com/office/drawing/2014/main" val="4289750731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36144178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482639015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989108138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1997596351"/>
                    </a:ext>
                  </a:extLst>
                </a:gridCol>
              </a:tblGrid>
              <a:tr h="429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chemeClr val="tx1"/>
                          </a:solidFill>
                        </a:rPr>
                        <a:t>JALR</a:t>
                      </a:r>
                      <a:r>
                        <a:rPr lang="ko-KR" altLang="en-US" sz="3200" dirty="0" smtClean="0">
                          <a:solidFill>
                            <a:schemeClr val="tx1"/>
                          </a:solidFill>
                        </a:rPr>
                        <a:t>명령어</a:t>
                      </a:r>
                      <a:r>
                        <a:rPr lang="en-US" altLang="ko-KR" sz="320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Imm[11:0]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rs1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funct3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Rd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OPCODE(JALR)</a:t>
                      </a:r>
                      <a:endParaRPr lang="ko-KR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1658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86EA8CC-AD4E-2291-593F-03D3533FB09A}"/>
              </a:ext>
            </a:extLst>
          </p:cNvPr>
          <p:cNvSpPr txBox="1"/>
          <p:nvPr/>
        </p:nvSpPr>
        <p:spPr>
          <a:xfrm>
            <a:off x="1765236" y="9019777"/>
            <a:ext cx="30892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Rs1 + </a:t>
            </a:r>
            <a:r>
              <a:rPr lang="en-US" altLang="ko-KR" sz="3200" b="1" dirty="0" err="1">
                <a:highlight>
                  <a:srgbClr val="FFFF00"/>
                </a:highlight>
              </a:rPr>
              <a:t>imm</a:t>
            </a:r>
            <a:r>
              <a:rPr lang="en-US" altLang="ko-KR" sz="3200" b="1" dirty="0">
                <a:highlight>
                  <a:srgbClr val="FFFF00"/>
                </a:highlight>
              </a:rPr>
              <a:t>,</a:t>
            </a:r>
          </a:p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PC +</a:t>
            </a:r>
            <a:r>
              <a:rPr lang="en-US" altLang="ko-KR" sz="3200" b="1" dirty="0" err="1">
                <a:highlight>
                  <a:srgbClr val="FFFF00"/>
                </a:highlight>
              </a:rPr>
              <a:t>imm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B7A68-5C06-76ED-5BDB-24920968E6EB}"/>
              </a:ext>
            </a:extLst>
          </p:cNvPr>
          <p:cNvSpPr txBox="1"/>
          <p:nvPr/>
        </p:nvSpPr>
        <p:spPr>
          <a:xfrm>
            <a:off x="2622537" y="6835967"/>
            <a:ext cx="1374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PC + 4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58A01D-0E5D-15DE-C0B6-53BF8E02851D}"/>
              </a:ext>
            </a:extLst>
          </p:cNvPr>
          <p:cNvSpPr txBox="1"/>
          <p:nvPr/>
        </p:nvSpPr>
        <p:spPr>
          <a:xfrm>
            <a:off x="4186286" y="4347705"/>
            <a:ext cx="110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1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78BDF0-D2F2-3167-AB86-6FB9AB6F6E01}"/>
              </a:ext>
            </a:extLst>
          </p:cNvPr>
          <p:cNvSpPr txBox="1"/>
          <p:nvPr/>
        </p:nvSpPr>
        <p:spPr>
          <a:xfrm>
            <a:off x="5036757" y="4316301"/>
            <a:ext cx="110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ADD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DF71B4-1D87-8C75-AA05-36432E9C7843}"/>
              </a:ext>
            </a:extLst>
          </p:cNvPr>
          <p:cNvSpPr txBox="1"/>
          <p:nvPr/>
        </p:nvSpPr>
        <p:spPr>
          <a:xfrm>
            <a:off x="9175991" y="4314783"/>
            <a:ext cx="110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4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641013-82DE-107E-0308-1A933CD53CE0}"/>
              </a:ext>
            </a:extLst>
          </p:cNvPr>
          <p:cNvSpPr txBox="1"/>
          <p:nvPr/>
        </p:nvSpPr>
        <p:spPr>
          <a:xfrm>
            <a:off x="6785849" y="4322375"/>
            <a:ext cx="1108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1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A099C4-D3F8-6BBA-89C1-3F7991AF5D50}"/>
              </a:ext>
            </a:extLst>
          </p:cNvPr>
          <p:cNvSpPr txBox="1"/>
          <p:nvPr/>
        </p:nvSpPr>
        <p:spPr>
          <a:xfrm>
            <a:off x="7968562" y="4535271"/>
            <a:ext cx="1335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highlight>
                  <a:srgbClr val="FFFF00"/>
                </a:highlight>
              </a:rPr>
              <a:t>0 or 1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85259B-5DED-4A09-9E15-81A70AE40916}"/>
              </a:ext>
            </a:extLst>
          </p:cNvPr>
          <p:cNvSpPr txBox="1"/>
          <p:nvPr/>
        </p:nvSpPr>
        <p:spPr>
          <a:xfrm>
            <a:off x="5523375" y="8727389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smtClean="0">
                <a:highlight>
                  <a:srgbClr val="FFFF00"/>
                </a:highlight>
              </a:rPr>
              <a:t>j-event</a:t>
            </a:r>
            <a:endParaRPr lang="ko-KR" altLang="en-US" sz="3200" b="1" dirty="0">
              <a:highlight>
                <a:srgbClr val="FFFF00"/>
              </a:highlight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217726"/>
              </p:ext>
            </p:extLst>
          </p:nvPr>
        </p:nvGraphicFramePr>
        <p:xfrm>
          <a:off x="19202400" y="3092884"/>
          <a:ext cx="4876800" cy="45462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46726060"/>
                    </a:ext>
                  </a:extLst>
                </a:gridCol>
                <a:gridCol w="1655379">
                  <a:extLst>
                    <a:ext uri="{9D8B030D-6E8A-4147-A177-3AD203B41FA5}">
                      <a16:colId xmlns:a16="http://schemas.microsoft.com/office/drawing/2014/main" val="14753855"/>
                    </a:ext>
                  </a:extLst>
                </a:gridCol>
                <a:gridCol w="1849821">
                  <a:extLst>
                    <a:ext uri="{9D8B030D-6E8A-4147-A177-3AD203B41FA5}">
                      <a16:colId xmlns:a16="http://schemas.microsoft.com/office/drawing/2014/main" val="2471372114"/>
                    </a:ext>
                  </a:extLst>
                </a:gridCol>
              </a:tblGrid>
              <a:tr h="544601">
                <a:tc gridSpan="3"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endParaRPr lang="ko-KR" alt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81305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403361"/>
                  </a:ext>
                </a:extLst>
              </a:tr>
              <a:tr h="54460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Case</a:t>
                      </a:r>
                      <a:r>
                        <a:rPr lang="ko-KR" alt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문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OUTPUT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0887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j_event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b_src_sel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pc_next</a:t>
                      </a:r>
                      <a:r>
                        <a:rPr lang="en-US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63352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49617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baseline="0" dirty="0" err="1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43192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rs1 + </a:t>
                      </a:r>
                      <a:r>
                        <a:rPr lang="en-US" sz="2800" dirty="0" err="1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9302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7F5A15A-9171-3C01-C3C2-9CF2C82F1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115855"/>
              </p:ext>
            </p:extLst>
          </p:nvPr>
        </p:nvGraphicFramePr>
        <p:xfrm>
          <a:off x="12469662" y="3092884"/>
          <a:ext cx="6553200" cy="8104591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302069641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640973055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698214118"/>
                    </a:ext>
                  </a:extLst>
                </a:gridCol>
              </a:tblGrid>
              <a:tr h="736781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61761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JALR_type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70897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1375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22379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0316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JUMP</a:t>
                      </a:r>
                    </a:p>
                    <a:p>
                      <a:pPr algn="ctr" fontAlgn="ctr">
                        <a:buNone/>
                      </a:pPr>
                      <a:endParaRPr lang="en-US" sz="2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B_taken:1          ALU:ADD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501130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47091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317626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5320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296044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399670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9202400" y="5849216"/>
            <a:ext cx="4876800" cy="18422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36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76164-EAE0-B19B-9F8A-5784DEF4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E6A110CC-095F-3A48-112C-03E6B47FA3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273859FD-4EBB-97DC-77E4-E99DFAC751BE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(J-type)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B00C3E-F6B2-7644-508C-C210774C97D1}"/>
              </a:ext>
            </a:extLst>
          </p:cNvPr>
          <p:cNvSpPr txBox="1"/>
          <p:nvPr/>
        </p:nvSpPr>
        <p:spPr>
          <a:xfrm>
            <a:off x="1305339" y="2426274"/>
            <a:ext cx="540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simulation(</a:t>
            </a:r>
            <a:r>
              <a:rPr lang="ko-KR" altLang="en-US" sz="4400" dirty="0"/>
              <a:t>시나리오</a:t>
            </a:r>
            <a:r>
              <a:rPr lang="en-US" altLang="ko-KR" sz="4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A467-E66A-B0BD-1C3F-E8BA629F5414}"/>
              </a:ext>
            </a:extLst>
          </p:cNvPr>
          <p:cNvSpPr txBox="1"/>
          <p:nvPr/>
        </p:nvSpPr>
        <p:spPr>
          <a:xfrm>
            <a:off x="852118" y="3554150"/>
            <a:ext cx="7987081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4400" dirty="0" smtClean="0"/>
              <a:t>JAL   : </a:t>
            </a:r>
            <a:r>
              <a:rPr lang="en-US" altLang="ko-KR" sz="4400" dirty="0" err="1" smtClean="0"/>
              <a:t>rd</a:t>
            </a:r>
            <a:r>
              <a:rPr lang="en-US" altLang="ko-KR" sz="4400" dirty="0" smtClean="0"/>
              <a:t> = PC + 4; PC += </a:t>
            </a:r>
            <a:r>
              <a:rPr lang="en-US" altLang="ko-KR" sz="4400" dirty="0" err="1" smtClean="0"/>
              <a:t>imm</a:t>
            </a:r>
            <a:endParaRPr lang="en-US" altLang="ko-KR" sz="4400" dirty="0"/>
          </a:p>
          <a:p>
            <a:r>
              <a:rPr lang="en-US" altLang="ko-KR" sz="4400" dirty="0" smtClean="0"/>
              <a:t>JALR : </a:t>
            </a:r>
            <a:r>
              <a:rPr lang="en-US" altLang="ko-KR" sz="4400" dirty="0" err="1" smtClean="0"/>
              <a:t>rd</a:t>
            </a:r>
            <a:r>
              <a:rPr lang="en-US" altLang="ko-KR" sz="4400" dirty="0" smtClean="0"/>
              <a:t> = PC + 4; PC = rs1 + </a:t>
            </a:r>
            <a:r>
              <a:rPr lang="en-US" altLang="ko-KR" sz="4400" dirty="0" err="1" smtClean="0"/>
              <a:t>imm</a:t>
            </a:r>
            <a:endParaRPr lang="ko-KR" altLang="en-US" sz="4400" dirty="0"/>
          </a:p>
        </p:txBody>
      </p:sp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6059B37-69A2-1971-9E81-2C4B18696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010562"/>
              </p:ext>
            </p:extLst>
          </p:nvPr>
        </p:nvGraphicFramePr>
        <p:xfrm>
          <a:off x="11952785" y="6172200"/>
          <a:ext cx="11430000" cy="3136585"/>
        </p:xfrm>
        <a:graphic>
          <a:graphicData uri="http://schemas.openxmlformats.org/drawingml/2006/table">
            <a:tbl>
              <a:tblPr/>
              <a:tblGrid>
                <a:gridCol w="802320">
                  <a:extLst>
                    <a:ext uri="{9D8B030D-6E8A-4147-A177-3AD203B41FA5}">
                      <a16:colId xmlns:a16="http://schemas.microsoft.com/office/drawing/2014/main" val="1091418196"/>
                    </a:ext>
                  </a:extLst>
                </a:gridCol>
                <a:gridCol w="185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6478">
                  <a:extLst>
                    <a:ext uri="{9D8B030D-6E8A-4147-A177-3AD203B41FA5}">
                      <a16:colId xmlns:a16="http://schemas.microsoft.com/office/drawing/2014/main" val="1825833440"/>
                    </a:ext>
                  </a:extLst>
                </a:gridCol>
                <a:gridCol w="4044695">
                  <a:extLst>
                    <a:ext uri="{9D8B030D-6E8A-4147-A177-3AD203B41FA5}">
                      <a16:colId xmlns:a16="http://schemas.microsoft.com/office/drawing/2014/main" val="2658312311"/>
                    </a:ext>
                  </a:extLst>
                </a:gridCol>
                <a:gridCol w="1888435">
                  <a:extLst>
                    <a:ext uri="{9D8B030D-6E8A-4147-A177-3AD203B41FA5}">
                      <a16:colId xmlns:a16="http://schemas.microsoft.com/office/drawing/2014/main" val="4033683410"/>
                    </a:ext>
                  </a:extLst>
                </a:gridCol>
              </a:tblGrid>
              <a:tr h="179279">
                <a:tc gridSpan="5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 smtClean="0">
                          <a:solidFill>
                            <a:schemeClr val="tx1"/>
                          </a:solidFill>
                        </a:rPr>
                        <a:t>registerFile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 smtClean="0"/>
                        <a:t>PC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 smtClean="0">
                          <a:solidFill>
                            <a:schemeClr val="tx1"/>
                          </a:solidFill>
                        </a:rPr>
                        <a:t>imm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0101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x1</a:t>
                      </a:r>
                      <a:r>
                        <a:rPr lang="en-US" altLang="ko-KR" sz="2800" baseline="0" dirty="0" smtClean="0"/>
                        <a:t> = 0 + 4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PC = 0 + 3*4 = 3*4</a:t>
                      </a: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3*4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7085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JALR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x2</a:t>
                      </a:r>
                      <a:r>
                        <a:rPr lang="en-US" altLang="ko-KR" sz="2800" baseline="0" dirty="0" smtClean="0"/>
                        <a:t> = 3*4 + 4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PC = x5(4*4) + 3*4 = 7*4</a:t>
                      </a: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SUB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x3 = x2 – x1 = 12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771999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55624"/>
              </p:ext>
            </p:extLst>
          </p:nvPr>
        </p:nvGraphicFramePr>
        <p:xfrm>
          <a:off x="2094113" y="6248400"/>
          <a:ext cx="4714461" cy="3173849"/>
        </p:xfrm>
        <a:graphic>
          <a:graphicData uri="http://schemas.openxmlformats.org/drawingml/2006/table">
            <a:tbl>
              <a:tblPr/>
              <a:tblGrid>
                <a:gridCol w="1343729">
                  <a:extLst>
                    <a:ext uri="{9D8B030D-6E8A-4147-A177-3AD203B41FA5}">
                      <a16:colId xmlns:a16="http://schemas.microsoft.com/office/drawing/2014/main" val="1874453295"/>
                    </a:ext>
                  </a:extLst>
                </a:gridCol>
                <a:gridCol w="3370732">
                  <a:extLst>
                    <a:ext uri="{9D8B030D-6E8A-4147-A177-3AD203B41FA5}">
                      <a16:colId xmlns:a16="http://schemas.microsoft.com/office/drawing/2014/main" val="20865125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register</a:t>
                      </a:r>
                      <a:r>
                        <a:rPr lang="en-US" sz="2800" baseline="0" dirty="0" smtClean="0">
                          <a:solidFill>
                            <a:schemeClr val="bg1"/>
                          </a:solidFill>
                        </a:rPr>
                        <a:t> file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1443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800" dirty="0" err="1" smtClean="0"/>
                        <a:t>addr</a:t>
                      </a:r>
                      <a:endParaRPr lang="ko-KR" alt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800" dirty="0" smtClean="0"/>
                        <a:t>용도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38582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 smtClean="0"/>
                        <a:t>x1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JAL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ko-KR" altLang="en-US" sz="2800" baseline="0" dirty="0" smtClean="0"/>
                        <a:t>저장소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387086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 smtClean="0"/>
                        <a:t>x2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JALR </a:t>
                      </a:r>
                      <a:r>
                        <a:rPr lang="ko-KR" altLang="en-US" sz="2800" dirty="0" smtClean="0"/>
                        <a:t>저장소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91377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 smtClean="0"/>
                        <a:t>x3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SUB </a:t>
                      </a:r>
                      <a:r>
                        <a:rPr lang="ko-KR" altLang="en-US" sz="2800" dirty="0" smtClean="0"/>
                        <a:t>값 저장소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323498"/>
                  </a:ext>
                </a:extLst>
              </a:tr>
              <a:tr h="50683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 smtClean="0"/>
                        <a:t>x5</a:t>
                      </a:r>
                      <a:endParaRPr lang="ko-KR" altLang="en-US" sz="24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JALR</a:t>
                      </a:r>
                      <a:r>
                        <a:rPr lang="en-US" sz="2800" baseline="0" dirty="0" smtClean="0"/>
                        <a:t> rs1 </a:t>
                      </a:r>
                      <a:r>
                        <a:rPr lang="ko-KR" altLang="en-US" sz="2800" baseline="0" dirty="0" smtClean="0"/>
                        <a:t>값 </a:t>
                      </a:r>
                      <a:r>
                        <a:rPr lang="en-US" sz="2800" dirty="0" smtClean="0"/>
                        <a:t>4*4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641106"/>
                  </a:ext>
                </a:extLst>
              </a:tr>
            </a:tbl>
          </a:graphicData>
        </a:graphic>
      </p:graphicFrame>
      <p:sp>
        <p:nvSpPr>
          <p:cNvPr id="8" name="오른쪽 화살표 7"/>
          <p:cNvSpPr/>
          <p:nvPr/>
        </p:nvSpPr>
        <p:spPr>
          <a:xfrm rot="10800000">
            <a:off x="7772400" y="6998702"/>
            <a:ext cx="3124200" cy="1143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잉크 8"/>
              <p14:cNvContentPartPr/>
              <p14:nvPr/>
            </p14:nvContentPartPr>
            <p14:xfrm>
              <a:off x="20709788" y="8315582"/>
              <a:ext cx="173520" cy="720"/>
            </p14:xfrm>
          </p:contentPart>
        </mc:Choice>
        <mc:Fallback>
          <p:pic>
            <p:nvPicPr>
              <p:cNvPr id="9" name="잉크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661908" y="8219822"/>
                <a:ext cx="2692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잉크 9"/>
              <p14:cNvContentPartPr/>
              <p14:nvPr/>
            </p14:nvContentPartPr>
            <p14:xfrm>
              <a:off x="20246828" y="7609622"/>
              <a:ext cx="179280" cy="178920"/>
            </p14:xfrm>
          </p:contentPart>
        </mc:Choice>
        <mc:Fallback>
          <p:pic>
            <p:nvPicPr>
              <p:cNvPr id="10" name="잉크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198948" y="7513502"/>
                <a:ext cx="27504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잉크 10"/>
              <p14:cNvContentPartPr/>
              <p14:nvPr/>
            </p14:nvContentPartPr>
            <p14:xfrm>
              <a:off x="20681348" y="8116502"/>
              <a:ext cx="282240" cy="291240"/>
            </p14:xfrm>
          </p:contentPart>
        </mc:Choice>
        <mc:Fallback>
          <p:pic>
            <p:nvPicPr>
              <p:cNvPr id="11" name="잉크 1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633108" y="8020742"/>
                <a:ext cx="37836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잉크 11"/>
              <p14:cNvContentPartPr/>
              <p14:nvPr/>
            </p14:nvContentPartPr>
            <p14:xfrm>
              <a:off x="16088468" y="7638422"/>
              <a:ext cx="593640" cy="23040"/>
            </p14:xfrm>
          </p:contentPart>
        </mc:Choice>
        <mc:Fallback>
          <p:pic>
            <p:nvPicPr>
              <p:cNvPr id="12" name="잉크 1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040588" y="7542302"/>
                <a:ext cx="689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잉크 12"/>
              <p14:cNvContentPartPr/>
              <p14:nvPr/>
            </p14:nvContentPartPr>
            <p14:xfrm>
              <a:off x="15890828" y="8340782"/>
              <a:ext cx="1013040" cy="360"/>
            </p14:xfrm>
          </p:contentPart>
        </mc:Choice>
        <mc:Fallback>
          <p:pic>
            <p:nvPicPr>
              <p:cNvPr id="13" name="잉크 12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842948" y="8244662"/>
                <a:ext cx="1109160" cy="19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397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520F-B8C0-8AE0-79F6-2963519F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6600"/>
            <a:ext cx="17145000" cy="94488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971073C2-B06F-BC80-4ACF-FA7836619E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BAF71DB-A399-2F10-16F4-1F2D6BD775E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(J-type)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DC121-26F8-ED24-E9FB-CF82257CEDFE}"/>
              </a:ext>
            </a:extLst>
          </p:cNvPr>
          <p:cNvSpPr txBox="1"/>
          <p:nvPr/>
        </p:nvSpPr>
        <p:spPr>
          <a:xfrm>
            <a:off x="1305339" y="2426274"/>
            <a:ext cx="6162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simulation(Control Unit)</a:t>
            </a:r>
            <a:endParaRPr lang="en-US" altLang="ko-KR" sz="4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7F5A15A-9171-3C01-C3C2-9CF2C82F1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13112"/>
              </p:ext>
            </p:extLst>
          </p:nvPr>
        </p:nvGraphicFramePr>
        <p:xfrm>
          <a:off x="17602200" y="3191030"/>
          <a:ext cx="6553200" cy="8104591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302069641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640973055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698214118"/>
                    </a:ext>
                  </a:extLst>
                </a:gridCol>
              </a:tblGrid>
              <a:tr h="736781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control_unit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61761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JALR_type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70897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1375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22379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rf_wd_sel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0316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alu_control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JUMP</a:t>
                      </a:r>
                    </a:p>
                    <a:p>
                      <a:pPr algn="ctr" fontAlgn="ctr">
                        <a:buNone/>
                      </a:pPr>
                      <a:endParaRPr lang="en-US" sz="2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B_taken:1          ALU:ADD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501130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b_taken,ALU_ctrl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47091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b_src_sel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317626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553202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o_funct3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296044"/>
                  </a:ext>
                </a:extLst>
              </a:tr>
              <a:tr h="736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dwe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399670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257800" y="7922162"/>
            <a:ext cx="1600200" cy="145043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257800" y="6342240"/>
            <a:ext cx="1600200" cy="81646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5286632" y="10224340"/>
            <a:ext cx="1600200" cy="227245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8991600" y="7158701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2382500" y="7204185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8975124" y="9542623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2366024" y="9588107"/>
            <a:ext cx="137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14478000" y="3276600"/>
            <a:ext cx="0" cy="9448800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11658600" y="3197762"/>
            <a:ext cx="0" cy="9448800"/>
          </a:xfrm>
          <a:prstGeom prst="line">
            <a:avLst/>
          </a:prstGeom>
          <a:ln w="762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90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520F-B8C0-8AE0-79F6-2963519F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971073C2-B06F-BC80-4ACF-FA7836619E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BAF71DB-A399-2F10-16F4-1F2D6BD775E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(J-type)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DC121-26F8-ED24-E9FB-CF82257CEDFE}"/>
              </a:ext>
            </a:extLst>
          </p:cNvPr>
          <p:cNvSpPr txBox="1"/>
          <p:nvPr/>
        </p:nvSpPr>
        <p:spPr>
          <a:xfrm>
            <a:off x="1305339" y="2426274"/>
            <a:ext cx="6162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simulation(ALU &amp; PC)</a:t>
            </a:r>
            <a:endParaRPr lang="en-US" altLang="ko-KR" sz="4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276600"/>
            <a:ext cx="16306800" cy="10058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0363200" y="6705600"/>
            <a:ext cx="281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 smtClean="0">
                <a:highlight>
                  <a:srgbClr val="FFFF00"/>
                </a:highlight>
              </a:rPr>
              <a:t>b_taken</a:t>
            </a:r>
            <a:r>
              <a:rPr lang="en-US" altLang="ko-KR" sz="4000" dirty="0" smtClean="0">
                <a:highlight>
                  <a:srgbClr val="FFFF00"/>
                </a:highlight>
              </a:rPr>
              <a:t> = 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39478"/>
              </p:ext>
            </p:extLst>
          </p:nvPr>
        </p:nvGraphicFramePr>
        <p:xfrm>
          <a:off x="18364200" y="4038600"/>
          <a:ext cx="4876800" cy="454627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046726060"/>
                    </a:ext>
                  </a:extLst>
                </a:gridCol>
                <a:gridCol w="1655379">
                  <a:extLst>
                    <a:ext uri="{9D8B030D-6E8A-4147-A177-3AD203B41FA5}">
                      <a16:colId xmlns:a16="http://schemas.microsoft.com/office/drawing/2014/main" val="14753855"/>
                    </a:ext>
                  </a:extLst>
                </a:gridCol>
                <a:gridCol w="1849821">
                  <a:extLst>
                    <a:ext uri="{9D8B030D-6E8A-4147-A177-3AD203B41FA5}">
                      <a16:colId xmlns:a16="http://schemas.microsoft.com/office/drawing/2014/main" val="2471372114"/>
                    </a:ext>
                  </a:extLst>
                </a:gridCol>
              </a:tblGrid>
              <a:tr h="544601">
                <a:tc gridSpan="3"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endParaRPr lang="ko-KR" alt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81305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3403361"/>
                  </a:ext>
                </a:extLst>
              </a:tr>
              <a:tr h="544601">
                <a:tc gridSpan="2"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Case</a:t>
                      </a:r>
                      <a:r>
                        <a:rPr lang="ko-KR" alt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문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OUTPUT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00887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j_event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b_src_sel</a:t>
                      </a:r>
                      <a:endParaRPr lang="en-US" sz="2800" b="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800" b="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pc_next</a:t>
                      </a:r>
                      <a:r>
                        <a:rPr lang="en-US" sz="2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63352"/>
                  </a:ext>
                </a:extLst>
              </a:tr>
              <a:tr h="544601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549617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PC</a:t>
                      </a:r>
                      <a:r>
                        <a:rPr lang="en-US" sz="2800" baseline="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+ </a:t>
                      </a:r>
                      <a:r>
                        <a:rPr lang="en-US" sz="2800" baseline="0" dirty="0" err="1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843192"/>
                  </a:ext>
                </a:extLst>
              </a:tr>
              <a:tr h="877666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28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ko-KR" alt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2800" dirty="0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rs1 + </a:t>
                      </a:r>
                      <a:r>
                        <a:rPr lang="en-US" sz="2800" dirty="0" err="1" smtClean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imm</a:t>
                      </a:r>
                      <a:endParaRPr lang="en-US" sz="28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L="81305" marR="101631" marT="135508" marB="1355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9302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8364200" y="6794932"/>
            <a:ext cx="4876800" cy="18422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1495585" y="12707999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2725400" y="9347425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highlight>
                  <a:srgbClr val="FFFF00"/>
                </a:highlight>
              </a:rPr>
              <a:t>1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9677400" y="9353142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0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7145000" y="12627114"/>
            <a:ext cx="7350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err="1"/>
              <a:t>j_event</a:t>
            </a:r>
            <a:r>
              <a:rPr lang="en-US" altLang="ko-KR" sz="4000" dirty="0"/>
              <a:t>= branch &amp;&amp; </a:t>
            </a:r>
            <a:r>
              <a:rPr lang="en-US" altLang="ko-KR" sz="4000" dirty="0" err="1"/>
              <a:t>b_taken</a:t>
            </a:r>
            <a:endParaRPr lang="ko-KR" altLang="en-US" sz="4000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 flipH="1" flipV="1">
            <a:off x="14782800" y="12981057"/>
            <a:ext cx="2362200" cy="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2133600" y="9501316"/>
            <a:ext cx="19050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8991600" y="10575786"/>
            <a:ext cx="19050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115800" y="10042386"/>
            <a:ext cx="19050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409984" y="11642194"/>
            <a:ext cx="4277815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0896600" y="11109186"/>
            <a:ext cx="1513384" cy="54211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4012242" y="10613373"/>
            <a:ext cx="999158" cy="102882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5715000" y="9945603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Rs1 + </a:t>
            </a:r>
            <a:r>
              <a:rPr lang="en-US" altLang="ko-KR" sz="3200" b="1" dirty="0" err="1" smtClean="0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5715000" y="10528276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PC + </a:t>
            </a:r>
            <a:r>
              <a:rPr lang="en-US" altLang="ko-KR" sz="3200" b="1" dirty="0" err="1" smtClean="0">
                <a:solidFill>
                  <a:schemeClr val="bg1"/>
                </a:solidFill>
                <a:highlight>
                  <a:srgbClr val="808080"/>
                </a:highlight>
              </a:rPr>
              <a:t>imm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5715000" y="11089076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PC </a:t>
            </a:r>
            <a:r>
              <a:rPr lang="en-US" altLang="ko-KR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+4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9A3C8F-11FC-CA75-1EA8-CF5D01417B34}"/>
              </a:ext>
            </a:extLst>
          </p:cNvPr>
          <p:cNvSpPr txBox="1"/>
          <p:nvPr/>
        </p:nvSpPr>
        <p:spPr>
          <a:xfrm>
            <a:off x="5715000" y="11636855"/>
            <a:ext cx="14684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현재</a:t>
            </a:r>
            <a:r>
              <a:rPr lang="en-US" altLang="ko-KR" sz="3200" b="1" dirty="0" smtClean="0">
                <a:solidFill>
                  <a:schemeClr val="bg1"/>
                </a:solidFill>
                <a:highlight>
                  <a:srgbClr val="808080"/>
                </a:highlight>
              </a:rPr>
              <a:t>PC</a:t>
            </a:r>
            <a:endParaRPr lang="ko-KR" altLang="en-US" sz="32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15408618" y="5257800"/>
            <a:ext cx="821982" cy="1143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69189"/>
              </p:ext>
            </p:extLst>
          </p:nvPr>
        </p:nvGraphicFramePr>
        <p:xfrm>
          <a:off x="17830801" y="9103580"/>
          <a:ext cx="6025748" cy="3136585"/>
        </p:xfrm>
        <a:graphic>
          <a:graphicData uri="http://schemas.openxmlformats.org/drawingml/2006/table">
            <a:tbl>
              <a:tblPr/>
              <a:tblGrid>
                <a:gridCol w="506686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173421">
                  <a:extLst>
                    <a:ext uri="{9D8B030D-6E8A-4147-A177-3AD203B41FA5}">
                      <a16:colId xmlns:a16="http://schemas.microsoft.com/office/drawing/2014/main" val="1979513971"/>
                    </a:ext>
                  </a:extLst>
                </a:gridCol>
                <a:gridCol w="1791310">
                  <a:extLst>
                    <a:ext uri="{9D8B030D-6E8A-4147-A177-3AD203B41FA5}">
                      <a16:colId xmlns:a16="http://schemas.microsoft.com/office/drawing/2014/main" val="1520305601"/>
                    </a:ext>
                  </a:extLst>
                </a:gridCol>
                <a:gridCol w="2554331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 smtClean="0">
                          <a:solidFill>
                            <a:schemeClr val="tx1"/>
                          </a:solidFill>
                        </a:rPr>
                        <a:t>registerFile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 smtClean="0"/>
                        <a:t>PC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x1</a:t>
                      </a:r>
                      <a:r>
                        <a:rPr lang="en-US" altLang="ko-KR" sz="2800" baseline="0" dirty="0" smtClean="0"/>
                        <a:t> = </a:t>
                      </a:r>
                      <a:r>
                        <a:rPr lang="en-US" altLang="ko-KR" sz="2800" baseline="0" dirty="0" smtClean="0"/>
                        <a:t>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PC = </a:t>
                      </a:r>
                      <a:r>
                        <a:rPr lang="en-US" altLang="ko-KR" sz="2800" baseline="0" dirty="0" smtClean="0"/>
                        <a:t>3*4</a:t>
                      </a: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JALR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x2</a:t>
                      </a:r>
                      <a:r>
                        <a:rPr lang="en-US" altLang="ko-KR" sz="2800" baseline="0" dirty="0" smtClean="0"/>
                        <a:t> </a:t>
                      </a:r>
                      <a:r>
                        <a:rPr lang="en-US" altLang="ko-KR" sz="2800" baseline="0" dirty="0" smtClean="0"/>
                        <a:t>= 16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PC </a:t>
                      </a:r>
                      <a:r>
                        <a:rPr lang="en-US" altLang="ko-KR" sz="2800" baseline="0" dirty="0" smtClean="0"/>
                        <a:t>= </a:t>
                      </a:r>
                      <a:r>
                        <a:rPr lang="en-US" altLang="ko-KR" sz="2800" baseline="0" dirty="0" smtClean="0"/>
                        <a:t>7*4</a:t>
                      </a: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956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SUB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x3 = </a:t>
                      </a:r>
                      <a:r>
                        <a:rPr lang="en-US" altLang="ko-KR" sz="2800" baseline="0" dirty="0" smtClean="0"/>
                        <a:t>12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305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97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520F-B8C0-8AE0-79F6-2963519F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8" y="3263137"/>
            <a:ext cx="16281652" cy="10252247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971073C2-B06F-BC80-4ACF-FA7836619E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BAF71DB-A399-2F10-16F4-1F2D6BD775E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3. Type 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별 동작 방식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(J-type)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DC121-26F8-ED24-E9FB-CF82257CEDFE}"/>
              </a:ext>
            </a:extLst>
          </p:cNvPr>
          <p:cNvSpPr txBox="1"/>
          <p:nvPr/>
        </p:nvSpPr>
        <p:spPr>
          <a:xfrm>
            <a:off x="1305339" y="2426274"/>
            <a:ext cx="6162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simulation(Register </a:t>
            </a:r>
            <a:r>
              <a:rPr lang="en-US" altLang="ko-KR" sz="4400" dirty="0"/>
              <a:t>F</a:t>
            </a:r>
            <a:r>
              <a:rPr lang="en-US" altLang="ko-KR" sz="4400" dirty="0" smtClean="0"/>
              <a:t>ile)</a:t>
            </a:r>
            <a:endParaRPr lang="en-US" altLang="ko-KR" sz="4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7676120" y="6019800"/>
            <a:ext cx="800100" cy="1143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0591800" y="6019800"/>
            <a:ext cx="781050" cy="1143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2801600" y="10668000"/>
            <a:ext cx="8001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7BF62E-8766-1AED-AA5D-EA2C0052FC2B}"/>
              </a:ext>
            </a:extLst>
          </p:cNvPr>
          <p:cNvSpPr/>
          <p:nvPr/>
        </p:nvSpPr>
        <p:spPr>
          <a:xfrm>
            <a:off x="13868400" y="11201400"/>
            <a:ext cx="800100" cy="5334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8476220" y="7162800"/>
            <a:ext cx="1429780" cy="35052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1319163" y="7162800"/>
            <a:ext cx="805647" cy="40386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220088"/>
              </p:ext>
            </p:extLst>
          </p:nvPr>
        </p:nvGraphicFramePr>
        <p:xfrm>
          <a:off x="17337559" y="6005384"/>
          <a:ext cx="6025748" cy="3136585"/>
        </p:xfrm>
        <a:graphic>
          <a:graphicData uri="http://schemas.openxmlformats.org/drawingml/2006/table">
            <a:tbl>
              <a:tblPr/>
              <a:tblGrid>
                <a:gridCol w="506686">
                  <a:extLst>
                    <a:ext uri="{9D8B030D-6E8A-4147-A177-3AD203B41FA5}">
                      <a16:colId xmlns:a16="http://schemas.microsoft.com/office/drawing/2014/main" val="3794807972"/>
                    </a:ext>
                  </a:extLst>
                </a:gridCol>
                <a:gridCol w="1173421">
                  <a:extLst>
                    <a:ext uri="{9D8B030D-6E8A-4147-A177-3AD203B41FA5}">
                      <a16:colId xmlns:a16="http://schemas.microsoft.com/office/drawing/2014/main" val="1979513971"/>
                    </a:ext>
                  </a:extLst>
                </a:gridCol>
                <a:gridCol w="1791310">
                  <a:extLst>
                    <a:ext uri="{9D8B030D-6E8A-4147-A177-3AD203B41FA5}">
                      <a16:colId xmlns:a16="http://schemas.microsoft.com/office/drawing/2014/main" val="1520305601"/>
                    </a:ext>
                  </a:extLst>
                </a:gridCol>
                <a:gridCol w="2554331">
                  <a:extLst>
                    <a:ext uri="{9D8B030D-6E8A-4147-A177-3AD203B41FA5}">
                      <a16:colId xmlns:a16="http://schemas.microsoft.com/office/drawing/2014/main" val="1992613035"/>
                    </a:ext>
                  </a:extLst>
                </a:gridCol>
              </a:tblGrid>
              <a:tr h="179279"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INSTR MEM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648103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PC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INSRT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0" dirty="0" err="1" smtClean="0">
                          <a:solidFill>
                            <a:schemeClr val="tx1"/>
                          </a:solidFill>
                        </a:rPr>
                        <a:t>registerFile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0" dirty="0" smtClean="0"/>
                        <a:t>PC</a:t>
                      </a:r>
                      <a:endParaRPr lang="ko-KR" altLang="en-US" sz="2800" b="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2777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x1</a:t>
                      </a:r>
                      <a:r>
                        <a:rPr lang="en-US" altLang="ko-KR" sz="2800" baseline="0" dirty="0" smtClean="0"/>
                        <a:t> = </a:t>
                      </a:r>
                      <a:r>
                        <a:rPr lang="en-US" altLang="ko-KR" sz="2800" baseline="0" dirty="0" smtClean="0"/>
                        <a:t>4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PC = </a:t>
                      </a:r>
                      <a:r>
                        <a:rPr lang="en-US" altLang="ko-KR" sz="2800" baseline="0" dirty="0" smtClean="0"/>
                        <a:t>3*4</a:t>
                      </a: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56012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3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JALR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/>
                        <a:t>x2</a:t>
                      </a:r>
                      <a:r>
                        <a:rPr lang="en-US" altLang="ko-KR" sz="2800" baseline="0" dirty="0" smtClean="0"/>
                        <a:t> </a:t>
                      </a:r>
                      <a:r>
                        <a:rPr lang="en-US" altLang="ko-KR" sz="2800" baseline="0" dirty="0" smtClean="0"/>
                        <a:t>= 16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PC </a:t>
                      </a:r>
                      <a:r>
                        <a:rPr lang="en-US" altLang="ko-KR" sz="2800" baseline="0" dirty="0" smtClean="0"/>
                        <a:t>= </a:t>
                      </a:r>
                      <a:r>
                        <a:rPr lang="en-US" altLang="ko-KR" sz="2800" baseline="0" dirty="0" smtClean="0"/>
                        <a:t>7*4</a:t>
                      </a:r>
                      <a:endParaRPr lang="en-US" altLang="ko-KR" sz="2800" dirty="0" smtClean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9566"/>
                  </a:ext>
                </a:extLst>
              </a:tr>
              <a:tr h="65332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/>
                        <a:t>7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dirty="0" smtClean="0"/>
                        <a:t>SUB</a:t>
                      </a:r>
                      <a:endParaRPr lang="en-US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aseline="0" dirty="0" smtClean="0"/>
                        <a:t>x3 = </a:t>
                      </a:r>
                      <a:r>
                        <a:rPr lang="en-US" altLang="ko-KR" sz="2800" baseline="0" dirty="0" smtClean="0"/>
                        <a:t>12</a:t>
                      </a: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8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305374"/>
                  </a:ext>
                </a:extLst>
              </a:tr>
            </a:tbl>
          </a:graphicData>
        </a:graphic>
      </p:graphicFrame>
      <p:sp>
        <p:nvSpPr>
          <p:cNvPr id="48" name="타원 47"/>
          <p:cNvSpPr/>
          <p:nvPr/>
        </p:nvSpPr>
        <p:spPr>
          <a:xfrm>
            <a:off x="12790659" y="6019800"/>
            <a:ext cx="821982" cy="1143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7467600" y="3808585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JAL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0334625" y="3804466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JALR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4E403C-E9D3-F3FE-10CD-D4FF5FB74D2E}"/>
              </a:ext>
            </a:extLst>
          </p:cNvPr>
          <p:cNvSpPr txBox="1"/>
          <p:nvPr/>
        </p:nvSpPr>
        <p:spPr>
          <a:xfrm>
            <a:off x="12550346" y="3804466"/>
            <a:ext cx="129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 smtClean="0">
                <a:highlight>
                  <a:srgbClr val="FFFF00"/>
                </a:highlight>
              </a:rPr>
              <a:t>SUB</a:t>
            </a:r>
            <a:endParaRPr lang="ko-KR" altLang="en-US" sz="4000" dirty="0">
              <a:highlight>
                <a:srgbClr val="FFFF00"/>
              </a:highlight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1421A86-8BC2-D9A2-51D3-9D4271B69E69}"/>
              </a:ext>
            </a:extLst>
          </p:cNvPr>
          <p:cNvCxnSpPr>
            <a:cxnSpLocks/>
          </p:cNvCxnSpPr>
          <p:nvPr/>
        </p:nvCxnSpPr>
        <p:spPr>
          <a:xfrm>
            <a:off x="13396443" y="7129089"/>
            <a:ext cx="2072157" cy="467313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1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520F-B8C0-8AE0-79F6-2963519F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971073C2-B06F-BC80-4ACF-FA7836619E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7BAF71DB-A399-2F10-16F4-1F2D6BD775E7}"/>
              </a:ext>
            </a:extLst>
          </p:cNvPr>
          <p:cNvSpPr txBox="1"/>
          <p:nvPr/>
        </p:nvSpPr>
        <p:spPr>
          <a:xfrm>
            <a:off x="1295400" y="609600"/>
            <a:ext cx="18897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4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. C to Assembler 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DC121-26F8-ED24-E9FB-CF82257CEDFE}"/>
              </a:ext>
            </a:extLst>
          </p:cNvPr>
          <p:cNvSpPr txBox="1"/>
          <p:nvPr/>
        </p:nvSpPr>
        <p:spPr>
          <a:xfrm>
            <a:off x="1305339" y="2426274"/>
            <a:ext cx="7000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• </a:t>
            </a:r>
            <a:r>
              <a:rPr lang="en-US" altLang="ko-KR" sz="4400" dirty="0" smtClean="0"/>
              <a:t>bubble </a:t>
            </a:r>
            <a:r>
              <a:rPr lang="en-US" altLang="ko-KR" sz="4400" dirty="0" smtClean="0"/>
              <a:t>sort(</a:t>
            </a:r>
            <a:r>
              <a:rPr lang="ko-KR" altLang="en-US" sz="4400" dirty="0" smtClean="0"/>
              <a:t>오름차순 정렬</a:t>
            </a:r>
            <a:r>
              <a:rPr lang="en-US" altLang="ko-KR" sz="4400" dirty="0" smtClean="0"/>
              <a:t>)</a:t>
            </a:r>
            <a:endParaRPr lang="en-US" altLang="ko-KR" sz="44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352800"/>
            <a:ext cx="7239000" cy="1020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5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3679</Words>
  <Application>Microsoft Office PowerPoint</Application>
  <PresentationFormat>사용자 지정</PresentationFormat>
  <Paragraphs>1968</Paragraphs>
  <Slides>57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4" baseType="lpstr">
      <vt:lpstr>Pretendard Bold</vt:lpstr>
      <vt:lpstr>Pretendard Regular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kccistc</cp:lastModifiedBy>
  <cp:revision>225</cp:revision>
  <dcterms:created xsi:type="dcterms:W3CDTF">2006-08-16T00:00:00Z</dcterms:created>
  <dcterms:modified xsi:type="dcterms:W3CDTF">2026-03-16T08:06:14Z</dcterms:modified>
  <cp:version/>
</cp:coreProperties>
</file>