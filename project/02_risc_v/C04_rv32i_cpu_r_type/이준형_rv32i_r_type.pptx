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5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D625D-AD7D-1BC5-2A69-13CC1DEF6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CE4BCF-4423-C01E-43CC-927C8605C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373901-D311-1034-1B53-224A56CA3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785CFC-FE81-A3DF-84B7-8FC26C69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C575A-A5FA-1B52-D3C7-7D37BBB6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6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DD188-A1D3-E70C-22B9-09FF7132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2711EC-CCB0-1CBA-EF05-1C54DF550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0A47C8-9A28-047E-8B3D-B59E9439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91BDFF-CAD6-144F-7445-5D8FFC5D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15DF67-AC0B-421F-9B29-69F7401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771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286FA-A14C-6278-DD06-06315E10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32F12B-44CF-FDAC-4E75-8AFCF667F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9AED3-8A19-3E05-616D-23D27DF2A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6F7E7B-504B-20F4-C595-A799435D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2B0879-E7F5-F11B-FCDB-25578A4F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19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8759C-C818-1D60-AECE-4083104E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339E4-4BA9-6593-06BA-373919979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63B497-0D86-8201-00A2-C2CDEEE42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725E4-B597-2B6E-7318-6A97A84C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08D474-0CC4-8969-459C-CF4E2A5B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256E44-57EB-F06D-1A08-A5E165F9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47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5D6C1-D29B-DF40-AC79-E28180E23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3BB4AF-887C-C71F-76AB-EA81A790C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055C49-CB2C-5433-6E78-AAB574A59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0DEA60-1B44-6367-5130-AC0F66167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3C98C5-28AC-03FF-16E8-203E9D2EB0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D2BF17-4709-B93C-B786-9690FFA73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B227546-A2A7-DCBC-5FE3-5E1560FF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DCD8A5-3055-25FB-28FB-95577ADC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59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947C6-C388-427C-9E39-E27E37E6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BC1770B-8457-41AF-1FD7-F4F434E8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8818EA-8BA4-842F-DFB6-184A5C9B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860835-AC6E-0CAE-32E4-A11C7DCB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49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5E195A-CE31-BB3C-19E2-0FAF05CD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12F7B3-6A30-C2FB-5AF0-DA3317ED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5B28CF-1D5F-5314-0AB4-EEE0014C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97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2E0C1-216F-46F5-BBC4-341DDE97D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67120-965A-C061-B2FB-3006FC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902373-B50F-0F9F-E943-9E018CE89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2FBB63-1153-79F0-61D2-345EFB141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F1CA20-2C04-1E9F-313A-D220D88B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0BCC77-C806-1FFC-7E04-8A8FBEB58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39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E1F7E-ACF1-46F4-EF7D-228438D92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C6EB86-01A2-5F64-9D56-ED32CA62A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6F2039-52D5-26C5-0DB2-6C1B5D879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0B443-0A01-AC04-BC8E-6139A976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535884-9BEA-A066-AA64-09493750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CE3E69-E9C3-D110-AB7A-074E342F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78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6B324-39B5-3D43-2661-F6D163A6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D787C8-BDBA-07EF-4134-299ABD9A8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889616-7BB9-E89D-365F-5EDACF2E0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E7605-2B6C-BA97-46FF-38CA1E2CD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FAC9E4-5159-62B7-3AEB-81C09E31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83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686F7F-0796-DD3A-8B75-F58F05934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3CD355-979B-0C03-A3FD-6D319F72D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FDD13-A5E6-E74B-6369-2EE88D88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D8E4A-18C4-B829-32D1-572D837F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165E4B-0D18-E84E-449A-556E0F8B5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62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75CB89-6AA0-7C00-4A7B-3702971D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949B4-0B15-6782-62E5-3363B73D2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F0240F-5677-675A-834E-62A407E27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D3930-65C8-43FA-8080-9609EAB9FD3E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87500-6A3E-50AF-EEA7-CEFB8E89D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57973C-DDC6-E097-806A-5A47F46B5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6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9B9DB-B8BF-1D23-1CB8-0CE52228F4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Rv32i</a:t>
            </a:r>
            <a:br>
              <a:rPr lang="en-US" altLang="ko-KR" dirty="0"/>
            </a:br>
            <a:r>
              <a:rPr lang="en-US" altLang="ko-KR" dirty="0"/>
              <a:t>R-type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CF16FA-592B-D41B-A891-49ED5BBC2E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이준형</a:t>
            </a:r>
          </a:p>
        </p:txBody>
      </p:sp>
    </p:spTree>
    <p:extLst>
      <p:ext uri="{BB962C8B-B14F-4D97-AF65-F5344CB8AC3E}">
        <p14:creationId xmlns:p14="http://schemas.microsoft.com/office/powerpoint/2010/main" val="1046296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B/D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056FB4-2317-652B-4EA6-1F27227CA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822" y="524475"/>
            <a:ext cx="5866057" cy="590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22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D51D-B8FF-3D49-D691-D708F90E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7055EF-AAC2-D7E8-8743-9B7F1D962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Control unit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812FBB-2226-7B8C-FBA6-9258965EAF68}"/>
              </a:ext>
            </a:extLst>
          </p:cNvPr>
          <p:cNvSpPr txBox="1"/>
          <p:nvPr/>
        </p:nvSpPr>
        <p:spPr>
          <a:xfrm>
            <a:off x="6025487" y="5158854"/>
            <a:ext cx="58071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Alu_control</a:t>
            </a:r>
            <a:r>
              <a:rPr lang="en-US" altLang="ko-KR" dirty="0"/>
              <a:t> </a:t>
            </a:r>
            <a:r>
              <a:rPr lang="ko-KR" altLang="en-US" dirty="0"/>
              <a:t>동작 기준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Opcode == </a:t>
            </a:r>
            <a:r>
              <a:rPr lang="en-US" altLang="ko-KR" dirty="0" err="1"/>
              <a:t>R_type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Funct3</a:t>
            </a:r>
            <a:r>
              <a:rPr lang="ko-KR" altLang="en-US" dirty="0"/>
              <a:t>로 </a:t>
            </a:r>
            <a:r>
              <a:rPr lang="en-US" altLang="ko-KR" dirty="0"/>
              <a:t>alu </a:t>
            </a:r>
            <a:r>
              <a:rPr lang="ko-KR" altLang="en-US" dirty="0"/>
              <a:t>연산 동작 결정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Funct7[5]</a:t>
            </a:r>
            <a:r>
              <a:rPr lang="ko-KR" altLang="en-US" dirty="0"/>
              <a:t>로 </a:t>
            </a:r>
            <a:r>
              <a:rPr lang="en-US" altLang="ko-KR" dirty="0"/>
              <a:t>(ADD or SUB), (SRL or SRA) </a:t>
            </a:r>
            <a:r>
              <a:rPr lang="ko-KR" altLang="en-US" dirty="0"/>
              <a:t>기능 분리</a:t>
            </a:r>
            <a:r>
              <a:rPr lang="en-US" altLang="ko-KR" dirty="0"/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D63878-A459-6D64-1945-4C3CD5F03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20" y="2134911"/>
            <a:ext cx="4196204" cy="422427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044" y="365125"/>
            <a:ext cx="5430008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51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224F8-CC5B-A5ED-64F6-C129274DB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BD572-1136-562E-156D-87F3F1D9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ALU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D609E5-DF73-8704-C730-B8B106930B38}"/>
              </a:ext>
            </a:extLst>
          </p:cNvPr>
          <p:cNvSpPr txBox="1"/>
          <p:nvPr/>
        </p:nvSpPr>
        <p:spPr>
          <a:xfrm>
            <a:off x="5711588" y="5158854"/>
            <a:ext cx="6121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Alu </a:t>
            </a:r>
            <a:r>
              <a:rPr lang="ko-KR" altLang="en-US" dirty="0"/>
              <a:t>동작은 </a:t>
            </a:r>
            <a:r>
              <a:rPr lang="en-US" altLang="ko-KR" dirty="0" err="1"/>
              <a:t>alu_control</a:t>
            </a:r>
            <a:r>
              <a:rPr lang="ko-KR" altLang="en-US" dirty="0"/>
              <a:t>에 의해서 동작하게 </a:t>
            </a:r>
            <a:r>
              <a:rPr lang="ko-KR" altLang="en-US" dirty="0" err="1"/>
              <a:t>동작하게</a:t>
            </a:r>
            <a:r>
              <a:rPr lang="ko-KR" altLang="en-US" dirty="0"/>
              <a:t> 설계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29630D4-2D12-1663-1F8E-662AEF497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20" y="2134911"/>
            <a:ext cx="4196204" cy="42242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40FA029-BE9E-7E55-9D91-D7990E0C3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911" y="265745"/>
            <a:ext cx="6211167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16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B9881-A57B-9B2B-1E87-85B74BFFD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915F9B-E441-D39A-D29D-5E9EE3B97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2.PC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A8744-AD9C-5145-F9F6-C25410F810AD}"/>
              </a:ext>
            </a:extLst>
          </p:cNvPr>
          <p:cNvSpPr txBox="1"/>
          <p:nvPr/>
        </p:nvSpPr>
        <p:spPr>
          <a:xfrm>
            <a:off x="5732059" y="5167312"/>
            <a:ext cx="6121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PC</a:t>
            </a:r>
            <a:r>
              <a:rPr lang="ko-KR" altLang="en-US" dirty="0"/>
              <a:t>는 </a:t>
            </a:r>
            <a:r>
              <a:rPr lang="en-US" altLang="ko-KR" dirty="0"/>
              <a:t>D </a:t>
            </a:r>
            <a:r>
              <a:rPr lang="ko-KR" altLang="en-US" dirty="0" err="1"/>
              <a:t>플리플롭으로</a:t>
            </a:r>
            <a:r>
              <a:rPr lang="ko-KR" altLang="en-US" dirty="0"/>
              <a:t> 설계</a:t>
            </a:r>
            <a:endParaRPr lang="en-US" altLang="ko-KR" dirty="0"/>
          </a:p>
          <a:p>
            <a:r>
              <a:rPr lang="en-US" altLang="ko-KR" dirty="0"/>
              <a:t>Output data</a:t>
            </a:r>
            <a:r>
              <a:rPr lang="ko-KR" altLang="en-US" dirty="0"/>
              <a:t>가 </a:t>
            </a:r>
            <a:r>
              <a:rPr lang="en-US" altLang="ko-KR" dirty="0"/>
              <a:t>Input</a:t>
            </a:r>
            <a:r>
              <a:rPr lang="ko-KR" altLang="en-US" dirty="0"/>
              <a:t> 로직으로 </a:t>
            </a:r>
            <a:r>
              <a:rPr lang="en-US" altLang="ko-KR" dirty="0"/>
              <a:t>4</a:t>
            </a:r>
            <a:r>
              <a:rPr lang="ko-KR" altLang="en-US" dirty="0"/>
              <a:t>를 더하여</a:t>
            </a:r>
            <a:endParaRPr lang="en-US" altLang="ko-KR" dirty="0"/>
          </a:p>
          <a:p>
            <a:r>
              <a:rPr lang="en-US" altLang="ko-KR" dirty="0" err="1"/>
              <a:t>Feadback</a:t>
            </a:r>
            <a:r>
              <a:rPr lang="ko-KR" altLang="en-US" dirty="0"/>
              <a:t>되는 </a:t>
            </a:r>
            <a:r>
              <a:rPr lang="en-US" altLang="ko-KR" dirty="0"/>
              <a:t>4</a:t>
            </a:r>
            <a:r>
              <a:rPr lang="ko-KR" altLang="en-US" dirty="0"/>
              <a:t>씩 증가하는 카운터 설계 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9DD56C6-2AAA-3A54-918C-41000E125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20" y="2134911"/>
            <a:ext cx="4196204" cy="422427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E94473A-4408-9CEB-4125-EABE3FB52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233" y="1690688"/>
            <a:ext cx="3799764" cy="28671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0C3DE9-4892-B410-D690-8EB7BD5B4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233" y="276924"/>
            <a:ext cx="3799764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685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35EA5-EFAA-D538-9CB7-A0E03D262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679C4-A7B6-AB6B-CE5E-B8DA4CCDE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.Simulation </a:t>
            </a:r>
            <a:r>
              <a:rPr lang="ko-KR" altLang="en-US" dirty="0"/>
              <a:t>시나리오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1250C83-4E42-EEE4-7310-DE9CBD804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851152"/>
              </p:ext>
            </p:extLst>
          </p:nvPr>
        </p:nvGraphicFramePr>
        <p:xfrm>
          <a:off x="7684994" y="763588"/>
          <a:ext cx="4457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059">
                  <a:extLst>
                    <a:ext uri="{9D8B030D-6E8A-4147-A177-3AD203B41FA5}">
                      <a16:colId xmlns:a16="http://schemas.microsoft.com/office/drawing/2014/main" val="3100941262"/>
                    </a:ext>
                  </a:extLst>
                </a:gridCol>
                <a:gridCol w="1196788">
                  <a:extLst>
                    <a:ext uri="{9D8B030D-6E8A-4147-A177-3AD203B41FA5}">
                      <a16:colId xmlns:a16="http://schemas.microsoft.com/office/drawing/2014/main" val="2605345329"/>
                    </a:ext>
                  </a:extLst>
                </a:gridCol>
                <a:gridCol w="2386853">
                  <a:extLst>
                    <a:ext uri="{9D8B030D-6E8A-4147-A177-3AD203B41FA5}">
                      <a16:colId xmlns:a16="http://schemas.microsoft.com/office/drawing/2014/main" val="3222187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Addr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41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Zero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13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data[Rs1]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4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data[Rs2]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5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[3]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Shift </a:t>
                      </a:r>
                      <a:r>
                        <a:rPr lang="ko-KR" altLang="en-US" dirty="0"/>
                        <a:t>연산 시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07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[4]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 result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68270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FB73A41-43B0-C9FB-2F2B-56B70D978BD0}"/>
              </a:ext>
            </a:extLst>
          </p:cNvPr>
          <p:cNvSpPr txBox="1"/>
          <p:nvPr/>
        </p:nvSpPr>
        <p:spPr>
          <a:xfrm>
            <a:off x="7604311" y="425728"/>
            <a:ext cx="2245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Register_</a:t>
            </a:r>
            <a:r>
              <a:rPr lang="en-US" altLang="ko-KR" err="1"/>
              <a:t>file</a:t>
            </a:r>
            <a:r>
              <a:rPr lang="en-US" altLang="ko-KR" dirty="0"/>
              <a:t>(</a:t>
            </a:r>
            <a:r>
              <a:rPr lang="ko-KR" altLang="en-US" dirty="0"/>
              <a:t>초기화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F745DD-948C-0084-EA6E-0AF7E31C1916}"/>
              </a:ext>
            </a:extLst>
          </p:cNvPr>
          <p:cNvSpPr txBox="1"/>
          <p:nvPr/>
        </p:nvSpPr>
        <p:spPr>
          <a:xfrm>
            <a:off x="7998186" y="3181818"/>
            <a:ext cx="43165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PC </a:t>
            </a:r>
            <a:r>
              <a:rPr lang="ko-KR" altLang="en-US" dirty="0"/>
              <a:t>순서</a:t>
            </a:r>
            <a:endParaRPr lang="en-US" altLang="ko-KR" dirty="0"/>
          </a:p>
          <a:p>
            <a:r>
              <a:rPr lang="en-US" altLang="ko-KR" dirty="0"/>
              <a:t>ADD	</a:t>
            </a:r>
            <a:r>
              <a:rPr lang="en-US" altLang="ko-KR" dirty="0" err="1"/>
              <a:t>rd</a:t>
            </a:r>
            <a:r>
              <a:rPr lang="en-US" altLang="ko-KR" dirty="0"/>
              <a:t> = rs1 + rs2</a:t>
            </a:r>
          </a:p>
          <a:p>
            <a:r>
              <a:rPr lang="en-US" altLang="ko-KR" dirty="0"/>
              <a:t>SUB	</a:t>
            </a:r>
            <a:r>
              <a:rPr lang="en-US" altLang="ko-KR" dirty="0" err="1"/>
              <a:t>rd</a:t>
            </a:r>
            <a:r>
              <a:rPr lang="en-US" altLang="ko-KR" dirty="0"/>
              <a:t> = rs1 – rs2</a:t>
            </a:r>
          </a:p>
          <a:p>
            <a:r>
              <a:rPr lang="en-US" altLang="ko-KR" dirty="0"/>
              <a:t>SLL	</a:t>
            </a:r>
            <a:r>
              <a:rPr lang="en-US" altLang="ko-KR" dirty="0" err="1"/>
              <a:t>rd</a:t>
            </a:r>
            <a:r>
              <a:rPr lang="en-US" altLang="ko-KR" dirty="0"/>
              <a:t> = rs1 &lt;&lt; rs2</a:t>
            </a:r>
          </a:p>
          <a:p>
            <a:r>
              <a:rPr lang="en-US" altLang="ko-KR" dirty="0"/>
              <a:t>SLT	</a:t>
            </a:r>
            <a:r>
              <a:rPr lang="en-US" altLang="ko-KR" dirty="0" err="1"/>
              <a:t>rd</a:t>
            </a:r>
            <a:r>
              <a:rPr lang="en-US" altLang="ko-KR" dirty="0"/>
              <a:t> = (rs1 &lt; rs2) signed</a:t>
            </a:r>
          </a:p>
          <a:p>
            <a:r>
              <a:rPr lang="en-US" altLang="ko-KR" dirty="0"/>
              <a:t>SLTU	</a:t>
            </a:r>
            <a:r>
              <a:rPr lang="en-US" altLang="ko-KR" dirty="0" err="1"/>
              <a:t>rd</a:t>
            </a:r>
            <a:r>
              <a:rPr lang="en-US" altLang="ko-KR" dirty="0"/>
              <a:t> = (rs1 &lt; rs2) unsigned</a:t>
            </a:r>
          </a:p>
          <a:p>
            <a:r>
              <a:rPr lang="en-US" altLang="ko-KR" dirty="0"/>
              <a:t>XOR	</a:t>
            </a:r>
            <a:r>
              <a:rPr lang="en-US" altLang="ko-KR" dirty="0" err="1"/>
              <a:t>rd</a:t>
            </a:r>
            <a:r>
              <a:rPr lang="en-US" altLang="ko-KR" dirty="0"/>
              <a:t> = rs1 ^ rs2</a:t>
            </a:r>
          </a:p>
          <a:p>
            <a:r>
              <a:rPr lang="en-US" altLang="ko-KR" dirty="0"/>
              <a:t>SRL	</a:t>
            </a:r>
            <a:r>
              <a:rPr lang="en-US" altLang="ko-KR" dirty="0" err="1"/>
              <a:t>rd</a:t>
            </a:r>
            <a:r>
              <a:rPr lang="en-US" altLang="ko-KR" dirty="0"/>
              <a:t> = rs1 &gt;&gt; rs2</a:t>
            </a:r>
          </a:p>
          <a:p>
            <a:r>
              <a:rPr lang="en-US" altLang="ko-KR" dirty="0"/>
              <a:t>SRA	</a:t>
            </a:r>
            <a:r>
              <a:rPr lang="en-US" altLang="ko-KR" dirty="0" err="1"/>
              <a:t>rd</a:t>
            </a:r>
            <a:r>
              <a:rPr lang="en-US" altLang="ko-KR" dirty="0"/>
              <a:t> = rs1 &gt;&gt;&gt; rs2</a:t>
            </a:r>
          </a:p>
          <a:p>
            <a:r>
              <a:rPr lang="en-US" altLang="ko-KR" dirty="0"/>
              <a:t>OR	</a:t>
            </a:r>
            <a:r>
              <a:rPr lang="en-US" altLang="ko-KR" dirty="0" err="1"/>
              <a:t>rd</a:t>
            </a:r>
            <a:r>
              <a:rPr lang="en-US" altLang="ko-KR" dirty="0"/>
              <a:t> = rs1 | rs2</a:t>
            </a:r>
          </a:p>
          <a:p>
            <a:r>
              <a:rPr lang="en-US" altLang="ko-KR" dirty="0"/>
              <a:t>AND	</a:t>
            </a:r>
            <a:r>
              <a:rPr lang="en-US" altLang="ko-KR" dirty="0" err="1"/>
              <a:t>rd</a:t>
            </a:r>
            <a:r>
              <a:rPr lang="en-US" altLang="ko-KR" dirty="0"/>
              <a:t> = rd1 &amp; rd2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42" y="1522690"/>
            <a:ext cx="3671596" cy="49189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F745DD-948C-0084-EA6E-0AF7E31C1916}"/>
              </a:ext>
            </a:extLst>
          </p:cNvPr>
          <p:cNvSpPr txBox="1"/>
          <p:nvPr/>
        </p:nvSpPr>
        <p:spPr>
          <a:xfrm>
            <a:off x="838200" y="6441667"/>
            <a:ext cx="538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clk</a:t>
            </a:r>
            <a:r>
              <a:rPr lang="en-US" altLang="ko-KR" dirty="0" smtClean="0"/>
              <a:t> </a:t>
            </a:r>
            <a:r>
              <a:rPr lang="ko-KR" altLang="en-US" dirty="0" smtClean="0"/>
              <a:t>마다 </a:t>
            </a:r>
            <a:r>
              <a:rPr lang="en-US" altLang="ko-KR" dirty="0" smtClean="0"/>
              <a:t>PC </a:t>
            </a:r>
            <a:r>
              <a:rPr lang="ko-KR" altLang="en-US" dirty="0" smtClean="0"/>
              <a:t>순서 대로 </a:t>
            </a:r>
            <a:r>
              <a:rPr lang="en-US" altLang="ko-KR" dirty="0" smtClean="0"/>
              <a:t>R-type </a:t>
            </a:r>
            <a:r>
              <a:rPr lang="ko-KR" altLang="en-US" dirty="0" smtClean="0"/>
              <a:t>순서대로 실행 확인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610" y="1522690"/>
            <a:ext cx="3498412" cy="74305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610" y="2360659"/>
            <a:ext cx="2248214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349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8F0D7-02D2-EA87-7575-D994270CE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A618B9-18EE-FD62-9D86-EE2FA7121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.Simulation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E3B2E-3400-F123-EE43-75C633111803}"/>
              </a:ext>
            </a:extLst>
          </p:cNvPr>
          <p:cNvSpPr txBox="1"/>
          <p:nvPr/>
        </p:nvSpPr>
        <p:spPr>
          <a:xfrm>
            <a:off x="5368738" y="3547105"/>
            <a:ext cx="72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-100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D17C4F0-3421-9A3E-C00D-30544E693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5713"/>
            <a:ext cx="12192000" cy="37391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2A0DA5F-E074-C0FD-99B7-DC4E7BC2B0AE}"/>
              </a:ext>
            </a:extLst>
          </p:cNvPr>
          <p:cNvSpPr txBox="1"/>
          <p:nvPr/>
        </p:nvSpPr>
        <p:spPr>
          <a:xfrm>
            <a:off x="2169459" y="5561027"/>
            <a:ext cx="7853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시나리오 순서대로 </a:t>
            </a:r>
            <a:r>
              <a:rPr lang="en-US" altLang="ko-KR" dirty="0"/>
              <a:t>PC</a:t>
            </a:r>
            <a:r>
              <a:rPr lang="ko-KR" altLang="en-US" dirty="0"/>
              <a:t>의 </a:t>
            </a:r>
            <a:r>
              <a:rPr lang="en-US" altLang="ko-KR" dirty="0" err="1"/>
              <a:t>instraction</a:t>
            </a:r>
            <a:r>
              <a:rPr lang="ko-KR" altLang="en-US" dirty="0"/>
              <a:t>을 읽고 정상적인 출력하는 것을 확인 </a:t>
            </a:r>
          </a:p>
        </p:txBody>
      </p:sp>
    </p:spTree>
    <p:extLst>
      <p:ext uri="{BB962C8B-B14F-4D97-AF65-F5344CB8AC3E}">
        <p14:creationId xmlns:p14="http://schemas.microsoft.com/office/powerpoint/2010/main" val="85571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A4AA5-B096-2353-2201-297E05D9A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9D387E-2652-241F-8C3D-3990EFFCB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.Simulation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BA4B139-4A0A-BC8D-6B96-922D33D16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522501"/>
              </p:ext>
            </p:extLst>
          </p:nvPr>
        </p:nvGraphicFramePr>
        <p:xfrm>
          <a:off x="7734300" y="0"/>
          <a:ext cx="4457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059">
                  <a:extLst>
                    <a:ext uri="{9D8B030D-6E8A-4147-A177-3AD203B41FA5}">
                      <a16:colId xmlns:a16="http://schemas.microsoft.com/office/drawing/2014/main" val="3100941262"/>
                    </a:ext>
                  </a:extLst>
                </a:gridCol>
                <a:gridCol w="1196788">
                  <a:extLst>
                    <a:ext uri="{9D8B030D-6E8A-4147-A177-3AD203B41FA5}">
                      <a16:colId xmlns:a16="http://schemas.microsoft.com/office/drawing/2014/main" val="2605345329"/>
                    </a:ext>
                  </a:extLst>
                </a:gridCol>
                <a:gridCol w="2386853">
                  <a:extLst>
                    <a:ext uri="{9D8B030D-6E8A-4147-A177-3AD203B41FA5}">
                      <a16:colId xmlns:a16="http://schemas.microsoft.com/office/drawing/2014/main" val="3222187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Addr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41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Zero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13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data[Rs1]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4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data[Rs2]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5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[3]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Shift </a:t>
                      </a:r>
                      <a:r>
                        <a:rPr lang="ko-KR" altLang="en-US" dirty="0"/>
                        <a:t>연산 시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07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[4]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 result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682705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0A0C9FF7-1CD8-B2C4-2603-E884D8CCB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496750"/>
            <a:ext cx="6896100" cy="4839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02540A-957B-2AC2-BA52-AD3175678386}"/>
              </a:ext>
            </a:extLst>
          </p:cNvPr>
          <p:cNvSpPr txBox="1"/>
          <p:nvPr/>
        </p:nvSpPr>
        <p:spPr>
          <a:xfrm>
            <a:off x="7987553" y="4061012"/>
            <a:ext cx="32878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ADD : 100 </a:t>
            </a:r>
            <a:r>
              <a:rPr lang="en-US" altLang="ko-KR" dirty="0">
                <a:sym typeface="Wingdings" panose="05000000000000000000" pitchFamily="2" charset="2"/>
              </a:rPr>
              <a:t>= -100 + 200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2. SUB  : -300 = -100 – 200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3. SLL   : -400 = -100 &lt;&lt; 2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3912B-71F0-EE31-92F4-3F51FABE0AF8}"/>
              </a:ext>
            </a:extLst>
          </p:cNvPr>
          <p:cNvSpPr txBox="1"/>
          <p:nvPr/>
        </p:nvSpPr>
        <p:spPr>
          <a:xfrm>
            <a:off x="5368738" y="3547105"/>
            <a:ext cx="72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-100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42268E-A922-C208-EBEF-D97FB3878625}"/>
              </a:ext>
            </a:extLst>
          </p:cNvPr>
          <p:cNvSpPr/>
          <p:nvPr/>
        </p:nvSpPr>
        <p:spPr>
          <a:xfrm>
            <a:off x="3307975" y="3547105"/>
            <a:ext cx="3751729" cy="1213154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669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6BC2-61B9-B848-B3CA-F5A5B5FC3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316860-2997-C416-039E-A5BBBF0FE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.Simulation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62868FE-EEA5-953C-1CAD-B7BA7109D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235480"/>
              </p:ext>
            </p:extLst>
          </p:nvPr>
        </p:nvGraphicFramePr>
        <p:xfrm>
          <a:off x="7734300" y="0"/>
          <a:ext cx="4457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059">
                  <a:extLst>
                    <a:ext uri="{9D8B030D-6E8A-4147-A177-3AD203B41FA5}">
                      <a16:colId xmlns:a16="http://schemas.microsoft.com/office/drawing/2014/main" val="3100941262"/>
                    </a:ext>
                  </a:extLst>
                </a:gridCol>
                <a:gridCol w="1196788">
                  <a:extLst>
                    <a:ext uri="{9D8B030D-6E8A-4147-A177-3AD203B41FA5}">
                      <a16:colId xmlns:a16="http://schemas.microsoft.com/office/drawing/2014/main" val="2605345329"/>
                    </a:ext>
                  </a:extLst>
                </a:gridCol>
                <a:gridCol w="2386853">
                  <a:extLst>
                    <a:ext uri="{9D8B030D-6E8A-4147-A177-3AD203B41FA5}">
                      <a16:colId xmlns:a16="http://schemas.microsoft.com/office/drawing/2014/main" val="3222187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Addr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41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Zero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13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data[Rs1]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4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data[Rs2]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5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[3]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Shift </a:t>
                      </a:r>
                      <a:r>
                        <a:rPr lang="ko-KR" altLang="en-US" dirty="0"/>
                        <a:t>연산 시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07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[4]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 result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682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A195B14-97E9-5C5D-1208-7F8F66459B4A}"/>
              </a:ext>
            </a:extLst>
          </p:cNvPr>
          <p:cNvSpPr txBox="1"/>
          <p:nvPr/>
        </p:nvSpPr>
        <p:spPr>
          <a:xfrm>
            <a:off x="1882589" y="5224183"/>
            <a:ext cx="32878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ADD : 100 </a:t>
            </a:r>
            <a:r>
              <a:rPr lang="en-US" altLang="ko-KR" dirty="0">
                <a:sym typeface="Wingdings" panose="05000000000000000000" pitchFamily="2" charset="2"/>
              </a:rPr>
              <a:t>= -100 + 200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2. SUB  : -300 = -100 – 200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3. SLL   : -400 = -100 &lt;&lt; 2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845CC2B-63CE-6690-A551-3B406D5E0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9445"/>
            <a:ext cx="12192000" cy="24944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A2817AF-5BEB-2DC2-CEE9-A6B997BA0B91}"/>
              </a:ext>
            </a:extLst>
          </p:cNvPr>
          <p:cNvSpPr txBox="1"/>
          <p:nvPr/>
        </p:nvSpPr>
        <p:spPr>
          <a:xfrm>
            <a:off x="5466230" y="5304866"/>
            <a:ext cx="32878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SLT    : 1 </a:t>
            </a:r>
            <a:r>
              <a:rPr lang="en-US" altLang="ko-KR" dirty="0">
                <a:sym typeface="Wingdings" panose="05000000000000000000" pitchFamily="2" charset="2"/>
              </a:rPr>
              <a:t>= (-100 &lt; 200)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5. SLTU  : 0 = (ffff_fff9c &lt; c8)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6. XOR   : -172 = -100 ^ 200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F268B0-E4CF-78C1-F830-925B092949FB}"/>
              </a:ext>
            </a:extLst>
          </p:cNvPr>
          <p:cNvSpPr txBox="1"/>
          <p:nvPr/>
        </p:nvSpPr>
        <p:spPr>
          <a:xfrm>
            <a:off x="838200" y="1500293"/>
            <a:ext cx="3980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Data </a:t>
            </a:r>
            <a:r>
              <a:rPr lang="ko-KR" altLang="en-US" dirty="0"/>
              <a:t>표기는 </a:t>
            </a:r>
            <a:r>
              <a:rPr lang="en-US" altLang="ko-KR" dirty="0"/>
              <a:t>10</a:t>
            </a:r>
            <a:r>
              <a:rPr lang="ko-KR" altLang="en-US" dirty="0"/>
              <a:t>진수 기준으로 표기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1ACD597-3EF5-7E93-FFDC-8DD1AA887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9871" y="4880582"/>
            <a:ext cx="3029373" cy="1771897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D71F3F-81EF-0B50-A2E1-55574C47BFDE}"/>
              </a:ext>
            </a:extLst>
          </p:cNvPr>
          <p:cNvSpPr/>
          <p:nvPr/>
        </p:nvSpPr>
        <p:spPr>
          <a:xfrm>
            <a:off x="2828364" y="2706663"/>
            <a:ext cx="5629836" cy="196618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287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49272-282A-5A60-4752-58F7F432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96D5E1F-0579-6E62-147B-6F64FCD9C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0152"/>
            <a:ext cx="12192000" cy="247053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E5D9F7F-CAB8-7E7D-4AB6-7FAE65495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.Simulation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077B9D5-8AC7-B81F-2ABE-E56AD2E22744}"/>
              </a:ext>
            </a:extLst>
          </p:cNvPr>
          <p:cNvGraphicFramePr>
            <a:graphicFrameLocks noGrp="1"/>
          </p:cNvGraphicFramePr>
          <p:nvPr/>
        </p:nvGraphicFramePr>
        <p:xfrm>
          <a:off x="7734300" y="0"/>
          <a:ext cx="4457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059">
                  <a:extLst>
                    <a:ext uri="{9D8B030D-6E8A-4147-A177-3AD203B41FA5}">
                      <a16:colId xmlns:a16="http://schemas.microsoft.com/office/drawing/2014/main" val="3100941262"/>
                    </a:ext>
                  </a:extLst>
                </a:gridCol>
                <a:gridCol w="1196788">
                  <a:extLst>
                    <a:ext uri="{9D8B030D-6E8A-4147-A177-3AD203B41FA5}">
                      <a16:colId xmlns:a16="http://schemas.microsoft.com/office/drawing/2014/main" val="2605345329"/>
                    </a:ext>
                  </a:extLst>
                </a:gridCol>
                <a:gridCol w="2386853">
                  <a:extLst>
                    <a:ext uri="{9D8B030D-6E8A-4147-A177-3AD203B41FA5}">
                      <a16:colId xmlns:a16="http://schemas.microsoft.com/office/drawing/2014/main" val="3222187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Addr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41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Zero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13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data[Rs1]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4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data[Rs2]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5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[3]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Shift </a:t>
                      </a:r>
                      <a:r>
                        <a:rPr lang="ko-KR" altLang="en-US" dirty="0"/>
                        <a:t>연산 시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07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[4]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 result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682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9E64BB7-42E2-4134-31EE-2AB633B2D8F5}"/>
              </a:ext>
            </a:extLst>
          </p:cNvPr>
          <p:cNvSpPr txBox="1"/>
          <p:nvPr/>
        </p:nvSpPr>
        <p:spPr>
          <a:xfrm>
            <a:off x="1384834" y="4887646"/>
            <a:ext cx="4034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7. SRL	: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497DBB-38D1-B9C8-1528-A1F270CDE133}"/>
              </a:ext>
            </a:extLst>
          </p:cNvPr>
          <p:cNvSpPr txBox="1"/>
          <p:nvPr/>
        </p:nvSpPr>
        <p:spPr>
          <a:xfrm>
            <a:off x="838200" y="1500293"/>
            <a:ext cx="3980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Data </a:t>
            </a:r>
            <a:r>
              <a:rPr lang="ko-KR" altLang="en-US" dirty="0"/>
              <a:t>표기는 </a:t>
            </a:r>
            <a:r>
              <a:rPr lang="en-US" altLang="ko-KR" dirty="0"/>
              <a:t>10</a:t>
            </a:r>
            <a:r>
              <a:rPr lang="ko-KR" altLang="en-US" dirty="0"/>
              <a:t>진수 기준으로 표기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BA7381-C215-5563-CBA9-C95B4920F3B3}"/>
              </a:ext>
            </a:extLst>
          </p:cNvPr>
          <p:cNvSpPr/>
          <p:nvPr/>
        </p:nvSpPr>
        <p:spPr>
          <a:xfrm>
            <a:off x="4128245" y="2601781"/>
            <a:ext cx="7449671" cy="196618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617D627-400A-54E2-3F5A-E92DCC542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940" y="4929599"/>
            <a:ext cx="3048425" cy="176237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A01BD78-D0BF-4157-9BBA-6F1D6A75873A}"/>
              </a:ext>
            </a:extLst>
          </p:cNvPr>
          <p:cNvSpPr txBox="1"/>
          <p:nvPr/>
        </p:nvSpPr>
        <p:spPr>
          <a:xfrm>
            <a:off x="6665471" y="4887646"/>
            <a:ext cx="4034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8. SRA	: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02549AE-3EB3-86C4-B607-D7B28DAD2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324" y="4930636"/>
            <a:ext cx="3019846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76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BCC06-EDAA-DAFC-E4A7-9DA0D65E0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3264252-886E-A007-C14C-2A871F9AD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8476"/>
            <a:ext cx="12192000" cy="203939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51F4C46-FDF5-1DD8-16D9-4CB65940A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.Simulation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B9D2005-C6BD-7036-80E9-0491DC35727F}"/>
              </a:ext>
            </a:extLst>
          </p:cNvPr>
          <p:cNvGraphicFramePr>
            <a:graphicFrameLocks noGrp="1"/>
          </p:cNvGraphicFramePr>
          <p:nvPr/>
        </p:nvGraphicFramePr>
        <p:xfrm>
          <a:off x="7734300" y="0"/>
          <a:ext cx="4457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059">
                  <a:extLst>
                    <a:ext uri="{9D8B030D-6E8A-4147-A177-3AD203B41FA5}">
                      <a16:colId xmlns:a16="http://schemas.microsoft.com/office/drawing/2014/main" val="3100941262"/>
                    </a:ext>
                  </a:extLst>
                </a:gridCol>
                <a:gridCol w="1196788">
                  <a:extLst>
                    <a:ext uri="{9D8B030D-6E8A-4147-A177-3AD203B41FA5}">
                      <a16:colId xmlns:a16="http://schemas.microsoft.com/office/drawing/2014/main" val="2605345329"/>
                    </a:ext>
                  </a:extLst>
                </a:gridCol>
                <a:gridCol w="2386853">
                  <a:extLst>
                    <a:ext uri="{9D8B030D-6E8A-4147-A177-3AD203B41FA5}">
                      <a16:colId xmlns:a16="http://schemas.microsoft.com/office/drawing/2014/main" val="3222187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Addr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41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Zero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13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data[Rs1]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4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data[Rs2]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5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[3]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Shift </a:t>
                      </a:r>
                      <a:r>
                        <a:rPr lang="ko-KR" altLang="en-US" dirty="0"/>
                        <a:t>연산 시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07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[4]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 result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682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15EAE68-9BC2-997D-05A4-0BAFDDA35B1B}"/>
              </a:ext>
            </a:extLst>
          </p:cNvPr>
          <p:cNvSpPr txBox="1"/>
          <p:nvPr/>
        </p:nvSpPr>
        <p:spPr>
          <a:xfrm>
            <a:off x="1384834" y="4887646"/>
            <a:ext cx="4034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9. OR	: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71EBBE-F8BD-3485-5B80-F8334E7A1209}"/>
              </a:ext>
            </a:extLst>
          </p:cNvPr>
          <p:cNvSpPr txBox="1"/>
          <p:nvPr/>
        </p:nvSpPr>
        <p:spPr>
          <a:xfrm>
            <a:off x="838200" y="1500293"/>
            <a:ext cx="3980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Data </a:t>
            </a:r>
            <a:r>
              <a:rPr lang="ko-KR" altLang="en-US" dirty="0"/>
              <a:t>표기는 </a:t>
            </a:r>
            <a:r>
              <a:rPr lang="en-US" altLang="ko-KR" dirty="0"/>
              <a:t>10</a:t>
            </a:r>
            <a:r>
              <a:rPr lang="ko-KR" altLang="en-US" dirty="0"/>
              <a:t>진수 기준으로 표기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1D7D07-5F6F-E368-05F6-8B9492DE5891}"/>
              </a:ext>
            </a:extLst>
          </p:cNvPr>
          <p:cNvSpPr/>
          <p:nvPr/>
        </p:nvSpPr>
        <p:spPr>
          <a:xfrm>
            <a:off x="4025152" y="2438476"/>
            <a:ext cx="7449671" cy="196618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C429B3-92AA-CC1C-EE62-A843B581D1BC}"/>
              </a:ext>
            </a:extLst>
          </p:cNvPr>
          <p:cNvSpPr txBox="1"/>
          <p:nvPr/>
        </p:nvSpPr>
        <p:spPr>
          <a:xfrm>
            <a:off x="6665471" y="4887646"/>
            <a:ext cx="4034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10. AND	: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62F5420-4AEA-7C5E-9472-26908B73B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898" y="4887646"/>
            <a:ext cx="2972215" cy="174331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11B4CCF-6249-4873-A3D2-24BA3E2E0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1636" y="4887646"/>
            <a:ext cx="2905530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69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5A39-ABAE-A1D2-1FB5-8F373C0D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D1251-C1BE-12A8-A905-A8A4CE267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.Simulation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6824F3C-491B-6121-95C1-9089C0402316}"/>
              </a:ext>
            </a:extLst>
          </p:cNvPr>
          <p:cNvGraphicFramePr>
            <a:graphicFrameLocks noGrp="1"/>
          </p:cNvGraphicFramePr>
          <p:nvPr/>
        </p:nvGraphicFramePr>
        <p:xfrm>
          <a:off x="7734300" y="0"/>
          <a:ext cx="4457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059">
                  <a:extLst>
                    <a:ext uri="{9D8B030D-6E8A-4147-A177-3AD203B41FA5}">
                      <a16:colId xmlns:a16="http://schemas.microsoft.com/office/drawing/2014/main" val="3100941262"/>
                    </a:ext>
                  </a:extLst>
                </a:gridCol>
                <a:gridCol w="1196788">
                  <a:extLst>
                    <a:ext uri="{9D8B030D-6E8A-4147-A177-3AD203B41FA5}">
                      <a16:colId xmlns:a16="http://schemas.microsoft.com/office/drawing/2014/main" val="2605345329"/>
                    </a:ext>
                  </a:extLst>
                </a:gridCol>
                <a:gridCol w="2386853">
                  <a:extLst>
                    <a:ext uri="{9D8B030D-6E8A-4147-A177-3AD203B41FA5}">
                      <a16:colId xmlns:a16="http://schemas.microsoft.com/office/drawing/2014/main" val="3222187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Addr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41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Zero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13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data[Rs1]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4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data[Rs2]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5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[3]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Shift </a:t>
                      </a:r>
                      <a:r>
                        <a:rPr lang="ko-KR" altLang="en-US" dirty="0"/>
                        <a:t>연산 시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07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[4]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 result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682705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823F7092-25B4-D523-4144-0627142D4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5040"/>
            <a:ext cx="12192000" cy="367149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BF44CD3-7298-CF04-0792-AAC15EC44ACB}"/>
              </a:ext>
            </a:extLst>
          </p:cNvPr>
          <p:cNvSpPr/>
          <p:nvPr/>
        </p:nvSpPr>
        <p:spPr>
          <a:xfrm>
            <a:off x="2922493" y="3590365"/>
            <a:ext cx="8527678" cy="396463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DE3627-AEB2-CCBE-9D29-5A1CBD72ED24}"/>
              </a:ext>
            </a:extLst>
          </p:cNvPr>
          <p:cNvSpPr/>
          <p:nvPr/>
        </p:nvSpPr>
        <p:spPr>
          <a:xfrm>
            <a:off x="4666128" y="5500072"/>
            <a:ext cx="7525871" cy="396463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C301525-7DB4-2100-A3D5-A73E2AD0F869}"/>
              </a:ext>
            </a:extLst>
          </p:cNvPr>
          <p:cNvCxnSpPr>
            <a:cxnSpLocks/>
          </p:cNvCxnSpPr>
          <p:nvPr/>
        </p:nvCxnSpPr>
        <p:spPr>
          <a:xfrm>
            <a:off x="4450977" y="4060787"/>
            <a:ext cx="934570" cy="134493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7C975A6-B28C-8331-FAB2-6ECA8B61C6D4}"/>
              </a:ext>
            </a:extLst>
          </p:cNvPr>
          <p:cNvSpPr txBox="1"/>
          <p:nvPr/>
        </p:nvSpPr>
        <p:spPr>
          <a:xfrm>
            <a:off x="1236916" y="5990889"/>
            <a:ext cx="609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ALU </a:t>
            </a:r>
            <a:r>
              <a:rPr lang="ko-KR" altLang="en-US" dirty="0">
                <a:sym typeface="Wingdings" panose="05000000000000000000" pitchFamily="2" charset="2"/>
              </a:rPr>
              <a:t>연산 후 다음 </a:t>
            </a:r>
            <a:r>
              <a:rPr lang="en-US" altLang="ko-KR" dirty="0" err="1">
                <a:sym typeface="Wingdings" panose="05000000000000000000" pitchFamily="2" charset="2"/>
              </a:rPr>
              <a:t>clk</a:t>
            </a:r>
            <a:r>
              <a:rPr lang="ko-KR" altLang="en-US" dirty="0">
                <a:sym typeface="Wingdings" panose="05000000000000000000" pitchFamily="2" charset="2"/>
              </a:rPr>
              <a:t>에 </a:t>
            </a:r>
            <a:r>
              <a:rPr lang="en-US" altLang="ko-KR" dirty="0" err="1">
                <a:sym typeface="Wingdings" panose="05000000000000000000" pitchFamily="2" charset="2"/>
              </a:rPr>
              <a:t>reg_file</a:t>
            </a:r>
            <a:r>
              <a:rPr lang="en-US" altLang="ko-KR" dirty="0">
                <a:sym typeface="Wingdings" panose="05000000000000000000" pitchFamily="2" charset="2"/>
              </a:rPr>
              <a:t>[4]</a:t>
            </a:r>
            <a:r>
              <a:rPr lang="ko-KR" altLang="en-US" dirty="0">
                <a:sym typeface="Wingdings" panose="05000000000000000000" pitchFamily="2" charset="2"/>
              </a:rPr>
              <a:t>에 </a:t>
            </a:r>
            <a:r>
              <a:rPr lang="en-US" altLang="ko-KR" dirty="0">
                <a:sym typeface="Wingdings" panose="05000000000000000000" pitchFamily="2" charset="2"/>
              </a:rPr>
              <a:t>write </a:t>
            </a:r>
            <a:r>
              <a:rPr lang="ko-KR" altLang="en-US" dirty="0">
                <a:sym typeface="Wingdings" panose="05000000000000000000" pitchFamily="2" charset="2"/>
              </a:rPr>
              <a:t>되는 것을 확인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84858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481</Words>
  <Application>Microsoft Office PowerPoint</Application>
  <PresentationFormat>와이드스크린</PresentationFormat>
  <Paragraphs>162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Wingdings</vt:lpstr>
      <vt:lpstr>Office 테마</vt:lpstr>
      <vt:lpstr>Rv32i R-type</vt:lpstr>
      <vt:lpstr>1. B/D</vt:lpstr>
      <vt:lpstr>2. Control unit</vt:lpstr>
      <vt:lpstr>2. ALU</vt:lpstr>
      <vt:lpstr>2.PC</vt:lpstr>
      <vt:lpstr>3.Simulation 시나리오</vt:lpstr>
      <vt:lpstr>3.Simulation</vt:lpstr>
      <vt:lpstr>3.Simulation</vt:lpstr>
      <vt:lpstr>3.Simulation</vt:lpstr>
      <vt:lpstr>3.Simulation</vt:lpstr>
      <vt:lpstr>3.Simulation</vt:lpstr>
      <vt:lpstr>3.Simulation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 Factorial</dc:title>
  <dc:creator>준형 이</dc:creator>
  <cp:lastModifiedBy>kccistc</cp:lastModifiedBy>
  <cp:revision>23</cp:revision>
  <dcterms:created xsi:type="dcterms:W3CDTF">2026-03-05T13:56:16Z</dcterms:created>
  <dcterms:modified xsi:type="dcterms:W3CDTF">2026-03-09T07:48:47Z</dcterms:modified>
</cp:coreProperties>
</file>