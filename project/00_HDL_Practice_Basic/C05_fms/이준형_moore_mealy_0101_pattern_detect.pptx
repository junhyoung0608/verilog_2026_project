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5" r:id="rId4"/>
    <p:sldId id="257" r:id="rId5"/>
    <p:sldId id="269" r:id="rId6"/>
    <p:sldId id="266" r:id="rId7"/>
    <p:sldId id="267" r:id="rId8"/>
    <p:sldId id="268" r:id="rId9"/>
    <p:sldId id="270" r:id="rId10"/>
    <p:sldId id="271" r:id="rId11"/>
    <p:sldId id="272" r:id="rId12"/>
    <p:sldId id="273" r:id="rId13"/>
    <p:sldId id="274" r:id="rId14"/>
    <p:sldId id="258" r:id="rId15"/>
    <p:sldId id="275" r:id="rId16"/>
    <p:sldId id="276" r:id="rId17"/>
    <p:sldId id="277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7443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3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2119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86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9335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0883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304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7574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5960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1644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878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485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M</a:t>
            </a:r>
            <a:r>
              <a:rPr lang="en-US" altLang="ko-KR" dirty="0" smtClean="0"/>
              <a:t>oore &amp; Mealy</a:t>
            </a:r>
            <a:br>
              <a:rPr lang="en-US" altLang="ko-KR" dirty="0" smtClean="0"/>
            </a:br>
            <a:r>
              <a:rPr lang="en-US" altLang="ko-KR" dirty="0" smtClean="0"/>
              <a:t>0101 Pattern </a:t>
            </a:r>
            <a:r>
              <a:rPr lang="en-US" altLang="ko-KR" dirty="0"/>
              <a:t>D</a:t>
            </a:r>
            <a:r>
              <a:rPr lang="en-US" altLang="ko-KR" dirty="0" smtClean="0"/>
              <a:t>etect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altLang="ko-KR" dirty="0" smtClean="0"/>
              <a:t>AI </a:t>
            </a:r>
            <a:r>
              <a:rPr lang="ko-KR" altLang="en-US" dirty="0" err="1" smtClean="0"/>
              <a:t>온디바이스</a:t>
            </a:r>
            <a:r>
              <a:rPr lang="ko-KR" altLang="en-US" dirty="0" smtClean="0"/>
              <a:t> 이준형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30381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module </a:t>
            </a:r>
            <a:r>
              <a:rPr lang="ko-KR" altLang="en-US" dirty="0" smtClean="0"/>
              <a:t>설계 목표</a:t>
            </a:r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7356763" y="2939144"/>
            <a:ext cx="3776354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설계 목표</a:t>
            </a:r>
            <a:r>
              <a:rPr lang="en-US" altLang="ko-KR" dirty="0" smtClean="0"/>
              <a:t>:</a:t>
            </a:r>
          </a:p>
          <a:p>
            <a:r>
              <a:rPr lang="ko-KR" altLang="en-US" dirty="0" smtClean="0"/>
              <a:t>입력 데이터 </a:t>
            </a:r>
            <a:r>
              <a:rPr lang="ko-KR" altLang="en-US" dirty="0" smtClean="0"/>
              <a:t>신호가 </a:t>
            </a:r>
            <a:r>
              <a:rPr lang="en-US" altLang="ko-KR" dirty="0" smtClean="0"/>
              <a:t>0-&gt;1-&gt;0-&gt;1</a:t>
            </a:r>
            <a:r>
              <a:rPr lang="ko-KR" altLang="en-US" dirty="0"/>
              <a:t> </a:t>
            </a:r>
            <a:r>
              <a:rPr lang="ko-KR" altLang="en-US" dirty="0" smtClean="0"/>
              <a:t>패턴으로 입력 시 출력 </a:t>
            </a:r>
            <a:r>
              <a:rPr lang="en-US" altLang="ko-KR" dirty="0" smtClean="0"/>
              <a:t>1</a:t>
            </a:r>
            <a:r>
              <a:rPr lang="ko-KR" altLang="en-US" dirty="0" smtClean="0"/>
              <a:t>을 보내는 </a:t>
            </a:r>
            <a:endParaRPr lang="en-US" altLang="ko-KR" dirty="0" smtClean="0"/>
          </a:p>
          <a:p>
            <a:r>
              <a:rPr lang="en-US" altLang="ko-KR" dirty="0" smtClean="0"/>
              <a:t>moore &amp; mealy </a:t>
            </a:r>
            <a:r>
              <a:rPr lang="ko-KR" altLang="en-US" dirty="0" smtClean="0"/>
              <a:t>모듈 설계 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06" y="2227312"/>
            <a:ext cx="6296904" cy="2534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546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module </a:t>
            </a:r>
            <a:r>
              <a:rPr lang="ko-KR" altLang="en-US" dirty="0" smtClean="0"/>
              <a:t>설계 목표</a:t>
            </a:r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7356763" y="2939144"/>
            <a:ext cx="3776354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설계 목표</a:t>
            </a:r>
            <a:r>
              <a:rPr lang="en-US" altLang="ko-KR" dirty="0" smtClean="0"/>
              <a:t>:</a:t>
            </a:r>
          </a:p>
          <a:p>
            <a:r>
              <a:rPr lang="ko-KR" altLang="en-US" dirty="0" smtClean="0"/>
              <a:t>입력 데이터 </a:t>
            </a:r>
            <a:r>
              <a:rPr lang="ko-KR" altLang="en-US" dirty="0" smtClean="0"/>
              <a:t>신호가 </a:t>
            </a:r>
            <a:r>
              <a:rPr lang="en-US" altLang="ko-KR" dirty="0" smtClean="0"/>
              <a:t>0-&gt;1-&gt;0-&gt;1</a:t>
            </a:r>
            <a:r>
              <a:rPr lang="ko-KR" altLang="en-US" dirty="0"/>
              <a:t> </a:t>
            </a:r>
            <a:r>
              <a:rPr lang="ko-KR" altLang="en-US" dirty="0" smtClean="0"/>
              <a:t>패턴으로 입력 시 출력 </a:t>
            </a:r>
            <a:r>
              <a:rPr lang="en-US" altLang="ko-KR" dirty="0" smtClean="0"/>
              <a:t>1</a:t>
            </a:r>
            <a:r>
              <a:rPr lang="ko-KR" altLang="en-US" dirty="0" smtClean="0"/>
              <a:t>을 보내는 </a:t>
            </a:r>
            <a:endParaRPr lang="en-US" altLang="ko-KR" dirty="0" smtClean="0"/>
          </a:p>
          <a:p>
            <a:r>
              <a:rPr lang="en-US" altLang="ko-KR" dirty="0" smtClean="0"/>
              <a:t>moore &amp; mealy </a:t>
            </a:r>
            <a:r>
              <a:rPr lang="ko-KR" altLang="en-US" dirty="0" smtClean="0"/>
              <a:t>모듈 설계 </a:t>
            </a:r>
            <a:endParaRPr lang="ko-KR" altLang="en-US" dirty="0"/>
          </a:p>
        </p:txBody>
      </p:sp>
      <p:pic>
        <p:nvPicPr>
          <p:cNvPr id="29" name="그림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201" y="4495956"/>
            <a:ext cx="2875877" cy="169293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641" y="2309130"/>
            <a:ext cx="3541873" cy="161588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65564" y="1875354"/>
            <a:ext cx="1134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- mealy</a:t>
            </a:r>
            <a:endParaRPr lang="ko-KR" altLang="en-US" dirty="0"/>
          </a:p>
        </p:txBody>
      </p:sp>
      <p:sp>
        <p:nvSpPr>
          <p:cNvPr id="30" name="TextBox 29"/>
          <p:cNvSpPr txBox="1"/>
          <p:nvPr/>
        </p:nvSpPr>
        <p:spPr>
          <a:xfrm>
            <a:off x="1565564" y="4174126"/>
            <a:ext cx="1134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- moore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499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code </a:t>
            </a:r>
            <a:r>
              <a:rPr lang="en-US" altLang="ko-KR" dirty="0" smtClean="0"/>
              <a:t>– Mealy 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507679" y="1852550"/>
            <a:ext cx="214943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Input:</a:t>
            </a:r>
          </a:p>
          <a:p>
            <a:pPr lvl="1"/>
            <a:r>
              <a:rPr lang="en-US" altLang="ko-KR" dirty="0" err="1" smtClean="0"/>
              <a:t>clk</a:t>
            </a:r>
            <a:r>
              <a:rPr lang="en-US" altLang="ko-KR" dirty="0" smtClean="0"/>
              <a:t>,</a:t>
            </a:r>
          </a:p>
          <a:p>
            <a:pPr lvl="1"/>
            <a:r>
              <a:rPr lang="en-US" altLang="ko-KR" dirty="0" smtClean="0"/>
              <a:t>reset</a:t>
            </a:r>
          </a:p>
          <a:p>
            <a:pPr lvl="1"/>
            <a:r>
              <a:rPr lang="en-US" altLang="ko-KR" dirty="0" err="1" smtClean="0"/>
              <a:t>din_bit</a:t>
            </a:r>
            <a:endParaRPr lang="en-US" altLang="ko-KR" dirty="0" smtClean="0"/>
          </a:p>
          <a:p>
            <a:r>
              <a:rPr lang="en-US" altLang="ko-KR" dirty="0" smtClean="0"/>
              <a:t>Output:</a:t>
            </a:r>
          </a:p>
          <a:p>
            <a:pPr lvl="1"/>
            <a:r>
              <a:rPr lang="en-US" altLang="ko-KR" dirty="0" err="1" smtClean="0"/>
              <a:t>dout_bit</a:t>
            </a:r>
            <a:endParaRPr lang="ko-KR" altLang="en-US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693" y="1695080"/>
            <a:ext cx="3811126" cy="4805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765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693" y="1695080"/>
            <a:ext cx="3811126" cy="4805612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code </a:t>
            </a:r>
            <a:r>
              <a:rPr lang="en-US" altLang="ko-KR" dirty="0" smtClean="0"/>
              <a:t>– Moore </a:t>
            </a:r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919847" y="1744672"/>
            <a:ext cx="484612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현재 상태 </a:t>
            </a:r>
            <a:r>
              <a:rPr lang="en-US" altLang="ko-KR" dirty="0" err="1" smtClean="0"/>
              <a:t>currnet_s</a:t>
            </a:r>
            <a:r>
              <a:rPr lang="en-US" altLang="ko-KR" dirty="0" smtClean="0"/>
              <a:t>, </a:t>
            </a:r>
            <a:r>
              <a:rPr lang="ko-KR" altLang="en-US" dirty="0" smtClean="0"/>
              <a:t>다음 상태</a:t>
            </a:r>
            <a:r>
              <a:rPr lang="en-US" altLang="ko-KR" dirty="0" err="1" smtClean="0"/>
              <a:t>next_s</a:t>
            </a:r>
            <a:r>
              <a:rPr lang="ko-KR" altLang="en-US" dirty="0" smtClean="0"/>
              <a:t>를 </a:t>
            </a:r>
            <a:r>
              <a:rPr lang="ko-KR" altLang="en-US" dirty="0" smtClean="0"/>
              <a:t>선언</a:t>
            </a:r>
            <a:endParaRPr lang="en-US" altLang="ko-KR" dirty="0" smtClean="0"/>
          </a:p>
        </p:txBody>
      </p:sp>
      <p:sp>
        <p:nvSpPr>
          <p:cNvPr id="6" name="TextBox 5"/>
          <p:cNvSpPr txBox="1"/>
          <p:nvPr/>
        </p:nvSpPr>
        <p:spPr>
          <a:xfrm>
            <a:off x="5919847" y="2612858"/>
            <a:ext cx="24482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상태 </a:t>
            </a:r>
            <a:r>
              <a:rPr lang="en-US" altLang="ko-KR" dirty="0" smtClean="0"/>
              <a:t>S0~S3</a:t>
            </a:r>
            <a:r>
              <a:rPr lang="ko-KR" altLang="en-US" dirty="0" smtClean="0"/>
              <a:t>까지 정의</a:t>
            </a:r>
            <a:endParaRPr lang="en-US" altLang="ko-KR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5919847" y="3481107"/>
            <a:ext cx="51984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positive edge </a:t>
            </a:r>
            <a:r>
              <a:rPr lang="en-US" altLang="ko-KR" dirty="0" err="1" smtClean="0"/>
              <a:t>clk</a:t>
            </a:r>
            <a:r>
              <a:rPr lang="ko-KR" altLang="en-US" dirty="0" smtClean="0"/>
              <a:t>마다 </a:t>
            </a:r>
            <a:r>
              <a:rPr lang="en-US" altLang="ko-KR" dirty="0" err="1" smtClean="0"/>
              <a:t>current_s</a:t>
            </a:r>
            <a:r>
              <a:rPr lang="ko-KR" altLang="en-US" dirty="0" smtClean="0"/>
              <a:t>는 </a:t>
            </a:r>
            <a:r>
              <a:rPr lang="en-US" altLang="ko-KR" dirty="0" err="1" smtClean="0"/>
              <a:t>next_s</a:t>
            </a:r>
            <a:r>
              <a:rPr lang="ko-KR" altLang="en-US" dirty="0" smtClean="0"/>
              <a:t>로 변경</a:t>
            </a:r>
            <a:endParaRPr lang="en-US" altLang="ko-KR" dirty="0" smtClean="0"/>
          </a:p>
        </p:txBody>
      </p:sp>
      <p:sp>
        <p:nvSpPr>
          <p:cNvPr id="12" name="직사각형 11"/>
          <p:cNvSpPr/>
          <p:nvPr/>
        </p:nvSpPr>
        <p:spPr>
          <a:xfrm>
            <a:off x="1455693" y="2513402"/>
            <a:ext cx="3811126" cy="19891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1455693" y="2712313"/>
            <a:ext cx="3811126" cy="69767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1455693" y="3418097"/>
            <a:ext cx="3811126" cy="86468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화살표 연결선 17"/>
          <p:cNvCxnSpPr>
            <a:stCxn id="12" idx="3"/>
            <a:endCxn id="5" idx="1"/>
          </p:cNvCxnSpPr>
          <p:nvPr/>
        </p:nvCxnSpPr>
        <p:spPr>
          <a:xfrm flipV="1">
            <a:off x="5266819" y="1929338"/>
            <a:ext cx="653028" cy="6835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/>
          <p:cNvCxnSpPr>
            <a:stCxn id="13" idx="3"/>
            <a:endCxn id="6" idx="1"/>
          </p:cNvCxnSpPr>
          <p:nvPr/>
        </p:nvCxnSpPr>
        <p:spPr>
          <a:xfrm flipV="1">
            <a:off x="5266819" y="2797524"/>
            <a:ext cx="653028" cy="2636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>
            <a:stCxn id="14" idx="3"/>
            <a:endCxn id="7" idx="1"/>
          </p:cNvCxnSpPr>
          <p:nvPr/>
        </p:nvCxnSpPr>
        <p:spPr>
          <a:xfrm flipV="1">
            <a:off x="5266819" y="3665773"/>
            <a:ext cx="653028" cy="1846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8459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693" y="1695080"/>
            <a:ext cx="3811126" cy="4805612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code </a:t>
            </a:r>
            <a:r>
              <a:rPr lang="en-US" altLang="ko-KR" dirty="0" smtClean="0"/>
              <a:t>– Moore </a:t>
            </a:r>
            <a:endParaRPr lang="ko-KR" alt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9847" y="4474978"/>
            <a:ext cx="583078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입력 신호 </a:t>
            </a:r>
            <a:r>
              <a:rPr lang="en-US" altLang="ko-KR" dirty="0" err="1" smtClean="0"/>
              <a:t>din_bit</a:t>
            </a:r>
            <a:r>
              <a:rPr lang="ko-KR" altLang="en-US" dirty="0" smtClean="0"/>
              <a:t>에 값과 </a:t>
            </a:r>
            <a:r>
              <a:rPr lang="en-US" altLang="ko-KR" dirty="0" err="1" smtClean="0"/>
              <a:t>current_s</a:t>
            </a:r>
            <a:r>
              <a:rPr lang="ko-KR" altLang="en-US" dirty="0" smtClean="0"/>
              <a:t> 따른 </a:t>
            </a:r>
            <a:r>
              <a:rPr lang="en-US" altLang="ko-KR" dirty="0" err="1" smtClean="0"/>
              <a:t>next_s</a:t>
            </a:r>
            <a:r>
              <a:rPr lang="en-US" altLang="ko-KR" dirty="0" smtClean="0"/>
              <a:t> </a:t>
            </a:r>
            <a:r>
              <a:rPr lang="ko-KR" altLang="en-US" dirty="0" smtClean="0"/>
              <a:t>값 변경</a:t>
            </a:r>
            <a:endParaRPr lang="en-US" altLang="ko-KR" dirty="0" smtClean="0"/>
          </a:p>
        </p:txBody>
      </p:sp>
      <p:sp>
        <p:nvSpPr>
          <p:cNvPr id="9" name="TextBox 8"/>
          <p:cNvSpPr txBox="1"/>
          <p:nvPr/>
        </p:nvSpPr>
        <p:spPr>
          <a:xfrm>
            <a:off x="5919848" y="5571608"/>
            <a:ext cx="5433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출력 신호 </a:t>
            </a:r>
            <a:r>
              <a:rPr lang="en-US" altLang="ko-KR" dirty="0" err="1" smtClean="0"/>
              <a:t>dout</a:t>
            </a:r>
            <a:r>
              <a:rPr lang="en-US" altLang="ko-KR" dirty="0" err="1" smtClean="0"/>
              <a:t>_bit</a:t>
            </a:r>
            <a:r>
              <a:rPr lang="ko-KR" altLang="en-US" dirty="0" smtClean="0"/>
              <a:t>는 </a:t>
            </a:r>
            <a:r>
              <a:rPr lang="en-US" altLang="ko-KR" dirty="0" err="1" smtClean="0"/>
              <a:t>current_s</a:t>
            </a:r>
            <a:r>
              <a:rPr lang="ko-KR" altLang="en-US" dirty="0" smtClean="0"/>
              <a:t>가 </a:t>
            </a:r>
            <a:r>
              <a:rPr lang="en-US" altLang="ko-KR" dirty="0" smtClean="0"/>
              <a:t>S4</a:t>
            </a:r>
            <a:r>
              <a:rPr lang="ko-KR" altLang="en-US" dirty="0" smtClean="0"/>
              <a:t>이면 </a:t>
            </a:r>
            <a:r>
              <a:rPr lang="en-US" altLang="ko-KR" dirty="0" smtClean="0"/>
              <a:t>1’b1 </a:t>
            </a:r>
            <a:r>
              <a:rPr lang="ko-KR" altLang="en-US" dirty="0" smtClean="0"/>
              <a:t>출력</a:t>
            </a:r>
            <a:endParaRPr lang="en-US" altLang="ko-KR" dirty="0" smtClean="0"/>
          </a:p>
        </p:txBody>
      </p:sp>
      <p:sp>
        <p:nvSpPr>
          <p:cNvPr id="15" name="직사각형 14"/>
          <p:cNvSpPr/>
          <p:nvPr/>
        </p:nvSpPr>
        <p:spPr>
          <a:xfrm>
            <a:off x="1455693" y="4295898"/>
            <a:ext cx="3811126" cy="181098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1455693" y="6090032"/>
            <a:ext cx="3811126" cy="23157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화살표 연결선 27"/>
          <p:cNvCxnSpPr>
            <a:stCxn id="15" idx="3"/>
            <a:endCxn id="8" idx="1"/>
          </p:cNvCxnSpPr>
          <p:nvPr/>
        </p:nvCxnSpPr>
        <p:spPr>
          <a:xfrm flipV="1">
            <a:off x="5266819" y="4659644"/>
            <a:ext cx="653028" cy="54174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/>
          <p:cNvCxnSpPr>
            <a:stCxn id="16" idx="3"/>
            <a:endCxn id="9" idx="1"/>
          </p:cNvCxnSpPr>
          <p:nvPr/>
        </p:nvCxnSpPr>
        <p:spPr>
          <a:xfrm flipV="1">
            <a:off x="5266819" y="5756274"/>
            <a:ext cx="653029" cy="4495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그림 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5178" y="2013266"/>
            <a:ext cx="3646111" cy="1906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581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code </a:t>
            </a:r>
            <a:r>
              <a:rPr lang="en-US" altLang="ko-KR" dirty="0" smtClean="0"/>
              <a:t>– Moore 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507679" y="1852550"/>
            <a:ext cx="214943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Input:</a:t>
            </a:r>
          </a:p>
          <a:p>
            <a:pPr lvl="1"/>
            <a:r>
              <a:rPr lang="en-US" altLang="ko-KR" dirty="0" err="1" smtClean="0"/>
              <a:t>clk</a:t>
            </a:r>
            <a:r>
              <a:rPr lang="en-US" altLang="ko-KR" dirty="0" smtClean="0"/>
              <a:t>,</a:t>
            </a:r>
          </a:p>
          <a:p>
            <a:pPr lvl="1"/>
            <a:r>
              <a:rPr lang="en-US" altLang="ko-KR" dirty="0" smtClean="0"/>
              <a:t>reset</a:t>
            </a:r>
          </a:p>
          <a:p>
            <a:pPr lvl="1"/>
            <a:r>
              <a:rPr lang="en-US" altLang="ko-KR" dirty="0" err="1" smtClean="0"/>
              <a:t>din_bit</a:t>
            </a:r>
            <a:endParaRPr lang="en-US" altLang="ko-KR" dirty="0" smtClean="0"/>
          </a:p>
          <a:p>
            <a:r>
              <a:rPr lang="en-US" altLang="ko-KR" dirty="0" smtClean="0"/>
              <a:t>Output:</a:t>
            </a:r>
          </a:p>
          <a:p>
            <a:pPr lvl="1"/>
            <a:r>
              <a:rPr lang="en-US" altLang="ko-KR" dirty="0" err="1" smtClean="0"/>
              <a:t>dout_bit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610" y="1686253"/>
            <a:ext cx="2946723" cy="4649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888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code </a:t>
            </a:r>
            <a:r>
              <a:rPr lang="en-US" altLang="ko-KR" dirty="0" smtClean="0"/>
              <a:t>– Moore </a:t>
            </a:r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919847" y="1744672"/>
            <a:ext cx="484612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현재 상태 </a:t>
            </a:r>
            <a:r>
              <a:rPr lang="en-US" altLang="ko-KR" dirty="0" err="1" smtClean="0"/>
              <a:t>currnet_s</a:t>
            </a:r>
            <a:r>
              <a:rPr lang="en-US" altLang="ko-KR" dirty="0" smtClean="0"/>
              <a:t>, </a:t>
            </a:r>
            <a:r>
              <a:rPr lang="ko-KR" altLang="en-US" dirty="0" smtClean="0"/>
              <a:t>다음 상태</a:t>
            </a:r>
            <a:r>
              <a:rPr lang="en-US" altLang="ko-KR" dirty="0" err="1" smtClean="0"/>
              <a:t>next_s</a:t>
            </a:r>
            <a:r>
              <a:rPr lang="ko-KR" altLang="en-US" dirty="0" smtClean="0"/>
              <a:t>를 </a:t>
            </a:r>
            <a:r>
              <a:rPr lang="ko-KR" altLang="en-US" dirty="0" smtClean="0"/>
              <a:t>선언</a:t>
            </a:r>
            <a:endParaRPr lang="en-US" altLang="ko-KR" dirty="0" smtClean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610" y="1686253"/>
            <a:ext cx="2946723" cy="46492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19847" y="2612858"/>
            <a:ext cx="24482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상태 </a:t>
            </a:r>
            <a:r>
              <a:rPr lang="en-US" altLang="ko-KR" dirty="0" smtClean="0"/>
              <a:t>S0~S4</a:t>
            </a:r>
            <a:r>
              <a:rPr lang="ko-KR" altLang="en-US" dirty="0" smtClean="0"/>
              <a:t>까지 정의</a:t>
            </a:r>
            <a:endParaRPr lang="en-US" altLang="ko-KR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5919847" y="3481107"/>
            <a:ext cx="51984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positive edge </a:t>
            </a:r>
            <a:r>
              <a:rPr lang="en-US" altLang="ko-KR" dirty="0" err="1" smtClean="0"/>
              <a:t>clk</a:t>
            </a:r>
            <a:r>
              <a:rPr lang="ko-KR" altLang="en-US" dirty="0" smtClean="0"/>
              <a:t>마다 </a:t>
            </a:r>
            <a:r>
              <a:rPr lang="en-US" altLang="ko-KR" dirty="0" err="1" smtClean="0"/>
              <a:t>current_s</a:t>
            </a:r>
            <a:r>
              <a:rPr lang="ko-KR" altLang="en-US" dirty="0" smtClean="0"/>
              <a:t>는 </a:t>
            </a:r>
            <a:r>
              <a:rPr lang="en-US" altLang="ko-KR" dirty="0" err="1" smtClean="0"/>
              <a:t>next_s</a:t>
            </a:r>
            <a:r>
              <a:rPr lang="ko-KR" altLang="en-US" dirty="0" smtClean="0"/>
              <a:t>로 변경</a:t>
            </a:r>
            <a:endParaRPr lang="en-US" altLang="ko-KR" dirty="0" smtClean="0"/>
          </a:p>
        </p:txBody>
      </p:sp>
      <p:sp>
        <p:nvSpPr>
          <p:cNvPr id="12" name="직사각형 11"/>
          <p:cNvSpPr/>
          <p:nvPr/>
        </p:nvSpPr>
        <p:spPr>
          <a:xfrm>
            <a:off x="1511610" y="2434441"/>
            <a:ext cx="2946723" cy="19891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1511610" y="2633352"/>
            <a:ext cx="2946723" cy="69767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1511609" y="3315430"/>
            <a:ext cx="2946723" cy="86468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화살표 연결선 17"/>
          <p:cNvCxnSpPr>
            <a:stCxn id="12" idx="3"/>
            <a:endCxn id="5" idx="1"/>
          </p:cNvCxnSpPr>
          <p:nvPr/>
        </p:nvCxnSpPr>
        <p:spPr>
          <a:xfrm flipV="1">
            <a:off x="4458333" y="1929338"/>
            <a:ext cx="1461514" cy="60455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/>
          <p:cNvCxnSpPr>
            <a:stCxn id="13" idx="3"/>
            <a:endCxn id="6" idx="1"/>
          </p:cNvCxnSpPr>
          <p:nvPr/>
        </p:nvCxnSpPr>
        <p:spPr>
          <a:xfrm flipV="1">
            <a:off x="4458333" y="2797524"/>
            <a:ext cx="1461514" cy="1846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>
            <a:stCxn id="14" idx="3"/>
            <a:endCxn id="7" idx="1"/>
          </p:cNvCxnSpPr>
          <p:nvPr/>
        </p:nvCxnSpPr>
        <p:spPr>
          <a:xfrm flipV="1">
            <a:off x="4458332" y="3665773"/>
            <a:ext cx="1461515" cy="819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1231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code </a:t>
            </a:r>
            <a:r>
              <a:rPr lang="en-US" altLang="ko-KR" dirty="0" smtClean="0"/>
              <a:t>– Moore 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610" y="1686253"/>
            <a:ext cx="2946723" cy="46492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19847" y="4474978"/>
            <a:ext cx="583078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입력 신호 </a:t>
            </a:r>
            <a:r>
              <a:rPr lang="en-US" altLang="ko-KR" dirty="0" err="1" smtClean="0"/>
              <a:t>din_bit</a:t>
            </a:r>
            <a:r>
              <a:rPr lang="ko-KR" altLang="en-US" dirty="0" smtClean="0"/>
              <a:t>에 값과 </a:t>
            </a:r>
            <a:r>
              <a:rPr lang="en-US" altLang="ko-KR" dirty="0" err="1" smtClean="0"/>
              <a:t>current_s</a:t>
            </a:r>
            <a:r>
              <a:rPr lang="ko-KR" altLang="en-US" dirty="0" smtClean="0"/>
              <a:t> 따른 </a:t>
            </a:r>
            <a:r>
              <a:rPr lang="en-US" altLang="ko-KR" dirty="0" err="1" smtClean="0"/>
              <a:t>next_s</a:t>
            </a:r>
            <a:r>
              <a:rPr lang="en-US" altLang="ko-KR" dirty="0" smtClean="0"/>
              <a:t> </a:t>
            </a:r>
            <a:r>
              <a:rPr lang="ko-KR" altLang="en-US" dirty="0" smtClean="0"/>
              <a:t>값 변경</a:t>
            </a:r>
            <a:endParaRPr lang="en-US" altLang="ko-KR" dirty="0" smtClean="0"/>
          </a:p>
        </p:txBody>
      </p:sp>
      <p:sp>
        <p:nvSpPr>
          <p:cNvPr id="9" name="TextBox 8"/>
          <p:cNvSpPr txBox="1"/>
          <p:nvPr/>
        </p:nvSpPr>
        <p:spPr>
          <a:xfrm>
            <a:off x="5919848" y="5571608"/>
            <a:ext cx="54339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출력 신호 </a:t>
            </a:r>
            <a:r>
              <a:rPr lang="en-US" altLang="ko-KR" dirty="0" err="1" smtClean="0"/>
              <a:t>dout</a:t>
            </a:r>
            <a:r>
              <a:rPr lang="en-US" altLang="ko-KR" dirty="0" err="1" smtClean="0"/>
              <a:t>_bit</a:t>
            </a:r>
            <a:r>
              <a:rPr lang="ko-KR" altLang="en-US" dirty="0" smtClean="0"/>
              <a:t>는 </a:t>
            </a:r>
            <a:r>
              <a:rPr lang="en-US" altLang="ko-KR" dirty="0" err="1" smtClean="0"/>
              <a:t>current_s</a:t>
            </a:r>
            <a:r>
              <a:rPr lang="ko-KR" altLang="en-US" dirty="0" smtClean="0"/>
              <a:t>가 </a:t>
            </a:r>
            <a:r>
              <a:rPr lang="en-US" altLang="ko-KR" dirty="0" smtClean="0"/>
              <a:t>S4</a:t>
            </a:r>
            <a:r>
              <a:rPr lang="ko-KR" altLang="en-US" dirty="0" smtClean="0"/>
              <a:t>이면 </a:t>
            </a:r>
            <a:r>
              <a:rPr lang="en-US" altLang="ko-KR" dirty="0" smtClean="0"/>
              <a:t>1’b1 </a:t>
            </a:r>
            <a:r>
              <a:rPr lang="ko-KR" altLang="en-US" dirty="0" smtClean="0"/>
              <a:t>출력</a:t>
            </a:r>
            <a:endParaRPr lang="en-US" altLang="ko-KR" dirty="0" smtClean="0"/>
          </a:p>
        </p:txBody>
      </p:sp>
      <p:sp>
        <p:nvSpPr>
          <p:cNvPr id="15" name="직사각형 14"/>
          <p:cNvSpPr/>
          <p:nvPr/>
        </p:nvSpPr>
        <p:spPr>
          <a:xfrm>
            <a:off x="1511608" y="4180113"/>
            <a:ext cx="2946723" cy="181098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1511608" y="5991100"/>
            <a:ext cx="2946723" cy="23157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화살표 연결선 27"/>
          <p:cNvCxnSpPr>
            <a:stCxn id="15" idx="3"/>
            <a:endCxn id="8" idx="1"/>
          </p:cNvCxnSpPr>
          <p:nvPr/>
        </p:nvCxnSpPr>
        <p:spPr>
          <a:xfrm flipV="1">
            <a:off x="4458331" y="4659644"/>
            <a:ext cx="1461516" cy="42596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/>
          <p:cNvCxnSpPr>
            <a:stCxn id="16" idx="3"/>
            <a:endCxn id="9" idx="1"/>
          </p:cNvCxnSpPr>
          <p:nvPr/>
        </p:nvCxnSpPr>
        <p:spPr>
          <a:xfrm flipV="1">
            <a:off x="4458331" y="5756274"/>
            <a:ext cx="1461517" cy="35061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그림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2348" y="1656172"/>
            <a:ext cx="4328941" cy="2263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91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simulation </a:t>
            </a:r>
            <a:r>
              <a:rPr lang="en-US" altLang="ko-KR" dirty="0" smtClean="0"/>
              <a:t>– </a:t>
            </a:r>
            <a:r>
              <a:rPr lang="en-US" altLang="ko-KR" dirty="0" err="1" smtClean="0"/>
              <a:t>testbench</a:t>
            </a:r>
            <a:r>
              <a:rPr lang="en-US" altLang="ko-KR" dirty="0" smtClean="0"/>
              <a:t>(mealy)</a:t>
            </a:r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500748" y="4348861"/>
            <a:ext cx="6626431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확인 사항</a:t>
            </a:r>
            <a:r>
              <a:rPr lang="en-US" altLang="ko-KR" dirty="0" smtClean="0"/>
              <a:t>:</a:t>
            </a:r>
          </a:p>
          <a:p>
            <a:pPr lvl="1"/>
            <a:r>
              <a:rPr lang="ko-KR" altLang="en-US" dirty="0" smtClean="0"/>
              <a:t>입력 신호가 차례대로 입력 중 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S0 ~S4</a:t>
            </a:r>
            <a:r>
              <a:rPr lang="ko-KR" altLang="en-US" dirty="0" smtClean="0"/>
              <a:t>까지 </a:t>
            </a:r>
            <a:r>
              <a:rPr lang="ko-KR" altLang="en-US" dirty="0" err="1" smtClean="0"/>
              <a:t>상태따라</a:t>
            </a:r>
            <a:r>
              <a:rPr lang="ko-KR" altLang="en-US" dirty="0" smtClean="0"/>
              <a:t> 동작을 정상적으로 수행하는지 확인</a:t>
            </a:r>
            <a:endParaRPr lang="en-US" altLang="ko-KR" dirty="0" smtClean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027" y="1543792"/>
            <a:ext cx="1398288" cy="470901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907" y="1991516"/>
            <a:ext cx="3646111" cy="1906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590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simulation(Mealy)</a:t>
            </a:r>
            <a:endParaRPr lang="ko-KR" alt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979714" y="3425569"/>
            <a:ext cx="802772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S0 </a:t>
            </a:r>
            <a:r>
              <a:rPr lang="ko-KR" altLang="en-US" dirty="0" err="1" smtClean="0"/>
              <a:t>일때</a:t>
            </a:r>
            <a:r>
              <a:rPr lang="ko-KR" altLang="en-US" dirty="0" smtClean="0"/>
              <a:t> </a:t>
            </a:r>
            <a:r>
              <a:rPr lang="en-US" altLang="ko-KR" dirty="0" err="1" smtClean="0"/>
              <a:t>din_bit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0 </a:t>
            </a:r>
            <a:r>
              <a:rPr lang="ko-KR" altLang="en-US" dirty="0" smtClean="0"/>
              <a:t>입력 시</a:t>
            </a:r>
            <a:r>
              <a:rPr lang="en-US" altLang="ko-KR" dirty="0" smtClean="0"/>
              <a:t>, S1</a:t>
            </a:r>
            <a:r>
              <a:rPr lang="ko-KR" altLang="en-US" dirty="0" smtClean="0"/>
              <a:t>로 변경되는 것을 확인</a:t>
            </a:r>
            <a:endParaRPr lang="en-US" altLang="ko-KR" dirty="0" smtClean="0"/>
          </a:p>
          <a:p>
            <a:r>
              <a:rPr lang="en-US" altLang="ko-KR" dirty="0" err="1" smtClean="0"/>
              <a:t>dout_bit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0</a:t>
            </a:r>
            <a:r>
              <a:rPr lang="ko-KR" altLang="en-US" dirty="0" smtClean="0"/>
              <a:t>을 출력하는 것을 확인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rcRect r="58081"/>
          <a:stretch/>
        </p:blipFill>
        <p:spPr>
          <a:xfrm>
            <a:off x="477806" y="1918907"/>
            <a:ext cx="10922505" cy="1320738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2"/>
          <a:srcRect r="58081"/>
          <a:stretch/>
        </p:blipFill>
        <p:spPr>
          <a:xfrm>
            <a:off x="431295" y="4125738"/>
            <a:ext cx="10922505" cy="1320738"/>
          </a:xfrm>
          <a:prstGeom prst="rect">
            <a:avLst/>
          </a:prstGeom>
        </p:spPr>
      </p:pic>
      <p:cxnSp>
        <p:nvCxnSpPr>
          <p:cNvPr id="20" name="직선 화살표 연결선 19"/>
          <p:cNvCxnSpPr/>
          <p:nvPr/>
        </p:nvCxnSpPr>
        <p:spPr>
          <a:xfrm>
            <a:off x="7429992" y="1465057"/>
            <a:ext cx="0" cy="4407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38200" y="5592647"/>
            <a:ext cx="802772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S1 </a:t>
            </a:r>
            <a:r>
              <a:rPr lang="ko-KR" altLang="en-US" dirty="0" err="1" smtClean="0"/>
              <a:t>일때</a:t>
            </a:r>
            <a:r>
              <a:rPr lang="ko-KR" altLang="en-US" dirty="0" smtClean="0"/>
              <a:t> </a:t>
            </a:r>
            <a:r>
              <a:rPr lang="en-US" altLang="ko-KR" dirty="0" err="1" smtClean="0"/>
              <a:t>din_bit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0 </a:t>
            </a:r>
            <a:r>
              <a:rPr lang="ko-KR" altLang="en-US" dirty="0" smtClean="0"/>
              <a:t>입력 시</a:t>
            </a:r>
            <a:r>
              <a:rPr lang="en-US" altLang="ko-KR" dirty="0" smtClean="0"/>
              <a:t>, S1</a:t>
            </a:r>
            <a:r>
              <a:rPr lang="ko-KR" altLang="en-US" dirty="0" smtClean="0"/>
              <a:t>로 변경되는 것을 확인</a:t>
            </a:r>
            <a:endParaRPr lang="en-US" altLang="ko-KR" dirty="0" smtClean="0"/>
          </a:p>
          <a:p>
            <a:r>
              <a:rPr lang="en-US" altLang="ko-KR" dirty="0" err="1"/>
              <a:t>dout_bit</a:t>
            </a:r>
            <a:r>
              <a:rPr lang="ko-KR" altLang="en-US" dirty="0"/>
              <a:t>는 </a:t>
            </a:r>
            <a:r>
              <a:rPr lang="en-US" altLang="ko-KR" dirty="0"/>
              <a:t>0</a:t>
            </a:r>
            <a:r>
              <a:rPr lang="ko-KR" altLang="en-US" dirty="0"/>
              <a:t>을 출력하는 것을 </a:t>
            </a:r>
            <a:r>
              <a:rPr lang="ko-KR" altLang="en-US" dirty="0" smtClean="0"/>
              <a:t>확인</a:t>
            </a:r>
            <a:endParaRPr lang="ko-KR" altLang="en-US" dirty="0"/>
          </a:p>
        </p:txBody>
      </p:sp>
      <p:cxnSp>
        <p:nvCxnSpPr>
          <p:cNvPr id="22" name="직선 화살표 연결선 21"/>
          <p:cNvCxnSpPr/>
          <p:nvPr/>
        </p:nvCxnSpPr>
        <p:spPr>
          <a:xfrm>
            <a:off x="8188034" y="3974709"/>
            <a:ext cx="0" cy="4407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림 3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5889" y="12126"/>
            <a:ext cx="3646111" cy="1906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5234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simulation(Mealy)</a:t>
            </a:r>
            <a:endParaRPr lang="ko-KR" alt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979714" y="3425569"/>
            <a:ext cx="802772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S1 </a:t>
            </a:r>
            <a:r>
              <a:rPr lang="ko-KR" altLang="en-US" dirty="0" err="1" smtClean="0"/>
              <a:t>일때</a:t>
            </a:r>
            <a:r>
              <a:rPr lang="ko-KR" altLang="en-US" dirty="0" smtClean="0"/>
              <a:t> </a:t>
            </a:r>
            <a:r>
              <a:rPr lang="en-US" altLang="ko-KR" dirty="0" err="1" smtClean="0"/>
              <a:t>din_bit</a:t>
            </a:r>
            <a:r>
              <a:rPr lang="ko-KR" altLang="en-US" dirty="0" smtClean="0"/>
              <a:t>를 </a:t>
            </a:r>
            <a:r>
              <a:rPr lang="en-US" altLang="ko-KR" dirty="0"/>
              <a:t>1</a:t>
            </a:r>
            <a:r>
              <a:rPr lang="en-US" altLang="ko-KR" dirty="0" smtClean="0"/>
              <a:t> </a:t>
            </a:r>
            <a:r>
              <a:rPr lang="ko-KR" altLang="en-US" dirty="0" smtClean="0"/>
              <a:t>입력 시</a:t>
            </a:r>
            <a:r>
              <a:rPr lang="en-US" altLang="ko-KR" dirty="0" smtClean="0"/>
              <a:t>, S2</a:t>
            </a:r>
            <a:r>
              <a:rPr lang="ko-KR" altLang="en-US" dirty="0" smtClean="0"/>
              <a:t>로 변경되는 것을 확인</a:t>
            </a:r>
            <a:endParaRPr lang="en-US" altLang="ko-KR" dirty="0" smtClean="0"/>
          </a:p>
          <a:p>
            <a:r>
              <a:rPr lang="en-US" altLang="ko-KR" dirty="0" err="1"/>
              <a:t>dout_bit</a:t>
            </a:r>
            <a:r>
              <a:rPr lang="ko-KR" altLang="en-US" dirty="0"/>
              <a:t>는 </a:t>
            </a:r>
            <a:r>
              <a:rPr lang="en-US" altLang="ko-KR" dirty="0"/>
              <a:t>0</a:t>
            </a:r>
            <a:r>
              <a:rPr lang="ko-KR" altLang="en-US" dirty="0"/>
              <a:t>을 출력하는 것을 </a:t>
            </a:r>
            <a:r>
              <a:rPr lang="ko-KR" altLang="en-US" dirty="0" smtClean="0"/>
              <a:t>확인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rcRect r="58081"/>
          <a:stretch/>
        </p:blipFill>
        <p:spPr>
          <a:xfrm>
            <a:off x="477806" y="1918907"/>
            <a:ext cx="10922505" cy="1320738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2"/>
          <a:srcRect r="58081"/>
          <a:stretch/>
        </p:blipFill>
        <p:spPr>
          <a:xfrm>
            <a:off x="431295" y="4125738"/>
            <a:ext cx="10922505" cy="1320738"/>
          </a:xfrm>
          <a:prstGeom prst="rect">
            <a:avLst/>
          </a:prstGeom>
        </p:spPr>
      </p:pic>
      <p:cxnSp>
        <p:nvCxnSpPr>
          <p:cNvPr id="20" name="직선 화살표 연결선 19"/>
          <p:cNvCxnSpPr/>
          <p:nvPr/>
        </p:nvCxnSpPr>
        <p:spPr>
          <a:xfrm>
            <a:off x="9007434" y="1790082"/>
            <a:ext cx="0" cy="4407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38200" y="5592647"/>
            <a:ext cx="802772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S2 </a:t>
            </a:r>
            <a:r>
              <a:rPr lang="ko-KR" altLang="en-US" dirty="0" err="1" smtClean="0"/>
              <a:t>일때</a:t>
            </a:r>
            <a:r>
              <a:rPr lang="ko-KR" altLang="en-US" dirty="0" smtClean="0"/>
              <a:t> </a:t>
            </a:r>
            <a:r>
              <a:rPr lang="en-US" altLang="ko-KR" dirty="0" err="1" smtClean="0"/>
              <a:t>din_bit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0 </a:t>
            </a:r>
            <a:r>
              <a:rPr lang="ko-KR" altLang="en-US" dirty="0" smtClean="0"/>
              <a:t>입력 시</a:t>
            </a:r>
            <a:r>
              <a:rPr lang="en-US" altLang="ko-KR" dirty="0" smtClean="0"/>
              <a:t>, S3</a:t>
            </a:r>
            <a:r>
              <a:rPr lang="ko-KR" altLang="en-US" dirty="0" smtClean="0"/>
              <a:t>로 변경되는 것을 확인</a:t>
            </a:r>
            <a:endParaRPr lang="en-US" altLang="ko-KR" dirty="0" smtClean="0"/>
          </a:p>
          <a:p>
            <a:r>
              <a:rPr lang="en-US" altLang="ko-KR" dirty="0" err="1"/>
              <a:t>dout_bit</a:t>
            </a:r>
            <a:r>
              <a:rPr lang="ko-KR" altLang="en-US" dirty="0"/>
              <a:t>는 </a:t>
            </a:r>
            <a:r>
              <a:rPr lang="en-US" altLang="ko-KR" dirty="0"/>
              <a:t>0</a:t>
            </a:r>
            <a:r>
              <a:rPr lang="ko-KR" altLang="en-US" dirty="0"/>
              <a:t>을 출력하는 것을 </a:t>
            </a:r>
            <a:r>
              <a:rPr lang="ko-KR" altLang="en-US" dirty="0" smtClean="0"/>
              <a:t>확인</a:t>
            </a:r>
            <a:endParaRPr lang="ko-KR" altLang="en-US" dirty="0"/>
          </a:p>
        </p:txBody>
      </p:sp>
      <p:cxnSp>
        <p:nvCxnSpPr>
          <p:cNvPr id="22" name="직선 화살표 연결선 21"/>
          <p:cNvCxnSpPr/>
          <p:nvPr/>
        </p:nvCxnSpPr>
        <p:spPr>
          <a:xfrm>
            <a:off x="9693877" y="3982659"/>
            <a:ext cx="0" cy="4407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그림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5889" y="12126"/>
            <a:ext cx="3646111" cy="1906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1606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simulation(Mealy)</a:t>
            </a:r>
            <a:endParaRPr lang="ko-KR" alt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979714" y="3425569"/>
            <a:ext cx="80277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S3 </a:t>
            </a:r>
            <a:r>
              <a:rPr lang="ko-KR" altLang="en-US" dirty="0" smtClean="0"/>
              <a:t>일 때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din_bit</a:t>
            </a:r>
            <a:r>
              <a:rPr lang="ko-KR" altLang="en-US" dirty="0" smtClean="0"/>
              <a:t>가</a:t>
            </a:r>
            <a:r>
              <a:rPr lang="en-US" altLang="ko-KR" dirty="0" smtClean="0"/>
              <a:t> 1</a:t>
            </a:r>
            <a:r>
              <a:rPr lang="ko-KR" altLang="en-US" dirty="0" smtClean="0"/>
              <a:t>을 입력 시</a:t>
            </a:r>
            <a:r>
              <a:rPr lang="en-US" altLang="ko-KR" dirty="0" smtClean="0"/>
              <a:t>,</a:t>
            </a:r>
            <a:r>
              <a:rPr lang="ko-KR" altLang="en-US" dirty="0" smtClean="0"/>
              <a:t> </a:t>
            </a:r>
            <a:r>
              <a:rPr lang="en-US" altLang="ko-KR" dirty="0" err="1" smtClean="0"/>
              <a:t>dout_bit</a:t>
            </a:r>
            <a:r>
              <a:rPr lang="ko-KR" altLang="en-US" dirty="0"/>
              <a:t>는 </a:t>
            </a:r>
            <a:r>
              <a:rPr lang="en-US" altLang="ko-KR" dirty="0" smtClean="0"/>
              <a:t>1</a:t>
            </a:r>
            <a:r>
              <a:rPr lang="ko-KR" altLang="en-US" dirty="0" smtClean="0"/>
              <a:t>을 </a:t>
            </a:r>
            <a:r>
              <a:rPr lang="ko-KR" altLang="en-US" dirty="0"/>
              <a:t>출력하는 것을 </a:t>
            </a:r>
            <a:r>
              <a:rPr lang="ko-KR" altLang="en-US" dirty="0" smtClean="0"/>
              <a:t>확인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rcRect r="58081"/>
          <a:stretch/>
        </p:blipFill>
        <p:spPr>
          <a:xfrm>
            <a:off x="477806" y="1918907"/>
            <a:ext cx="10922505" cy="1320738"/>
          </a:xfrm>
          <a:prstGeom prst="rect">
            <a:avLst/>
          </a:prstGeom>
        </p:spPr>
      </p:pic>
      <p:cxnSp>
        <p:nvCxnSpPr>
          <p:cNvPr id="20" name="직선 화살표 연결선 19"/>
          <p:cNvCxnSpPr/>
          <p:nvPr/>
        </p:nvCxnSpPr>
        <p:spPr>
          <a:xfrm>
            <a:off x="10177154" y="2092903"/>
            <a:ext cx="0" cy="4407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806" y="4118719"/>
            <a:ext cx="11118796" cy="14577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79714" y="5816468"/>
            <a:ext cx="80277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S3</a:t>
            </a:r>
            <a:r>
              <a:rPr lang="ko-KR" altLang="en-US" dirty="0" smtClean="0"/>
              <a:t>이고 </a:t>
            </a:r>
            <a:r>
              <a:rPr lang="en-US" altLang="ko-KR" dirty="0" err="1" smtClean="0"/>
              <a:t>din_bit</a:t>
            </a:r>
            <a:r>
              <a:rPr lang="ko-KR" altLang="en-US" dirty="0" smtClean="0"/>
              <a:t>가 </a:t>
            </a:r>
            <a:r>
              <a:rPr lang="en-US" altLang="ko-KR" dirty="0" smtClean="0"/>
              <a:t>1</a:t>
            </a:r>
            <a:r>
              <a:rPr lang="ko-KR" altLang="en-US" dirty="0" smtClean="0"/>
              <a:t>일 아닌 조건에서는 </a:t>
            </a:r>
            <a:r>
              <a:rPr lang="en-US" altLang="ko-KR" dirty="0" smtClean="0"/>
              <a:t>0</a:t>
            </a:r>
            <a:r>
              <a:rPr lang="ko-KR" altLang="en-US" dirty="0" smtClean="0"/>
              <a:t>을 출력하는 것을 확인</a:t>
            </a:r>
            <a:endParaRPr lang="ko-KR" altLang="en-US" dirty="0"/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889" y="12126"/>
            <a:ext cx="3646111" cy="1906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039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simulation </a:t>
            </a:r>
            <a:r>
              <a:rPr lang="en-US" altLang="ko-KR" dirty="0" smtClean="0"/>
              <a:t>– </a:t>
            </a:r>
            <a:r>
              <a:rPr lang="en-US" altLang="ko-KR" dirty="0" err="1" smtClean="0"/>
              <a:t>testbench</a:t>
            </a:r>
            <a:r>
              <a:rPr lang="en-US" altLang="ko-KR" dirty="0" smtClean="0"/>
              <a:t>(moore)</a:t>
            </a:r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500748" y="4348861"/>
            <a:ext cx="6626431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확인 사항</a:t>
            </a:r>
            <a:r>
              <a:rPr lang="en-US" altLang="ko-KR" dirty="0" smtClean="0"/>
              <a:t>:</a:t>
            </a:r>
          </a:p>
          <a:p>
            <a:pPr lvl="1"/>
            <a:r>
              <a:rPr lang="ko-KR" altLang="en-US" dirty="0"/>
              <a:t>입력 신호가 차례대로 입력 중 </a:t>
            </a:r>
            <a:endParaRPr lang="en-US" altLang="ko-KR" dirty="0"/>
          </a:p>
          <a:p>
            <a:pPr lvl="1"/>
            <a:r>
              <a:rPr lang="en-US" altLang="ko-KR" dirty="0" smtClean="0"/>
              <a:t>S0 ~S4</a:t>
            </a:r>
            <a:r>
              <a:rPr lang="ko-KR" altLang="en-US" dirty="0" smtClean="0"/>
              <a:t>까지 </a:t>
            </a:r>
            <a:r>
              <a:rPr lang="ko-KR" altLang="en-US" dirty="0" err="1" smtClean="0"/>
              <a:t>상태따라</a:t>
            </a:r>
            <a:r>
              <a:rPr lang="ko-KR" altLang="en-US" dirty="0" smtClean="0"/>
              <a:t> 동작을 정상적으로 수행하는지 확인</a:t>
            </a:r>
            <a:endParaRPr lang="en-US" altLang="ko-KR" dirty="0" smtClean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0107" y="1549731"/>
            <a:ext cx="1573787" cy="5031976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5403" y="1958102"/>
            <a:ext cx="3574396" cy="1883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4100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simulation(moore)</a:t>
            </a:r>
            <a:endParaRPr lang="ko-KR" alt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585356" y="3560982"/>
            <a:ext cx="80277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S0</a:t>
            </a:r>
            <a:r>
              <a:rPr lang="ko-KR" altLang="en-US" dirty="0" smtClean="0"/>
              <a:t>일 때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din_bit</a:t>
            </a:r>
            <a:r>
              <a:rPr lang="ko-KR" altLang="en-US" dirty="0"/>
              <a:t> </a:t>
            </a:r>
            <a:r>
              <a:rPr lang="en-US" altLang="ko-KR" dirty="0" smtClean="0"/>
              <a:t>0</a:t>
            </a:r>
            <a:r>
              <a:rPr lang="ko-KR" altLang="en-US" dirty="0" smtClean="0"/>
              <a:t>를 입력 시</a:t>
            </a:r>
            <a:r>
              <a:rPr lang="en-US" altLang="ko-KR" dirty="0" smtClean="0"/>
              <a:t>, </a:t>
            </a:r>
            <a:r>
              <a:rPr lang="en-US" altLang="ko-KR" dirty="0" smtClean="0"/>
              <a:t>S1</a:t>
            </a:r>
            <a:r>
              <a:rPr lang="ko-KR" altLang="en-US" dirty="0" smtClean="0"/>
              <a:t>로 상태 변경을 확인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372" y="1808897"/>
            <a:ext cx="9995386" cy="1409768"/>
          </a:xfrm>
          <a:prstGeom prst="rect">
            <a:avLst/>
          </a:prstGeom>
        </p:spPr>
      </p:pic>
      <p:cxnSp>
        <p:nvCxnSpPr>
          <p:cNvPr id="5" name="직선 화살표 연결선 4"/>
          <p:cNvCxnSpPr/>
          <p:nvPr/>
        </p:nvCxnSpPr>
        <p:spPr>
          <a:xfrm>
            <a:off x="4013860" y="1647578"/>
            <a:ext cx="0" cy="4407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372" y="4122607"/>
            <a:ext cx="9995386" cy="1409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85356" y="5809376"/>
            <a:ext cx="80277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S1</a:t>
            </a:r>
            <a:r>
              <a:rPr lang="ko-KR" altLang="en-US" dirty="0" smtClean="0"/>
              <a:t>일 때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din_bit</a:t>
            </a:r>
            <a:r>
              <a:rPr lang="ko-KR" altLang="en-US" dirty="0"/>
              <a:t> </a:t>
            </a:r>
            <a:r>
              <a:rPr lang="en-US" altLang="ko-KR" dirty="0" smtClean="0"/>
              <a:t>0</a:t>
            </a:r>
            <a:r>
              <a:rPr lang="ko-KR" altLang="en-US" dirty="0" smtClean="0"/>
              <a:t>를 입력 시</a:t>
            </a:r>
            <a:r>
              <a:rPr lang="en-US" altLang="ko-KR" dirty="0" smtClean="0"/>
              <a:t>, </a:t>
            </a:r>
            <a:r>
              <a:rPr lang="en-US" altLang="ko-KR" dirty="0" smtClean="0"/>
              <a:t>S1</a:t>
            </a:r>
            <a:r>
              <a:rPr lang="ko-KR" altLang="en-US" dirty="0" smtClean="0"/>
              <a:t>로 상태 유지를 확인</a:t>
            </a:r>
            <a:endParaRPr lang="ko-KR" altLang="en-US" dirty="0"/>
          </a:p>
        </p:txBody>
      </p:sp>
      <p:cxnSp>
        <p:nvCxnSpPr>
          <p:cNvPr id="13" name="직선 화살표 연결선 12"/>
          <p:cNvCxnSpPr/>
          <p:nvPr/>
        </p:nvCxnSpPr>
        <p:spPr>
          <a:xfrm>
            <a:off x="4326577" y="3992845"/>
            <a:ext cx="0" cy="4407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604" y="0"/>
            <a:ext cx="3574396" cy="1883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3871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simulation(moore)</a:t>
            </a:r>
            <a:endParaRPr lang="ko-KR" alt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585356" y="3560982"/>
            <a:ext cx="80277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S1</a:t>
            </a:r>
            <a:r>
              <a:rPr lang="ko-KR" altLang="en-US" dirty="0" smtClean="0"/>
              <a:t>일 때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din_bit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 smtClean="0"/>
              <a:t>를 입력 시</a:t>
            </a:r>
            <a:r>
              <a:rPr lang="en-US" altLang="ko-KR" dirty="0" smtClean="0"/>
              <a:t>, </a:t>
            </a:r>
            <a:r>
              <a:rPr lang="en-US" altLang="ko-KR" dirty="0" smtClean="0"/>
              <a:t>S2</a:t>
            </a:r>
            <a:r>
              <a:rPr lang="ko-KR" altLang="en-US" dirty="0" smtClean="0"/>
              <a:t>로 상태 변경을 확인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372" y="1808897"/>
            <a:ext cx="9995386" cy="1409768"/>
          </a:xfrm>
          <a:prstGeom prst="rect">
            <a:avLst/>
          </a:prstGeom>
        </p:spPr>
      </p:pic>
      <p:cxnSp>
        <p:nvCxnSpPr>
          <p:cNvPr id="5" name="직선 화살표 연결선 4"/>
          <p:cNvCxnSpPr/>
          <p:nvPr/>
        </p:nvCxnSpPr>
        <p:spPr>
          <a:xfrm>
            <a:off x="4661066" y="1690688"/>
            <a:ext cx="0" cy="4407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372" y="4122607"/>
            <a:ext cx="9995386" cy="1409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85356" y="5809376"/>
            <a:ext cx="80277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S2</a:t>
            </a:r>
            <a:r>
              <a:rPr lang="ko-KR" altLang="en-US" dirty="0" smtClean="0"/>
              <a:t>일 때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din_bit</a:t>
            </a:r>
            <a:r>
              <a:rPr lang="ko-KR" altLang="en-US" dirty="0"/>
              <a:t> </a:t>
            </a:r>
            <a:r>
              <a:rPr lang="en-US" altLang="ko-KR" dirty="0" smtClean="0"/>
              <a:t>0</a:t>
            </a:r>
            <a:r>
              <a:rPr lang="ko-KR" altLang="en-US" dirty="0" smtClean="0"/>
              <a:t>를 입력 시</a:t>
            </a:r>
            <a:r>
              <a:rPr lang="en-US" altLang="ko-KR" dirty="0" smtClean="0"/>
              <a:t>, </a:t>
            </a:r>
            <a:r>
              <a:rPr lang="en-US" altLang="ko-KR" dirty="0" smtClean="0"/>
              <a:t>S3</a:t>
            </a:r>
            <a:r>
              <a:rPr lang="ko-KR" altLang="en-US" dirty="0" smtClean="0"/>
              <a:t>로 상태 변경을 확인</a:t>
            </a:r>
            <a:endParaRPr lang="ko-KR" altLang="en-US" dirty="0"/>
          </a:p>
        </p:txBody>
      </p:sp>
      <p:cxnSp>
        <p:nvCxnSpPr>
          <p:cNvPr id="13" name="직선 화살표 연결선 12"/>
          <p:cNvCxnSpPr/>
          <p:nvPr/>
        </p:nvCxnSpPr>
        <p:spPr>
          <a:xfrm>
            <a:off x="4979720" y="4010658"/>
            <a:ext cx="0" cy="4407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604" y="0"/>
            <a:ext cx="3574396" cy="1883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2230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simulation(moore)</a:t>
            </a:r>
            <a:endParaRPr lang="ko-KR" alt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543792" y="3420301"/>
            <a:ext cx="802772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S3</a:t>
            </a:r>
            <a:r>
              <a:rPr lang="ko-KR" altLang="en-US" dirty="0" smtClean="0"/>
              <a:t>일 때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din_bit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 smtClean="0"/>
              <a:t>를 입력 시</a:t>
            </a:r>
            <a:r>
              <a:rPr lang="en-US" altLang="ko-KR" dirty="0" smtClean="0"/>
              <a:t>, </a:t>
            </a:r>
            <a:r>
              <a:rPr lang="en-US" altLang="ko-KR" dirty="0" smtClean="0"/>
              <a:t>S4</a:t>
            </a:r>
            <a:r>
              <a:rPr lang="ko-KR" altLang="en-US" dirty="0" smtClean="0"/>
              <a:t>로 상태 변경을 확인</a:t>
            </a:r>
            <a:endParaRPr lang="en-US" altLang="ko-KR" dirty="0" smtClean="0"/>
          </a:p>
          <a:p>
            <a:r>
              <a:rPr lang="en-US" altLang="ko-KR" dirty="0" smtClean="0"/>
              <a:t>S4</a:t>
            </a:r>
            <a:r>
              <a:rPr lang="ko-KR" altLang="en-US" dirty="0" smtClean="0"/>
              <a:t>일 때 </a:t>
            </a:r>
            <a:r>
              <a:rPr lang="en-US" altLang="ko-KR" dirty="0" err="1" smtClean="0"/>
              <a:t>dout_bit</a:t>
            </a:r>
            <a:r>
              <a:rPr lang="en-US" altLang="ko-KR" dirty="0" smtClean="0"/>
              <a:t> 1</a:t>
            </a:r>
            <a:r>
              <a:rPr lang="ko-KR" altLang="en-US" dirty="0" smtClean="0"/>
              <a:t>를 출력하는 것을 확인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372" y="1808897"/>
            <a:ext cx="9995386" cy="1409768"/>
          </a:xfrm>
          <a:prstGeom prst="rect">
            <a:avLst/>
          </a:prstGeom>
        </p:spPr>
      </p:pic>
      <p:cxnSp>
        <p:nvCxnSpPr>
          <p:cNvPr id="5" name="직선 화살표 연결선 4"/>
          <p:cNvCxnSpPr/>
          <p:nvPr/>
        </p:nvCxnSpPr>
        <p:spPr>
          <a:xfrm>
            <a:off x="5302334" y="1690688"/>
            <a:ext cx="0" cy="4407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372" y="4122607"/>
            <a:ext cx="9995386" cy="1409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85356" y="5809376"/>
            <a:ext cx="80277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S4</a:t>
            </a:r>
            <a:r>
              <a:rPr lang="ko-KR" altLang="en-US" dirty="0" smtClean="0"/>
              <a:t>를 제외한 </a:t>
            </a:r>
            <a:r>
              <a:rPr lang="en-US" altLang="ko-KR" dirty="0" smtClean="0"/>
              <a:t>S0~S3</a:t>
            </a:r>
            <a:r>
              <a:rPr lang="ko-KR" altLang="en-US" dirty="0" smtClean="0"/>
              <a:t>에 대해 </a:t>
            </a:r>
            <a:r>
              <a:rPr lang="en-US" altLang="ko-KR" dirty="0" err="1"/>
              <a:t>dout_bit</a:t>
            </a:r>
            <a:r>
              <a:rPr lang="en-US" altLang="ko-KR" dirty="0"/>
              <a:t> </a:t>
            </a:r>
            <a:r>
              <a:rPr lang="en-US" altLang="ko-KR" dirty="0" smtClean="0"/>
              <a:t>0</a:t>
            </a:r>
            <a:r>
              <a:rPr lang="ko-KR" altLang="en-US" smtClean="0"/>
              <a:t>을 출력하는 것을 확인</a:t>
            </a:r>
            <a:r>
              <a:rPr lang="ko-KR" altLang="en-US" smtClean="0"/>
              <a:t> </a:t>
            </a:r>
            <a:endParaRPr lang="ko-KR" altLang="en-US" dirty="0"/>
          </a:p>
        </p:txBody>
      </p:sp>
      <p:cxnSp>
        <p:nvCxnSpPr>
          <p:cNvPr id="13" name="직선 화살표 연결선 12"/>
          <p:cNvCxnSpPr/>
          <p:nvPr/>
        </p:nvCxnSpPr>
        <p:spPr>
          <a:xfrm>
            <a:off x="4979720" y="4010658"/>
            <a:ext cx="0" cy="4407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604" y="0"/>
            <a:ext cx="3574396" cy="1883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237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442</Words>
  <Application>Microsoft Office PowerPoint</Application>
  <PresentationFormat>와이드스크린</PresentationFormat>
  <Paragraphs>71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0" baseType="lpstr">
      <vt:lpstr>맑은 고딕</vt:lpstr>
      <vt:lpstr>Arial</vt:lpstr>
      <vt:lpstr>Office 테마</vt:lpstr>
      <vt:lpstr>Moore &amp; Mealy 0101 Pattern Detect</vt:lpstr>
      <vt:lpstr>module 설계 목표</vt:lpstr>
      <vt:lpstr>module 설계 목표</vt:lpstr>
      <vt:lpstr>code – Mealy </vt:lpstr>
      <vt:lpstr>code – Moore </vt:lpstr>
      <vt:lpstr>code – Moore </vt:lpstr>
      <vt:lpstr>code – Moore </vt:lpstr>
      <vt:lpstr>code – Moore </vt:lpstr>
      <vt:lpstr>code – Moore </vt:lpstr>
      <vt:lpstr>simulation – testbench(mealy)</vt:lpstr>
      <vt:lpstr>simulation(Mealy)</vt:lpstr>
      <vt:lpstr>simulation(Mealy)</vt:lpstr>
      <vt:lpstr>simulation(Mealy)</vt:lpstr>
      <vt:lpstr>simulation – testbench(moore)</vt:lpstr>
      <vt:lpstr>simulation(moore)</vt:lpstr>
      <vt:lpstr>simulation(moore)</vt:lpstr>
      <vt:lpstr>simulation(moore)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10000 counter 10hz 시뮬레이션</dc:title>
  <dc:creator>kccistc</dc:creator>
  <cp:lastModifiedBy>kccistc</cp:lastModifiedBy>
  <cp:revision>19</cp:revision>
  <dcterms:created xsi:type="dcterms:W3CDTF">2026-01-26T09:32:19Z</dcterms:created>
  <dcterms:modified xsi:type="dcterms:W3CDTF">2026-01-29T09:58:30Z</dcterms:modified>
</cp:coreProperties>
</file>